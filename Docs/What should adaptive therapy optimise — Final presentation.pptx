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23" autoAdjust="0"/>
    <p:restoredTop sz="89412" autoAdjust="0"/>
  </p:normalViewPr>
  <p:slideViewPr>
    <p:cSldViewPr snapToGrid="0" snapToObjects="1">
      <p:cViewPr varScale="1">
        <p:scale>
          <a:sx n="74" d="100"/>
          <a:sy n="74" d="100"/>
        </p:scale>
        <p:origin x="95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034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in the title. The story in one breath: cancer drugs fail because resistant cells take over; adaptive therapy treats less to keep them in check; an AI can learn when to treat, but every published paper gives the AI a different goal. We asked which goal it should be given. The answer surprised us twice: most goals lead to the same strategy, and what the AI is allowed to see matters more than what it aims for.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tumour is a mix of drug-sensitive and drug-resistant cells. Hitting it with the full dose wipes out the sensitive cells, but those were the only thing competing with the resistant ones for space. So the resistant clone regrows and the drug stops working. This is called competitive release. In our virtual patient, full dose fails at 452 days. Adaptive therapy (Gatenby 2009) keeps some sensitive cells alive on purpose so they keep the resistant cells in check. A prostate-cancer trial used a simple rule called AT50: treat until the tumour halves, then pause until it is back (Zhang 2017). Simple rules like that are probably not the best schedule, and that is where AI comes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Reinforcement learning is training by trial and error. Every week the AI looks at the tumour, decides drug on or off, and the simulator moves one week ahead and scores what happened. After about a million of these weekly decisions it has learned a schedule. The key point for our project: the reward is the goal, so the choice of reward decides what the AI learns. If asked: the method is PPO (proximal policy optimisation), which we wrote ourselves rather than using a library; each AI is a small 2 × 128 actor–critic network; the 10 copies per goal are random seeds with identical settings.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goals come from four different RL papers on adaptive therapy. Because each paper also used its own simulator, nobody could tell whether different results came from the goal, the model or the learner. We isolate the goal: everything else is shared. We use the labels R1 to R4 for the rest of the talk. If asked: our versions are adaptations, not literal copies. R2’s penalty for failing is set so that dying early never pays (the literal Gluzman form, in our model, is maximised by never treating and failing at day 41). R3 is scaled to the same weekly size as R1. R4 is scored every week rather than once at the end. All rewards are about 0.1 per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computer simulation; no patient data was used. The patient is a standard two-population competition model, the same one used by Gallagher’s deep-RL papers, so our numbers are comparable to theirs. We compare three kinds of planner: the exact best plan, which needs perfect knowledge of the patient; trained AI agents; and the human rules used in trials. Every score is a fraction of the gap between no treatment and the best plan. An AI scoring below 0.7 on its own goal counts as “did not train”. If asked: Lotka–Volterra model (Strobl 2021), dS/dt = rS(1 − N/K)(1 − 1.5D), dR/dt = rR(1 − N/K); r = 0.027 per day; start at 0.75 K with 0.1% resistant; RK4 with half-day steps. Value iteration on a 161 × 241 grid of size × log resistant fraction. PPO with 32 parallel environments and 1 million steps. Differences between goals must beat seed-to-seed noise in a permutation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30 experiments in two rounds. Rather than walk through each one, we tell them as five chapters, each answering one question. The bold experiments get their own slides; the “folded in” ones confirmed the same story and appear grouped on a single slide. Chapter 4, highlighted, is the twist and gets the most time. If asked: round one (E0 to E11d) trained 315 agents; round two (14 follow-ups labelled A to FE, answering reviewer-style questions) trained 270 more. Everything (environment, PPO, value iteration, analysis) lives in one Python module, src/atrl.py, and runs on a CPU.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result, we rebuilt the published virtual patient and matched the paper’s numbers for full dose and for AT50. One lesson: our plan had the wrong starting share of resistant cells. The authors’ own code used 0.1%; with the 1% from our plan, full dose failed at 369 days and AT50 at 473, which matched nothing. Every score in the talk is measured against the best possible plan, so we also checked that ceiling: doubling the planning grid in both directions moved it by at most 0.36%. If asked: the paper quotes AT50 as both 662 and 672 days; we reproduce 672 exactly with monthly check-ups, so that figure is most likely a monthly-cadence number.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computer knows the patient perfectly, what is the best schedule for each goal? For three of the four goals the answer is the same, called containment: let the tumour regrow to just below the failure line, then pulse the drug only when the next week would cross it. Keeping as many sensitive cells as the line allows is what slows the resistant ones, which is why it wins for survival, drug use and lasting control at once. R3 is the odd one: it treats early to push the mix toward balance. For reference, the human rules (E1): no treatment 41 days, full dose 452, AT50 673, AT90 932, and a tuned rule (AT-PSC) 1135. If asked: across a map of patients the best plan beats the best AT rule by 2.2 to 6.5×. The grid values match simulated runs within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10 AIs per goal, 40 in total, with identical settings; only the reward differed. Every one trained, and every one beats every human rule: about 50% longer than the best tuned rule, and 2.6× the trial rule AT50. They reach about 85% of the exact best plan. Why they stop short of 100% turns out to matter in chapter 3: it is a safety margin. If asked: values are medians over 10 seeds; R1 1744, R2 1726, R3 1494, R4 1751 days. R3 is hardest to learn because its reward mostly comes from delaying one big penalty far in the future. The tuned human rule (AT-PSC) ends up as “treat whenever the tumour is above its starting size”.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experiment (E4). We scored every strategy on every goal, not just the one it was trained for; that is what reveals the cost of choosing the wrong goal. Read across the R3 row: training on keep-the-mix loses 12 to 18 points on every other goal. The other three goals cost each other at most 2 points. The bottom rows are human rules: even the best one scores only 0.46 to 0.59, so every trained AI beats every rule on every goal. If asked: days to failure R1 1744, R2 1726, R3 1494, R4 1751; the difference between goals is clear (Kruskal–Wallis p = 0.00001), and R1, R2 and R4 are not significantly different from each other.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our headline hypothesis going in, and it failed outright (one-sided test, p = 1). The intuition was that keeping a balanced mix is a smarter long-term route to survival. In this model it is not: aiming directly at survival also gives a better mix than aiming at the mix. The next slide shows what the winning strategy actually does to the tumour.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AIs learn containment with short weekly pulses. Near the end the drug is on almost every week, because the resistant part is big enough that every week threatens failure. The R3 AI treats from day one and fails about 260 days sooner (1484 vs about 1740 days). In E5 we compared the AIs’ decisions directly: 5 of the 6 pairs of goals make measurably different choices, but survival (R1) and lasting control (R4) are no more different than two copies of the same goal. If asked: R1 and R2 disagree on 13% of decisions against a 4.7% luck level; thresholds R1 1.14, R2 1.15, R3 1.08, R4 1.15 of the starting size, against 1.17 for the best plan; the test is a permutation test with 5000 shuffles, corrected for six comparisons.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keep-the-mix lose so consistently? In any patient who will eventually fail, the resistant population grows under every schedule, so a stable two-cell mix simply cannot be held, and the reward collapses into “treat early, then contain”. We tried three ways to rescue it. The figure is E6: left, days to failure for each target (green = AIs, circles = best plan, blue dashed = survival-trained AIs); right, the resistant share actually reached, flat near 9% whatever the target. Smoother rewards (B2) were worse, and letting the drug partly affect resistant cells (FE2) helped every goal but R3 still lost about 20%. If asked: a target is held exactly only in patients who never fail (E6b), where the goal no longer matters. FE2 also corrected our plan: the drug only shrinks partly sensitive resistant cells if cells also die naturally.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threw every stress test we could at the result; each line is one experiment. New patients, wrong model numbers, different drug mechanisms, slower resistant cells, natural cell death, a 25-patient map, a different failure line: keep-the-mix came last every time. Survival and lasting control also stayed the same strategy throughout. The two splits are small: with a half dose, R1 differs only because its drug-free bonus pays at zero dose alone (fix the bonus and they match again); with ongoing mutation the best plans differ slightly, but trained AIs cannot detect it (p = 0.18). What we do not claim: the order among R1, R2 and R4, which changes from patient to patient. If asked: E7 new patients R1 2651, R2 2804, R3 2075, R4 2782 days; in E10 the AIs were never retrained on the new drug, and with a log-kill drug they barely changed (1732 vs 1744 days) while AT50 fell to 828; C1 is best plans only.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results from the stress tests matter for any clinic. Left (E8): real patients never match the model exactly. When we changed each model number randomly by up to 25%, the AIs barely noticed, but the exact best plan failed within a few months in about a quarter of patients, because it keeps the tumour right at the failure line. The AIs’ learned margin costs about 15% in the perfect model but buys reliability. Right (E9): AIs trained with weekly check-ups and then checked only monthly failed by day 83, worse than any human rule. AIs trained monthly work at every rhythm. This replicates what Gallagher et al. reported. If asked: R3-trained AIs stayed last at every error level (1450–1500 days); fewer check-ups also lower the ceiling (best plan 2038 days weekly, 1400 monthly).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assumed the AI sees the exact mix of sensitive and resistant cells. No doctor has that. In prostate cancer, the PSA blood test tracks total tumour size but says nothing about how many cells are resistant. So in this chapter we take that information away. It turned into the most important result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tumour size alone, the AI failed for every goal: 0.21 to 0.37 of the best plan, about 700 days, close to AT50. The left panel shows why: each line is one AI’s chance of treating at each tumour size, and they start treating at 50 to 90% of the starting size, far too early. The right panel is the key. The black line is a one-line rule, “treat if size is at least θ times the start”, which uses exactly the same information. At θ = 1.17 it reaches 1945 days, 96% of the full-information best plan. So the problem is not missing information; it is learning.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RL agent has two parts: a decision-maker that picks the dose, and an internal judge that estimates how good a situation is and steers the learning. Seeing only size, the judge cannot tell a mostly-sensitive tumour from a mostly-resistant one of the same size, so it averages over very different futures and its advice is misleading; the decision-maker ends up treating too early. The technical name is critic aliasing. The fix is cheap: in a simulator the full state is always known during training, so we let only the judge see it. The decision-maker, the part you would actually use, still sees only size, as in a clinic. Technical name: an asymmetric actor–critic (actor = decision-maker, critic = judge). Everything else is identical to the failed run: 10 AIs per goal, same training length, same scoring.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better judge, all 40 size-only AIs train. Each learns one sharp rule: treat when the tumour passes about 1.15 times its starting size, right next to the best size rule at 1.17. And they beat the all-seeing AIs from chapter 2 on every goal: 1779 to 1855 days against 1494 to 1751. Seeing less made the AI better. How to read the right panel: each goal has three columns; the middle one is the failed size-only AI, the right one is this fix, higher than the left one, the full-information AI. Grey lines: full-information best plan 2038 days, best size rule 1945. If asked why seeing less helps: one input is much easier to learn from than the full composition, and the decision-maker learns a single threshold; the next slides check it was not just a training-budget artefact.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goals nearly merge. Compare this score table with the one from chapter 2: the R3 row used to score 0.67 to 0.76 on other goals, now every AI row scores 0.80 to 0.92 everywhere, and the dots on the right are tight. The gap between survival-trained and keep-the-mix-trained AIs falls from 250 days to 76; the worst cost of picking the wrong goal falls from 18% to 3.5%. The reason is simple: R3 cannot chase a cell mix it cannot see. This changes how to read chapter 2: much of the difference between goals depended on information a clinician does not have. If asked: 5 of 6 goal pairs still differ statistically and R1 vs R4 still does not; AIs of different goals now disagree on 4 to 14% of decisions, against 13 to 33% with full information.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puts every way of seeing side by side. Score is each AI on its own goal as a fraction of the best plan; the gap is the difference in days between survival-trained and keep-the-mix-trained AIs; wrong-goal cost is the largest loss from scoring an AI on a goal it was not trained for. We also gave the AI a memory: the last 8 weekly sizes and doses, like a patient chart (E11c), and then 3× more training (E11d). Memory brings back some differences between goals, but not because the AIs serve their goals better: R2- and R3-trained memory AIs score no higher on their own goals than R1-trained AIs, and copies of the same goal disagree about 4× more, unchanged by extra training. If asked: B1 later showed that R2’s memory AIs make a real trade-off, about 285 fewer days for 4 points less time on drug, and sit on the drug-versus-survival frontier; whether that is worth it is a clinical choice.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worry remained: only the memory AIs had 3× training, so was the comparison fair? A2 retrained everything with 3 million steps. Left: AIs that see the full cell mix keep improving, but the goals stay spread apart and keep-the-mix stays lowest. Right: size plus the better judge, all four goals run on top of each other and finish higher. At equal training the order is clear: size plus judge 0.97 of the best plan, full information 0.94, memory 0.92 (scored on the survival goal). These are the best AIs in the project, up to 1974 days against 2038 for the all-seeing best plan, and the worst wrong-goal cost is 2.3%. This turned chapter 4 from suggestive into our strongest finding. If asked: every goal beats its full-information counterpart at equal training (Mann–Whitney p = 0.0002 to 0.0004); with full information and more training, R1 and R3 actually drift further apart (3.8 → 6.1× the luck level).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checks on whether these schedules could be followed in practice. Doses: allowing a half dose adds 70 to 168 days, but the most useful middle dose is two-thirds, the dose that exactly freezes sensitive-cell growth; more dose levels help the exact planner but make the AI worse (R2 score 0.85 → 0.80 with five levels). Switching: optimal plans change the dose on about half of all weeks, 28 times a year, which is impractical. A small penalty per switch brings that to about 9 a year while keeping 87% of the benefit: 1755 days, still 55% longer than the best human rule. If asked: R1 ignores the half dose because its drug-free bonus only pays at zero dose; paying the bonus in proportion to drug withheld makes R1 equal R4 again. If a half dose is weaker than half the effect (D3), the gain shrinks (56 to 112 days for R4) but never reverses.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four slowly; they are the whole talk. One: survival, drug-saving and lasting-control goals all lead the AI to the same containment strategy, and survival equals lasting control almost everywhere. Two: aiming for a balanced mix is the one costly mistake. Three: trained AIs beat every human rule by about 50% and are more robust than the exact plan because they keep a margin. Four, the main message: what the AI can see matters more than what it is told to aim for. Evidence: point 1 from E2, E5, E3c, A1, C1 and B4; point 2 from E4, E6 to E10, A1, B2, C1 and FE2; point 3 from E1, E3, E4 and E8; point 4 from E11 to E11d and A2.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hypotheses that the simulations support, not recommendations. Each would need testing against real patient data, for example the prostate-cancer datasets these models were fitted to, before anyone could consider it clinically. Adaptive therapy itself is still being tested in patients (Mistry 2021). If asked about other caveats: the best plan is computed on a grid (precise to under 0.4%); in the main comparison the AI sees the cell mix, which clinicians cannot, which is exactly why chapter 4 matters; and longer-lived patients were harder to train at a fixed budget, which mainly affected R3.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one takeaway: survival, drug-saving and lasting-control goals all lead the AI to the same containment strategy; aiming for a balanced mix is the one costly mistake; and once the AI only sees what a doctor sees, the choice of goal hardly matters, provided it is trained with a better judge. Next steps, in order of priority: noisy or delayed tumour readings, because observation turned out to be the strongest lever; training AIs with the ⅔ dose that helped the planner most; letting the AI see last week’s dose so it can learn calmer schedules itself; and a side-effects (toxicity) goal, the likeliest way to make lasting control truly differ from survival (Gevertz 2026 proposed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521"/>
            <a:ext cx="10566400" cy="417067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27C"/>
                </a:solidFill>
                <a:latin typeface="IBM Plex Sans" pitchFamily="34" charset="0"/>
                <a:ea typeface="IBM Plex Sans" pitchFamily="34" charset="-122"/>
                <a:cs typeface="IBM Plex Sans" pitchFamily="34" charset="-120"/>
              </a:rPr>
              <a:t>AI IN MEDICINE · FINAL PROJECT PRESENTATION</a:t>
            </a:r>
            <a:endParaRPr lang="en-US" sz="1200" dirty="0"/>
          </a:p>
        </p:txBody>
      </p:sp>
      <p:sp>
        <p:nvSpPr>
          <p:cNvPr id="3" name="Text 1"/>
          <p:cNvSpPr>
            <a:spLocks noGrp="1"/>
          </p:cNvSpPr>
          <p:nvPr>
            <p:ph type="title"/>
          </p:nvPr>
        </p:nvSpPr>
        <p:spPr>
          <a:xfrm>
            <a:off x="812800" y="2296795"/>
            <a:ext cx="10883392" cy="141224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3EFE6"/>
                </a:solidFill>
                <a:latin typeface="Times New Roman" panose="02020603050405020304" pitchFamily="18" charset="0"/>
                <a:ea typeface="Source Serif 4" pitchFamily="18" charset="-122"/>
                <a:cs typeface="Times New Roman" panose="02020603050405020304" pitchFamily="18" charset="0"/>
              </a:rPr>
              <a:t>What should adaptive therapy optimise?</a:t>
            </a:r>
            <a:endParaRPr lang="en-US" sz="5200" dirty="0">
              <a:latin typeface="Times New Roman" panose="02020603050405020304" pitchFamily="18" charset="0"/>
              <a:cs typeface="Times New Roman" panose="02020603050405020304" pitchFamily="18" charset="0"/>
            </a:endParaRPr>
          </a:p>
        </p:txBody>
      </p:sp>
      <p:pic>
        <p:nvPicPr>
          <p:cNvPr id="4" name="Image 0" descr="line"/>
          <p:cNvPicPr>
            <a:picLocks noChangeAspect="1"/>
          </p:cNvPicPr>
          <p:nvPr/>
        </p:nvPicPr>
        <p:blipFill>
          <a:blip r:embed="rId3"/>
          <a:srcRect/>
          <a:stretch/>
        </p:blipFill>
        <p:spPr>
          <a:xfrm>
            <a:off x="812800" y="3937635"/>
            <a:ext cx="1016000" cy="25400"/>
          </a:xfrm>
          <a:prstGeom prst="rect">
            <a:avLst/>
          </a:prstGeom>
        </p:spPr>
      </p:pic>
      <p:sp>
        <p:nvSpPr>
          <p:cNvPr id="5" name="Text 2"/>
          <p:cNvSpPr/>
          <p:nvPr/>
        </p:nvSpPr>
        <p:spPr>
          <a:xfrm>
            <a:off x="812800" y="4217035"/>
            <a:ext cx="10883392" cy="33401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C8D8"/>
                </a:solidFill>
                <a:latin typeface="IBM Plex Sans" pitchFamily="34" charset="0"/>
                <a:ea typeface="IBM Plex Sans" pitchFamily="34" charset="-122"/>
                <a:cs typeface="IBM Plex Sans" pitchFamily="34" charset="-120"/>
              </a:rPr>
              <a:t>Teaching an AI to schedule cancer drugs: four goals, one virtual patient, 585 trained AI agents</a:t>
            </a:r>
            <a:endParaRPr lang="en-US" sz="1800" dirty="0"/>
          </a:p>
        </p:txBody>
      </p:sp>
      <p:sp>
        <p:nvSpPr>
          <p:cNvPr id="6" name="Text 3"/>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8"/>
                </a:solidFill>
                <a:latin typeface="IBM Plex Sans" pitchFamily="34" charset="0"/>
                <a:ea typeface="IBM Plex Sans" pitchFamily="34" charset="-122"/>
                <a:cs typeface="IBM Plex Sans" pitchFamily="34" charset="-120"/>
              </a:rPr>
              <a:t>Arnav Kumar (MD24B003) · Rohit Satish Chipde (MD24B026) · IIT Madras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110236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Why cancer drugs stop working</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2096135"/>
            <a:ext cx="3109357" cy="1934210"/>
          </a:xfrm>
          <a:prstGeom prst="roundRect">
            <a:avLst>
              <a:gd name="adj" fmla="val 3775"/>
            </a:avLst>
          </a:prstGeom>
          <a:solidFill>
            <a:srgbClr val="FFFFFF"/>
          </a:solidFill>
          <a:ln w="6350">
            <a:solidFill>
              <a:srgbClr val="E2DED3"/>
            </a:solidFill>
            <a:prstDash val="solid"/>
          </a:ln>
        </p:spPr>
      </p:sp>
      <p:sp>
        <p:nvSpPr>
          <p:cNvPr id="5" name="Text 3"/>
          <p:cNvSpPr/>
          <p:nvPr/>
        </p:nvSpPr>
        <p:spPr>
          <a:xfrm>
            <a:off x="1021080" y="2301240"/>
            <a:ext cx="278012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B6CB0"/>
                </a:solidFill>
                <a:latin typeface="Source Serif 4" pitchFamily="18" charset="0"/>
                <a:ea typeface="Source Serif 4" pitchFamily="18" charset="-122"/>
                <a:cs typeface="Source Serif 4" pitchFamily="18" charset="-120"/>
              </a:rPr>
              <a:t>1</a:t>
            </a:r>
            <a:endParaRPr lang="en-US" sz="2800" dirty="0"/>
          </a:p>
        </p:txBody>
      </p:sp>
      <p:sp>
        <p:nvSpPr>
          <p:cNvPr id="6" name="Text 4"/>
          <p:cNvSpPr/>
          <p:nvPr/>
        </p:nvSpPr>
        <p:spPr>
          <a:xfrm>
            <a:off x="1021080" y="2733040"/>
            <a:ext cx="278012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 tumour is a mix</a:t>
            </a:r>
            <a:endParaRPr lang="en-US" sz="1700" dirty="0"/>
          </a:p>
        </p:txBody>
      </p:sp>
      <p:sp>
        <p:nvSpPr>
          <p:cNvPr id="7" name="Text 5"/>
          <p:cNvSpPr/>
          <p:nvPr/>
        </p:nvSpPr>
        <p:spPr>
          <a:xfrm>
            <a:off x="1021080" y="3068320"/>
            <a:ext cx="278012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Most cells are drug-sensitive. A few are resistant.</a:t>
            </a:r>
            <a:endParaRPr lang="en-US" sz="1400" dirty="0"/>
          </a:p>
        </p:txBody>
      </p:sp>
      <p:pic>
        <p:nvPicPr>
          <p:cNvPr id="8" name="Image 0" descr="arrow-right"/>
          <p:cNvPicPr>
            <a:picLocks noChangeAspect="1"/>
          </p:cNvPicPr>
          <p:nvPr/>
        </p:nvPicPr>
        <p:blipFill>
          <a:blip r:embed="rId3"/>
          <a:srcRect/>
          <a:stretch/>
        </p:blipFill>
        <p:spPr>
          <a:xfrm>
            <a:off x="4080907" y="2987040"/>
            <a:ext cx="304800" cy="152400"/>
          </a:xfrm>
          <a:prstGeom prst="rect">
            <a:avLst/>
          </a:prstGeom>
        </p:spPr>
      </p:pic>
      <p:sp>
        <p:nvSpPr>
          <p:cNvPr id="9" name="Shape 6"/>
          <p:cNvSpPr/>
          <p:nvPr/>
        </p:nvSpPr>
        <p:spPr>
          <a:xfrm>
            <a:off x="4541282" y="2096135"/>
            <a:ext cx="3109436" cy="1934210"/>
          </a:xfrm>
          <a:prstGeom prst="roundRect">
            <a:avLst>
              <a:gd name="adj" fmla="val 3775"/>
            </a:avLst>
          </a:prstGeom>
          <a:solidFill>
            <a:srgbClr val="FFFFFF"/>
          </a:solidFill>
          <a:ln w="6350">
            <a:solidFill>
              <a:srgbClr val="E2DED3"/>
            </a:solidFill>
            <a:prstDash val="solid"/>
          </a:ln>
        </p:spPr>
      </p:sp>
      <p:sp>
        <p:nvSpPr>
          <p:cNvPr id="10" name="Text 7"/>
          <p:cNvSpPr/>
          <p:nvPr/>
        </p:nvSpPr>
        <p:spPr>
          <a:xfrm>
            <a:off x="4746387" y="2301240"/>
            <a:ext cx="2780203"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4213D"/>
                </a:solidFill>
                <a:latin typeface="Source Serif 4" pitchFamily="18" charset="0"/>
                <a:ea typeface="Source Serif 4" pitchFamily="18" charset="-122"/>
                <a:cs typeface="Source Serif 4" pitchFamily="18" charset="-120"/>
              </a:rPr>
              <a:t>2</a:t>
            </a:r>
            <a:endParaRPr lang="en-US" sz="2800" dirty="0"/>
          </a:p>
        </p:txBody>
      </p:sp>
      <p:sp>
        <p:nvSpPr>
          <p:cNvPr id="11" name="Text 8"/>
          <p:cNvSpPr/>
          <p:nvPr/>
        </p:nvSpPr>
        <p:spPr>
          <a:xfrm>
            <a:off x="4746387" y="2733040"/>
            <a:ext cx="2780203"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Full dose kills the sensitive cells</a:t>
            </a:r>
            <a:endParaRPr lang="en-US" sz="1700" dirty="0"/>
          </a:p>
        </p:txBody>
      </p:sp>
      <p:sp>
        <p:nvSpPr>
          <p:cNvPr id="12" name="Text 9"/>
          <p:cNvSpPr/>
          <p:nvPr/>
        </p:nvSpPr>
        <p:spPr>
          <a:xfrm>
            <a:off x="4746387" y="3327400"/>
            <a:ext cx="278020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tumour shrinks, so at first the treatment looks like it works.</a:t>
            </a:r>
            <a:endParaRPr lang="en-US" sz="1400" dirty="0"/>
          </a:p>
        </p:txBody>
      </p:sp>
      <p:pic>
        <p:nvPicPr>
          <p:cNvPr id="13" name="Image 1" descr="arrow-right"/>
          <p:cNvPicPr>
            <a:picLocks noChangeAspect="1"/>
          </p:cNvPicPr>
          <p:nvPr/>
        </p:nvPicPr>
        <p:blipFill>
          <a:blip r:embed="rId3"/>
          <a:srcRect/>
          <a:stretch/>
        </p:blipFill>
        <p:spPr>
          <a:xfrm>
            <a:off x="7806293" y="2987040"/>
            <a:ext cx="304800" cy="152400"/>
          </a:xfrm>
          <a:prstGeom prst="rect">
            <a:avLst/>
          </a:prstGeom>
        </p:spPr>
      </p:pic>
      <p:sp>
        <p:nvSpPr>
          <p:cNvPr id="14" name="Shape 10"/>
          <p:cNvSpPr/>
          <p:nvPr/>
        </p:nvSpPr>
        <p:spPr>
          <a:xfrm>
            <a:off x="8266668" y="2096135"/>
            <a:ext cx="3109357" cy="1934210"/>
          </a:xfrm>
          <a:prstGeom prst="roundRect">
            <a:avLst>
              <a:gd name="adj" fmla="val 3775"/>
            </a:avLst>
          </a:prstGeom>
          <a:solidFill>
            <a:srgbClr val="FFFFFF"/>
          </a:solidFill>
          <a:ln w="6350">
            <a:solidFill>
              <a:srgbClr val="E2DED3"/>
            </a:solidFill>
            <a:prstDash val="solid"/>
          </a:ln>
        </p:spPr>
      </p:sp>
      <p:sp>
        <p:nvSpPr>
          <p:cNvPr id="15" name="Text 11"/>
          <p:cNvSpPr/>
          <p:nvPr/>
        </p:nvSpPr>
        <p:spPr>
          <a:xfrm>
            <a:off x="8471774" y="2301240"/>
            <a:ext cx="278012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B54A1A"/>
                </a:solidFill>
                <a:latin typeface="Source Serif 4" pitchFamily="18" charset="0"/>
                <a:ea typeface="Source Serif 4" pitchFamily="18" charset="-122"/>
                <a:cs typeface="Source Serif 4" pitchFamily="18" charset="-120"/>
              </a:rPr>
              <a:t>3</a:t>
            </a:r>
            <a:endParaRPr lang="en-US" sz="2800" dirty="0"/>
          </a:p>
        </p:txBody>
      </p:sp>
      <p:sp>
        <p:nvSpPr>
          <p:cNvPr id="16" name="Text 12"/>
          <p:cNvSpPr/>
          <p:nvPr/>
        </p:nvSpPr>
        <p:spPr>
          <a:xfrm>
            <a:off x="8471774" y="2733040"/>
            <a:ext cx="278012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Resistant cells take over</a:t>
            </a:r>
            <a:endParaRPr lang="en-US" sz="1700" dirty="0"/>
          </a:p>
        </p:txBody>
      </p:sp>
      <p:sp>
        <p:nvSpPr>
          <p:cNvPr id="17" name="Text 13"/>
          <p:cNvSpPr/>
          <p:nvPr/>
        </p:nvSpPr>
        <p:spPr>
          <a:xfrm>
            <a:off x="8471774" y="3068320"/>
            <a:ext cx="278012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With no competitors left, they regrow and the drug stops working.</a:t>
            </a:r>
            <a:endParaRPr lang="en-US" sz="1400" dirty="0"/>
          </a:p>
        </p:txBody>
      </p:sp>
      <p:sp>
        <p:nvSpPr>
          <p:cNvPr id="18" name="Shape 14"/>
          <p:cNvSpPr/>
          <p:nvPr/>
        </p:nvSpPr>
        <p:spPr>
          <a:xfrm>
            <a:off x="812800" y="4556760"/>
            <a:ext cx="10566400" cy="1285240"/>
          </a:xfrm>
          <a:prstGeom prst="roundRect">
            <a:avLst>
              <a:gd name="adj" fmla="val 7905"/>
            </a:avLst>
          </a:prstGeom>
          <a:solidFill>
            <a:srgbClr val="14213D"/>
          </a:solidFill>
          <a:ln/>
        </p:spPr>
      </p:sp>
      <p:sp>
        <p:nvSpPr>
          <p:cNvPr id="19" name="Text 15"/>
          <p:cNvSpPr/>
          <p:nvPr/>
        </p:nvSpPr>
        <p:spPr>
          <a:xfrm>
            <a:off x="1117600" y="4785360"/>
            <a:ext cx="2747010"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E8A27C"/>
                </a:solidFill>
                <a:latin typeface="Source Serif 4" pitchFamily="18" charset="0"/>
                <a:ea typeface="Source Serif 4" pitchFamily="18" charset="-122"/>
                <a:cs typeface="Source Serif 4" pitchFamily="18" charset="-120"/>
              </a:rPr>
              <a:t>452 days</a:t>
            </a:r>
            <a:endParaRPr lang="en-US" sz="2800" dirty="0"/>
          </a:p>
        </p:txBody>
      </p:sp>
      <p:sp>
        <p:nvSpPr>
          <p:cNvPr id="20" name="Text 16"/>
          <p:cNvSpPr/>
          <p:nvPr/>
        </p:nvSpPr>
        <p:spPr>
          <a:xfrm>
            <a:off x="1117600" y="5201920"/>
            <a:ext cx="274701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8D8"/>
                </a:solidFill>
                <a:latin typeface="IBM Plex Sans" pitchFamily="34" charset="0"/>
                <a:ea typeface="IBM Plex Sans" pitchFamily="34" charset="-122"/>
                <a:cs typeface="IBM Plex Sans" pitchFamily="34" charset="-120"/>
              </a:rPr>
              <a:t>until full-dose therapy fails in our virtual patient</a:t>
            </a:r>
            <a:endParaRPr lang="en-US" sz="1200" dirty="0"/>
          </a:p>
        </p:txBody>
      </p:sp>
      <p:sp>
        <p:nvSpPr>
          <p:cNvPr id="21" name="Text 17"/>
          <p:cNvSpPr/>
          <p:nvPr/>
        </p:nvSpPr>
        <p:spPr>
          <a:xfrm>
            <a:off x="4089400" y="4950460"/>
            <a:ext cx="719455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Adaptive therapy flips this:</a:t>
            </a:r>
            <a:r>
              <a:rPr lang="en-US" sz="1400" dirty="0">
                <a:solidFill>
                  <a:srgbClr val="F3EFE6"/>
                </a:solidFill>
                <a:latin typeface="IBM Plex Sans" pitchFamily="34" charset="0"/>
                <a:ea typeface="IBM Plex Sans" pitchFamily="34" charset="-122"/>
                <a:cs typeface="IBM Plex Sans" pitchFamily="34" charset="-120"/>
              </a:rPr>
              <a:t> treat less, on purpose, so sensitive cells survive and hold the resistant ones back. The open question is exactly </a:t>
            </a:r>
            <a:r>
              <a:rPr lang="en-US" sz="1400" i="1" dirty="0">
                <a:solidFill>
                  <a:srgbClr val="F3EFE6"/>
                </a:solidFill>
                <a:latin typeface="IBM Plex Sans" pitchFamily="34" charset="0"/>
                <a:ea typeface="IBM Plex Sans" pitchFamily="34" charset="-122"/>
                <a:cs typeface="IBM Plex Sans" pitchFamily="34" charset="-120"/>
              </a:rPr>
              <a:t>when</a:t>
            </a:r>
            <a:r>
              <a:rPr lang="en-US" sz="1400" dirty="0">
                <a:solidFill>
                  <a:srgbClr val="F3EFE6"/>
                </a:solidFill>
                <a:latin typeface="IBM Plex Sans" pitchFamily="34" charset="0"/>
                <a:ea typeface="IBM Plex Sans" pitchFamily="34" charset="-122"/>
                <a:cs typeface="IBM Plex Sans" pitchFamily="34" charset="-120"/>
              </a:rPr>
              <a:t> to treat.</a:t>
            </a:r>
            <a:endParaRPr lang="en-US" sz="1400" dirty="0"/>
          </a:p>
        </p:txBody>
      </p:sp>
      <p:sp>
        <p:nvSpPr>
          <p:cNvPr id="22" name="Text 18"/>
          <p:cNvSpPr/>
          <p:nvPr/>
        </p:nvSpPr>
        <p:spPr>
          <a:xfrm>
            <a:off x="812800" y="6238241"/>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3" name="Text 19"/>
          <p:cNvSpPr/>
          <p:nvPr/>
        </p:nvSpPr>
        <p:spPr>
          <a:xfrm>
            <a:off x="11236960" y="6238241"/>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WHERE AI COMES IN</a:t>
            </a:r>
            <a:endParaRPr lang="en-US" sz="1200" dirty="0"/>
          </a:p>
        </p:txBody>
      </p:sp>
      <p:sp>
        <p:nvSpPr>
          <p:cNvPr id="3" name="Text 1"/>
          <p:cNvSpPr>
            <a:spLocks noGrp="1"/>
          </p:cNvSpPr>
          <p:nvPr>
            <p:ph type="title"/>
          </p:nvPr>
        </p:nvSpPr>
        <p:spPr>
          <a:xfrm>
            <a:off x="812800" y="1102361"/>
            <a:ext cx="11379200"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An AI can learn when to treat, but only from a reward</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2594293"/>
            <a:ext cx="3109357" cy="1243330"/>
          </a:xfrm>
          <a:prstGeom prst="roundRect">
            <a:avLst>
              <a:gd name="adj" fmla="val 5873"/>
            </a:avLst>
          </a:prstGeom>
          <a:solidFill>
            <a:srgbClr val="FFFFFF"/>
          </a:solidFill>
          <a:ln w="6350">
            <a:solidFill>
              <a:srgbClr val="E2DED3"/>
            </a:solidFill>
            <a:prstDash val="solid"/>
          </a:ln>
        </p:spPr>
      </p:sp>
      <p:sp>
        <p:nvSpPr>
          <p:cNvPr id="5" name="Text 3"/>
          <p:cNvSpPr/>
          <p:nvPr/>
        </p:nvSpPr>
        <p:spPr>
          <a:xfrm>
            <a:off x="1021080" y="2799398"/>
            <a:ext cx="278012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1 · Look</a:t>
            </a:r>
            <a:endParaRPr lang="en-US" sz="1700" dirty="0"/>
          </a:p>
        </p:txBody>
      </p:sp>
      <p:sp>
        <p:nvSpPr>
          <p:cNvPr id="6" name="Text 4"/>
          <p:cNvSpPr/>
          <p:nvPr/>
        </p:nvSpPr>
        <p:spPr>
          <a:xfrm>
            <a:off x="1021080" y="3134678"/>
            <a:ext cx="278012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AI sees the tumour this week.</a:t>
            </a:r>
            <a:endParaRPr lang="en-US" sz="1400" dirty="0"/>
          </a:p>
        </p:txBody>
      </p:sp>
      <p:pic>
        <p:nvPicPr>
          <p:cNvPr id="7" name="Image 0" descr="arrow-right"/>
          <p:cNvPicPr>
            <a:picLocks noChangeAspect="1"/>
          </p:cNvPicPr>
          <p:nvPr/>
        </p:nvPicPr>
        <p:blipFill>
          <a:blip r:embed="rId3"/>
          <a:srcRect/>
          <a:stretch/>
        </p:blipFill>
        <p:spPr>
          <a:xfrm>
            <a:off x="4080907" y="3139757"/>
            <a:ext cx="304800" cy="152400"/>
          </a:xfrm>
          <a:prstGeom prst="rect">
            <a:avLst/>
          </a:prstGeom>
        </p:spPr>
      </p:pic>
      <p:sp>
        <p:nvSpPr>
          <p:cNvPr id="8" name="Shape 5"/>
          <p:cNvSpPr/>
          <p:nvPr/>
        </p:nvSpPr>
        <p:spPr>
          <a:xfrm>
            <a:off x="4541282" y="2594293"/>
            <a:ext cx="3109436" cy="1243330"/>
          </a:xfrm>
          <a:prstGeom prst="roundRect">
            <a:avLst>
              <a:gd name="adj" fmla="val 5873"/>
            </a:avLst>
          </a:prstGeom>
          <a:solidFill>
            <a:srgbClr val="FFFFFF"/>
          </a:solidFill>
          <a:ln w="6350">
            <a:solidFill>
              <a:srgbClr val="E2DED3"/>
            </a:solidFill>
            <a:prstDash val="solid"/>
          </a:ln>
        </p:spPr>
      </p:sp>
      <p:sp>
        <p:nvSpPr>
          <p:cNvPr id="9" name="Text 6"/>
          <p:cNvSpPr/>
          <p:nvPr/>
        </p:nvSpPr>
        <p:spPr>
          <a:xfrm>
            <a:off x="4746387" y="2799398"/>
            <a:ext cx="27802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2 · Decide</a:t>
            </a:r>
            <a:endParaRPr lang="en-US" sz="1700" dirty="0"/>
          </a:p>
        </p:txBody>
      </p:sp>
      <p:sp>
        <p:nvSpPr>
          <p:cNvPr id="10" name="Text 7"/>
          <p:cNvSpPr/>
          <p:nvPr/>
        </p:nvSpPr>
        <p:spPr>
          <a:xfrm>
            <a:off x="4746387" y="3134678"/>
            <a:ext cx="278020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Drug on or off for the next week.</a:t>
            </a:r>
            <a:endParaRPr lang="en-US" sz="1400" dirty="0"/>
          </a:p>
        </p:txBody>
      </p:sp>
      <p:pic>
        <p:nvPicPr>
          <p:cNvPr id="11" name="Image 1" descr="arrow-right"/>
          <p:cNvPicPr>
            <a:picLocks noChangeAspect="1"/>
          </p:cNvPicPr>
          <p:nvPr/>
        </p:nvPicPr>
        <p:blipFill>
          <a:blip r:embed="rId3"/>
          <a:srcRect/>
          <a:stretch/>
        </p:blipFill>
        <p:spPr>
          <a:xfrm>
            <a:off x="7806293" y="3139757"/>
            <a:ext cx="304800" cy="152400"/>
          </a:xfrm>
          <a:prstGeom prst="rect">
            <a:avLst/>
          </a:prstGeom>
        </p:spPr>
      </p:pic>
      <p:sp>
        <p:nvSpPr>
          <p:cNvPr id="12" name="Shape 8"/>
          <p:cNvSpPr/>
          <p:nvPr/>
        </p:nvSpPr>
        <p:spPr>
          <a:xfrm>
            <a:off x="8266668" y="2594293"/>
            <a:ext cx="3109357" cy="1243330"/>
          </a:xfrm>
          <a:prstGeom prst="roundRect">
            <a:avLst>
              <a:gd name="adj" fmla="val 5873"/>
            </a:avLst>
          </a:prstGeom>
          <a:solidFill>
            <a:srgbClr val="FFFFFF"/>
          </a:solidFill>
          <a:ln w="6350">
            <a:solidFill>
              <a:srgbClr val="E2DED3"/>
            </a:solidFill>
            <a:prstDash val="solid"/>
          </a:ln>
        </p:spPr>
      </p:sp>
      <p:sp>
        <p:nvSpPr>
          <p:cNvPr id="13" name="Text 9"/>
          <p:cNvSpPr/>
          <p:nvPr/>
        </p:nvSpPr>
        <p:spPr>
          <a:xfrm>
            <a:off x="8471774" y="2799398"/>
            <a:ext cx="278012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B6CB0"/>
                </a:solidFill>
                <a:latin typeface="IBM Plex Sans" pitchFamily="34" charset="0"/>
                <a:ea typeface="IBM Plex Sans" pitchFamily="34" charset="-122"/>
                <a:cs typeface="IBM Plex Sans" pitchFamily="34" charset="-120"/>
              </a:rPr>
              <a:t>3 · Get a reward</a:t>
            </a:r>
            <a:endParaRPr lang="en-US" sz="1700" dirty="0"/>
          </a:p>
        </p:txBody>
      </p:sp>
      <p:sp>
        <p:nvSpPr>
          <p:cNvPr id="14" name="Text 10"/>
          <p:cNvSpPr/>
          <p:nvPr/>
        </p:nvSpPr>
        <p:spPr>
          <a:xfrm>
            <a:off x="8471774" y="3134678"/>
            <a:ext cx="278012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simulator moves a week ahead and scores the result.</a:t>
            </a:r>
            <a:endParaRPr lang="en-US" sz="1400" dirty="0"/>
          </a:p>
        </p:txBody>
      </p:sp>
      <p:sp>
        <p:nvSpPr>
          <p:cNvPr id="15" name="Text 11"/>
          <p:cNvSpPr/>
          <p:nvPr/>
        </p:nvSpPr>
        <p:spPr>
          <a:xfrm>
            <a:off x="812800" y="3967798"/>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Repeat about a million times, and the AI learns which choices earn the most reward. We train 10 copies per goal, so a result is never just luck.</a:t>
            </a:r>
            <a:endParaRPr lang="en-US" sz="1200" dirty="0"/>
          </a:p>
        </p:txBody>
      </p:sp>
      <p:sp>
        <p:nvSpPr>
          <p:cNvPr id="16" name="Text 12"/>
          <p:cNvSpPr/>
          <p:nvPr/>
        </p:nvSpPr>
        <p:spPr>
          <a:xfrm>
            <a:off x="812800" y="5194936"/>
            <a:ext cx="10566400" cy="647065"/>
          </a:xfrm>
          <a:prstGeom prst="rect">
            <a:avLst/>
          </a:prstGeom>
          <a:solidFill>
            <a:srgbClr val="E6EEF8"/>
          </a:solidFill>
          <a:ln/>
        </p:spPr>
        <p:txBody>
          <a:bodyPr wrap="square" lIns="289560" tIns="177800" rIns="0" bIns="152400" rtlCol="0" anchor="t">
            <a:normAutofit/>
          </a:bodyPr>
          <a:lstStyle/>
          <a:p>
            <a:pPr marL="0" indent="0" algn="l">
              <a:lnSpc>
                <a:spcPts val="2295"/>
              </a:lnSpc>
              <a:buNone/>
            </a:pPr>
            <a:r>
              <a:rPr lang="en-US" sz="1700" b="1" dirty="0">
                <a:solidFill>
                  <a:srgbClr val="14213D"/>
                </a:solidFill>
                <a:latin typeface="IBM Plex Sans" pitchFamily="34" charset="0"/>
                <a:ea typeface="IBM Plex Sans" pitchFamily="34" charset="-122"/>
                <a:cs typeface="IBM Plex Sans" pitchFamily="34" charset="-120"/>
              </a:rPr>
              <a:t>The reward is the goal.</a:t>
            </a:r>
            <a:r>
              <a:rPr lang="en-US" sz="1700" dirty="0">
                <a:solidFill>
                  <a:srgbClr val="14213D"/>
                </a:solidFill>
                <a:latin typeface="IBM Plex Sans" pitchFamily="34" charset="0"/>
                <a:ea typeface="IBM Plex Sans" pitchFamily="34" charset="-122"/>
                <a:cs typeface="IBM Plex Sans" pitchFamily="34" charset="-120"/>
              </a:rPr>
              <a:t> Change it, and the AI learns a different schedule. So which goal should it get?</a:t>
            </a:r>
            <a:endParaRPr lang="en-US" sz="1700" dirty="0"/>
          </a:p>
        </p:txBody>
      </p:sp>
      <p:sp>
        <p:nvSpPr>
          <p:cNvPr id="17" name="Shape 13"/>
          <p:cNvSpPr/>
          <p:nvPr/>
        </p:nvSpPr>
        <p:spPr>
          <a:xfrm>
            <a:off x="831850" y="5194936"/>
            <a:ext cx="0" cy="647065"/>
          </a:xfrm>
          <a:prstGeom prst="line">
            <a:avLst/>
          </a:prstGeom>
          <a:noFill/>
          <a:ln w="38100">
            <a:solidFill>
              <a:srgbClr val="2B6CB0"/>
            </a:solidFill>
            <a:prstDash val="solid"/>
          </a:ln>
        </p:spPr>
      </p:sp>
      <p:sp>
        <p:nvSpPr>
          <p:cNvPr id="18" name="Text 14"/>
          <p:cNvSpPr/>
          <p:nvPr/>
        </p:nvSpPr>
        <p:spPr>
          <a:xfrm>
            <a:off x="812800" y="6238241"/>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9" name="Text 15"/>
          <p:cNvSpPr/>
          <p:nvPr/>
        </p:nvSpPr>
        <p:spPr>
          <a:xfrm>
            <a:off x="11236960" y="6238241"/>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OUR QUESTION</a:t>
            </a:r>
            <a:endParaRPr lang="en-US" sz="1200" dirty="0"/>
          </a:p>
        </p:txBody>
      </p:sp>
      <p:sp>
        <p:nvSpPr>
          <p:cNvPr id="3" name="Text 1"/>
          <p:cNvSpPr>
            <a:spLocks noGrp="1"/>
          </p:cNvSpPr>
          <p:nvPr>
            <p:ph type="title"/>
          </p:nvPr>
        </p:nvSpPr>
        <p:spPr>
          <a:xfrm>
            <a:off x="812800" y="1102361"/>
            <a:ext cx="11379200"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Four published goals, never compared on equal terms</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2800" y="1772920"/>
            <a:ext cx="10566400" cy="2181860"/>
          </a:xfrm>
          <a:prstGeom prst="rect">
            <a:avLst/>
          </a:prstGeom>
          <a:solidFill>
            <a:srgbClr val="FFFFFF"/>
          </a:solidFill>
          <a:ln/>
        </p:spPr>
      </p:sp>
      <p:sp>
        <p:nvSpPr>
          <p:cNvPr id="5" name="Shape 3"/>
          <p:cNvSpPr/>
          <p:nvPr/>
        </p:nvSpPr>
        <p:spPr>
          <a:xfrm>
            <a:off x="11376025" y="1772920"/>
            <a:ext cx="0" cy="2181860"/>
          </a:xfrm>
          <a:prstGeom prst="line">
            <a:avLst/>
          </a:prstGeom>
          <a:noFill/>
          <a:ln w="6350">
            <a:solidFill>
              <a:srgbClr val="E2DED3"/>
            </a:solidFill>
            <a:prstDash val="solid"/>
          </a:ln>
        </p:spPr>
      </p:sp>
      <p:sp>
        <p:nvSpPr>
          <p:cNvPr id="6" name="Shape 4"/>
          <p:cNvSpPr/>
          <p:nvPr/>
        </p:nvSpPr>
        <p:spPr>
          <a:xfrm>
            <a:off x="812800" y="3951605"/>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51159" cy="2166620"/>
        </p:xfrm>
        <a:graphic>
          <a:graphicData uri="http://schemas.openxmlformats.org/drawingml/2006/table">
            <a:tbl>
              <a:tblPr/>
              <a:tblGrid>
                <a:gridCol w="2532278">
                  <a:extLst>
                    <a:ext uri="{9D8B030D-6E8A-4147-A177-3AD203B41FA5}">
                      <a16:colId xmlns:a16="http://schemas.microsoft.com/office/drawing/2014/main" val="20000"/>
                    </a:ext>
                  </a:extLst>
                </a:gridCol>
                <a:gridCol w="5486603">
                  <a:extLst>
                    <a:ext uri="{9D8B030D-6E8A-4147-A177-3AD203B41FA5}">
                      <a16:colId xmlns:a16="http://schemas.microsoft.com/office/drawing/2014/main" val="20001"/>
                    </a:ext>
                  </a:extLst>
                </a:gridCol>
                <a:gridCol w="2532278">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Goal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In plain words</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Taken from</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R1 Survival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Stay alive longer, with a small bonus for drug-free weeks</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Gallagher 2023</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R2 Less drug</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Use as little drug, for as short a time, as possible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Gluzman 2020</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R3 Keep the mix</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Hold sensitive and resistant cells in a balanced mix</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Giles &amp; Newton 2026</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R4 Lasting control</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Leave a tumour that stays mostly sensitive, even after a long drug break</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Yao 2024</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bl>
          </a:graphicData>
        </a:graphic>
      </p:graphicFrame>
      <p:sp>
        <p:nvSpPr>
          <p:cNvPr id="8" name="Shape 5"/>
          <p:cNvSpPr/>
          <p:nvPr/>
        </p:nvSpPr>
        <p:spPr>
          <a:xfrm>
            <a:off x="812800" y="4631691"/>
            <a:ext cx="10566400" cy="1210310"/>
          </a:xfrm>
          <a:prstGeom prst="rect">
            <a:avLst/>
          </a:prstGeom>
          <a:solidFill>
            <a:srgbClr val="E6EEF8"/>
          </a:solidFill>
          <a:ln/>
        </p:spPr>
      </p:sp>
      <p:sp>
        <p:nvSpPr>
          <p:cNvPr id="9" name="Shape 6"/>
          <p:cNvSpPr/>
          <p:nvPr/>
        </p:nvSpPr>
        <p:spPr>
          <a:xfrm>
            <a:off x="831850" y="4631691"/>
            <a:ext cx="0" cy="1210310"/>
          </a:xfrm>
          <a:prstGeom prst="line">
            <a:avLst/>
          </a:prstGeom>
          <a:noFill/>
          <a:ln w="38100">
            <a:solidFill>
              <a:srgbClr val="2B6CB0"/>
            </a:solidFill>
            <a:prstDash val="solid"/>
          </a:ln>
        </p:spPr>
      </p:sp>
      <p:sp>
        <p:nvSpPr>
          <p:cNvPr id="10" name="Text 7"/>
          <p:cNvSpPr/>
          <p:nvPr/>
        </p:nvSpPr>
        <p:spPr>
          <a:xfrm>
            <a:off x="1102360" y="4809491"/>
            <a:ext cx="1032352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Each paper used its own goal inside its own simulator. We put all four in one simulator, with the same AI and the same training, so </a:t>
            </a:r>
            <a:r>
              <a:rPr lang="en-US" sz="1400" b="1" dirty="0">
                <a:solidFill>
                  <a:srgbClr val="14213D"/>
                </a:solidFill>
                <a:latin typeface="IBM Plex Sans" pitchFamily="34" charset="0"/>
                <a:ea typeface="IBM Plex Sans" pitchFamily="34" charset="-122"/>
                <a:cs typeface="IBM Plex Sans" pitchFamily="34" charset="-120"/>
              </a:rPr>
              <a:t>only the goal changes</a:t>
            </a:r>
            <a:r>
              <a:rPr lang="en-US" sz="1400" dirty="0">
                <a:solidFill>
                  <a:srgbClr val="14213D"/>
                </a:solidFill>
                <a:latin typeface="IBM Plex Sans" pitchFamily="34" charset="0"/>
                <a:ea typeface="IBM Plex Sans" pitchFamily="34" charset="-122"/>
                <a:cs typeface="IBM Plex Sans" pitchFamily="34" charset="-120"/>
              </a:rPr>
              <a:t>.</a:t>
            </a:r>
            <a:endParaRPr lang="en-US" sz="1400" dirty="0"/>
          </a:p>
        </p:txBody>
      </p:sp>
      <p:sp>
        <p:nvSpPr>
          <p:cNvPr id="11" name="Text 8"/>
          <p:cNvSpPr/>
          <p:nvPr/>
        </p:nvSpPr>
        <p:spPr>
          <a:xfrm>
            <a:off x="1102360" y="5383530"/>
            <a:ext cx="10323525" cy="306070"/>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4213D"/>
                </a:solidFill>
                <a:latin typeface="Source Serif 4" pitchFamily="18" charset="0"/>
                <a:ea typeface="Source Serif 4" pitchFamily="18" charset="-122"/>
                <a:cs typeface="Source Serif 4" pitchFamily="18" charset="-120"/>
              </a:rPr>
              <a:t>Does the goal change the strategy, and what does the wrong goal cost?</a:t>
            </a:r>
            <a:endParaRPr lang="en-US" sz="1700" dirty="0"/>
          </a:p>
        </p:txBody>
      </p:sp>
      <p:sp>
        <p:nvSpPr>
          <p:cNvPr id="12" name="Text 9"/>
          <p:cNvSpPr/>
          <p:nvPr/>
        </p:nvSpPr>
        <p:spPr>
          <a:xfrm>
            <a:off x="812800" y="6238239"/>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3" name="Text 10"/>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HOW WE TESTED IT</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One patient, three planners, one scorecard</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2160907"/>
            <a:ext cx="5408930" cy="2604770"/>
          </a:xfrm>
          <a:prstGeom prst="roundRect">
            <a:avLst>
              <a:gd name="adj" fmla="val 3779"/>
            </a:avLst>
          </a:prstGeom>
          <a:solidFill>
            <a:srgbClr val="FFFFFF"/>
          </a:solidFill>
          <a:ln w="6350">
            <a:solidFill>
              <a:srgbClr val="E2DED3"/>
            </a:solidFill>
            <a:prstDash val="solid"/>
          </a:ln>
        </p:spPr>
      </p:sp>
      <p:sp>
        <p:nvSpPr>
          <p:cNvPr id="5" name="Text 3"/>
          <p:cNvSpPr/>
          <p:nvPr/>
        </p:nvSpPr>
        <p:spPr>
          <a:xfrm>
            <a:off x="1071880" y="2416811"/>
            <a:ext cx="504403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The virtual patient</a:t>
            </a:r>
            <a:endParaRPr lang="en-US" sz="1700" dirty="0"/>
          </a:p>
        </p:txBody>
      </p:sp>
      <p:sp>
        <p:nvSpPr>
          <p:cNvPr id="6" name="Text 4"/>
          <p:cNvSpPr/>
          <p:nvPr/>
        </p:nvSpPr>
        <p:spPr>
          <a:xfrm>
            <a:off x="1150112" y="2777489"/>
            <a:ext cx="4958182" cy="127000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Two cell types compete for space</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The drug kills sensitive cells only</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Weekly decision: drug on or off</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Failure: 1.2× its starting size</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Same patient as Gallagher 2023</a:t>
            </a:r>
            <a:endParaRPr lang="en-US" sz="1400" dirty="0"/>
          </a:p>
        </p:txBody>
      </p:sp>
      <p:sp>
        <p:nvSpPr>
          <p:cNvPr id="7" name="Text 5"/>
          <p:cNvSpPr/>
          <p:nvPr/>
        </p:nvSpPr>
        <p:spPr>
          <a:xfrm>
            <a:off x="6482080" y="2157732"/>
            <a:ext cx="4897120" cy="802640"/>
          </a:xfrm>
          <a:prstGeom prst="roundRect">
            <a:avLst>
              <a:gd name="adj" fmla="val 9494"/>
            </a:avLst>
          </a:prstGeom>
          <a:solidFill>
            <a:srgbClr val="14213D"/>
          </a:solidFill>
          <a:ln/>
        </p:spPr>
        <p:txBody>
          <a:bodyPr wrap="square" lIns="180882" tIns="130082" rIns="46160" bIns="104682" rtlCol="0" anchor="t">
            <a:normAutofit/>
          </a:bodyPr>
          <a:lstStyle/>
          <a:p>
            <a:pPr marL="0" indent="0" algn="l">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Best possible plan</a:t>
            </a:r>
            <a:r>
              <a:rPr lang="en-US" sz="1400" dirty="0">
                <a:solidFill>
                  <a:srgbClr val="F3EFE6"/>
                </a:solidFill>
                <a:latin typeface="IBM Plex Sans" pitchFamily="34" charset="0"/>
                <a:ea typeface="IBM Plex Sans" pitchFamily="34" charset="-122"/>
                <a:cs typeface="IBM Plex Sans" pitchFamily="34" charset="-120"/>
              </a:rPr>
              <a:t> · worked out exactly from the model (value iteration). Our ceiling.</a:t>
            </a:r>
            <a:endParaRPr lang="en-US" sz="1400" dirty="0"/>
          </a:p>
        </p:txBody>
      </p:sp>
      <p:sp>
        <p:nvSpPr>
          <p:cNvPr id="8" name="Text 6"/>
          <p:cNvSpPr/>
          <p:nvPr/>
        </p:nvSpPr>
        <p:spPr>
          <a:xfrm>
            <a:off x="6482080" y="3061971"/>
            <a:ext cx="4897120" cy="802640"/>
          </a:xfrm>
          <a:prstGeom prst="roundRect">
            <a:avLst>
              <a:gd name="adj" fmla="val 9494"/>
            </a:avLst>
          </a:prstGeom>
          <a:solidFill>
            <a:srgbClr val="2B6CB0"/>
          </a:solidFill>
          <a:ln/>
        </p:spPr>
        <p:txBody>
          <a:bodyPr wrap="square" lIns="180882" tIns="130082" rIns="46160" bIns="104682" rtlCol="0" anchor="t">
            <a:normAutofit/>
          </a:bodyPr>
          <a:lstStyle/>
          <a:p>
            <a:pPr marL="0" indent="0" algn="l">
              <a:lnSpc>
                <a:spcPts val="1960"/>
              </a:lnSpc>
              <a:buNone/>
            </a:pPr>
            <a:r>
              <a:rPr lang="en-US" sz="1400" b="1" dirty="0">
                <a:solidFill>
                  <a:srgbClr val="FAF8F3"/>
                </a:solidFill>
                <a:latin typeface="IBM Plex Sans" pitchFamily="34" charset="0"/>
                <a:ea typeface="IBM Plex Sans" pitchFamily="34" charset="-122"/>
                <a:cs typeface="IBM Plex Sans" pitchFamily="34" charset="-120"/>
              </a:rPr>
              <a:t>AI agents</a:t>
            </a:r>
            <a:r>
              <a:rPr lang="en-US" sz="1400" dirty="0">
                <a:solidFill>
                  <a:srgbClr val="FAF8F3"/>
                </a:solidFill>
                <a:latin typeface="IBM Plex Sans" pitchFamily="34" charset="0"/>
                <a:ea typeface="IBM Plex Sans" pitchFamily="34" charset="-122"/>
                <a:cs typeface="IBM Plex Sans" pitchFamily="34" charset="-120"/>
              </a:rPr>
              <a:t> · learn by trial and error (PPO), 10 copies per goal.</a:t>
            </a:r>
            <a:endParaRPr lang="en-US" sz="1400" dirty="0"/>
          </a:p>
        </p:txBody>
      </p:sp>
      <p:sp>
        <p:nvSpPr>
          <p:cNvPr id="9" name="Text 7"/>
          <p:cNvSpPr/>
          <p:nvPr/>
        </p:nvSpPr>
        <p:spPr>
          <a:xfrm>
            <a:off x="6482080" y="3966211"/>
            <a:ext cx="4897120" cy="802640"/>
          </a:xfrm>
          <a:prstGeom prst="roundRect">
            <a:avLst>
              <a:gd name="adj" fmla="val 9494"/>
            </a:avLst>
          </a:prstGeom>
          <a:solidFill>
            <a:srgbClr val="E2DED3"/>
          </a:solidFill>
          <a:ln/>
        </p:spPr>
        <p:txBody>
          <a:bodyPr wrap="square" lIns="180882" tIns="130082" rIns="46160" bIns="104682"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Human rules</a:t>
            </a:r>
            <a:r>
              <a:rPr lang="en-US" sz="1400" dirty="0">
                <a:solidFill>
                  <a:srgbClr val="14213D"/>
                </a:solidFill>
                <a:latin typeface="IBM Plex Sans" pitchFamily="34" charset="0"/>
                <a:ea typeface="IBM Plex Sans" pitchFamily="34" charset="-122"/>
                <a:cs typeface="IBM Plex Sans" pitchFamily="34" charset="-120"/>
              </a:rPr>
              <a:t> · full dose, AT50, AT90 and a tuned rule (AT-PSC).</a:t>
            </a:r>
            <a:endParaRPr lang="en-US" sz="1400" dirty="0"/>
          </a:p>
        </p:txBody>
      </p:sp>
      <p:sp>
        <p:nvSpPr>
          <p:cNvPr id="10" name="Shape 8"/>
          <p:cNvSpPr/>
          <p:nvPr/>
        </p:nvSpPr>
        <p:spPr>
          <a:xfrm>
            <a:off x="812800" y="5360036"/>
            <a:ext cx="10566400" cy="0"/>
          </a:xfrm>
          <a:prstGeom prst="line">
            <a:avLst/>
          </a:prstGeom>
          <a:noFill/>
          <a:ln w="6350">
            <a:solidFill>
              <a:srgbClr val="D6D2C6"/>
            </a:solidFill>
            <a:prstDash val="solid"/>
          </a:ln>
        </p:spPr>
      </p:sp>
      <p:sp>
        <p:nvSpPr>
          <p:cNvPr id="11" name="Text 9"/>
          <p:cNvSpPr/>
          <p:nvPr/>
        </p:nvSpPr>
        <p:spPr>
          <a:xfrm>
            <a:off x="812800" y="5539739"/>
            <a:ext cx="1057513" cy="327660"/>
          </a:xfrm>
          <a:prstGeom prst="rect">
            <a:avLst/>
          </a:prstGeom>
          <a:noFill/>
          <a:ln/>
        </p:spPr>
        <p:txBody>
          <a:bodyPr wrap="none" lIns="0" tIns="0" rIns="0" bIns="0" rtlCol="0" anchor="t">
            <a:normAutofit/>
          </a:bodyPr>
          <a:lstStyle/>
          <a:p>
            <a:pPr marL="0" indent="0" algn="l">
              <a:lnSpc>
                <a:spcPts val="2380"/>
              </a:lnSpc>
              <a:buNone/>
            </a:pPr>
            <a:r>
              <a:rPr lang="en-US" sz="1700" b="1" dirty="0">
                <a:solidFill>
                  <a:srgbClr val="14213D"/>
                </a:solidFill>
                <a:latin typeface="Source Serif 4" pitchFamily="18" charset="0"/>
                <a:ea typeface="Source Serif 4" pitchFamily="18" charset="-122"/>
                <a:cs typeface="Source Serif 4" pitchFamily="18" charset="-120"/>
              </a:rPr>
              <a:t>The score</a:t>
            </a:r>
            <a:endParaRPr lang="en-US" sz="1700" dirty="0"/>
          </a:p>
        </p:txBody>
      </p:sp>
      <p:sp>
        <p:nvSpPr>
          <p:cNvPr id="12" name="Text 10"/>
          <p:cNvSpPr/>
          <p:nvPr/>
        </p:nvSpPr>
        <p:spPr>
          <a:xfrm>
            <a:off x="2073513" y="5566411"/>
            <a:ext cx="958485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0</a:t>
            </a:r>
            <a:r>
              <a:rPr lang="en-US" sz="1400" dirty="0">
                <a:solidFill>
                  <a:srgbClr val="4A5568"/>
                </a:solidFill>
                <a:latin typeface="IBM Plex Sans" pitchFamily="34" charset="0"/>
                <a:ea typeface="IBM Plex Sans" pitchFamily="34" charset="-122"/>
                <a:cs typeface="IBM Plex Sans" pitchFamily="34" charset="-120"/>
              </a:rPr>
              <a:t> = no treatment, </a:t>
            </a:r>
            <a:r>
              <a:rPr lang="en-US" sz="1400" b="1" dirty="0">
                <a:solidFill>
                  <a:srgbClr val="14213D"/>
                </a:solidFill>
                <a:latin typeface="IBM Plex Sans" pitchFamily="34" charset="0"/>
                <a:ea typeface="IBM Plex Sans" pitchFamily="34" charset="-122"/>
                <a:cs typeface="IBM Plex Sans" pitchFamily="34" charset="-120"/>
              </a:rPr>
              <a:t>1</a:t>
            </a:r>
            <a:r>
              <a:rPr lang="en-US" sz="1400" dirty="0">
                <a:solidFill>
                  <a:srgbClr val="4A5568"/>
                </a:solidFill>
                <a:latin typeface="IBM Plex Sans" pitchFamily="34" charset="0"/>
                <a:ea typeface="IBM Plex Sans" pitchFamily="34" charset="-122"/>
                <a:cs typeface="IBM Plex Sans" pitchFamily="34" charset="-120"/>
              </a:rPr>
              <a:t> = the best possible plan. Every strategy is scored on every goal, not just its own.</a:t>
            </a:r>
            <a:endParaRPr lang="en-US" sz="1400" dirty="0"/>
          </a:p>
        </p:txBody>
      </p:sp>
      <p:sp>
        <p:nvSpPr>
          <p:cNvPr id="13" name="Text 11"/>
          <p:cNvSpPr/>
          <p:nvPr/>
        </p:nvSpPr>
        <p:spPr>
          <a:xfrm>
            <a:off x="812800" y="6238239"/>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4" name="Text 12"/>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ROADMAP</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30 experiments, told in five chapters</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939800" y="2374900"/>
            <a:ext cx="18104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B6CB0"/>
                </a:solidFill>
                <a:latin typeface="Source Serif 4" pitchFamily="18" charset="0"/>
                <a:ea typeface="Source Serif 4" pitchFamily="18" charset="-122"/>
                <a:cs typeface="Source Serif 4" pitchFamily="18" charset="-120"/>
              </a:rPr>
              <a:t>1</a:t>
            </a:r>
            <a:endParaRPr lang="en-US" sz="2800" dirty="0"/>
          </a:p>
        </p:txBody>
      </p:sp>
      <p:sp>
        <p:nvSpPr>
          <p:cNvPr id="5" name="Shape 3"/>
          <p:cNvSpPr/>
          <p:nvPr/>
        </p:nvSpPr>
        <p:spPr>
          <a:xfrm>
            <a:off x="939800" y="3320415"/>
            <a:ext cx="1757680" cy="0"/>
          </a:xfrm>
          <a:prstGeom prst="line">
            <a:avLst/>
          </a:prstGeom>
          <a:noFill/>
          <a:ln w="19050">
            <a:solidFill>
              <a:srgbClr val="14213D"/>
            </a:solidFill>
            <a:prstDash val="solid"/>
          </a:ln>
        </p:spPr>
      </p:sp>
      <p:sp>
        <p:nvSpPr>
          <p:cNvPr id="6" name="Text 4"/>
          <p:cNvSpPr/>
          <p:nvPr/>
        </p:nvSpPr>
        <p:spPr>
          <a:xfrm>
            <a:off x="939800" y="2806700"/>
            <a:ext cx="1810411"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A baseline we can trust</a:t>
            </a:r>
            <a:endParaRPr lang="en-US" sz="1400" dirty="0"/>
          </a:p>
        </p:txBody>
      </p:sp>
      <p:sp>
        <p:nvSpPr>
          <p:cNvPr id="7" name="Text 5"/>
          <p:cNvSpPr/>
          <p:nvPr/>
        </p:nvSpPr>
        <p:spPr>
          <a:xfrm>
            <a:off x="939800" y="3406139"/>
            <a:ext cx="18104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Can we trust the simulator and the ceiling?</a:t>
            </a:r>
            <a:endParaRPr lang="en-US" sz="1200" dirty="0"/>
          </a:p>
        </p:txBody>
      </p:sp>
      <p:sp>
        <p:nvSpPr>
          <p:cNvPr id="8" name="Text 6"/>
          <p:cNvSpPr/>
          <p:nvPr/>
        </p:nvSpPr>
        <p:spPr>
          <a:xfrm>
            <a:off x="939800" y="3893821"/>
            <a:ext cx="181041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E0 · E1 · E2</a:t>
            </a:r>
            <a:endParaRPr lang="en-US" sz="1200" dirty="0"/>
          </a:p>
        </p:txBody>
      </p:sp>
      <p:sp>
        <p:nvSpPr>
          <p:cNvPr id="9" name="Text 7"/>
          <p:cNvSpPr/>
          <p:nvPr/>
        </p:nvSpPr>
        <p:spPr>
          <a:xfrm>
            <a:off x="939800" y="4175761"/>
            <a:ext cx="181041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Folded in: A3</a:t>
            </a:r>
            <a:endParaRPr lang="en-US" sz="1200" dirty="0"/>
          </a:p>
        </p:txBody>
      </p:sp>
      <p:sp>
        <p:nvSpPr>
          <p:cNvPr id="10" name="Text 8"/>
          <p:cNvSpPr/>
          <p:nvPr/>
        </p:nvSpPr>
        <p:spPr>
          <a:xfrm>
            <a:off x="3078480" y="2374900"/>
            <a:ext cx="18104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B6CB0"/>
                </a:solidFill>
                <a:latin typeface="Source Serif 4" pitchFamily="18" charset="0"/>
                <a:ea typeface="Source Serif 4" pitchFamily="18" charset="-122"/>
                <a:cs typeface="Source Serif 4" pitchFamily="18" charset="-120"/>
              </a:rPr>
              <a:t>2</a:t>
            </a:r>
            <a:endParaRPr lang="en-US" sz="2800" dirty="0"/>
          </a:p>
        </p:txBody>
      </p:sp>
      <p:sp>
        <p:nvSpPr>
          <p:cNvPr id="11" name="Shape 9"/>
          <p:cNvSpPr/>
          <p:nvPr/>
        </p:nvSpPr>
        <p:spPr>
          <a:xfrm>
            <a:off x="3078480" y="3320415"/>
            <a:ext cx="1757680" cy="0"/>
          </a:xfrm>
          <a:prstGeom prst="line">
            <a:avLst/>
          </a:prstGeom>
          <a:noFill/>
          <a:ln w="19050">
            <a:solidFill>
              <a:srgbClr val="14213D"/>
            </a:solidFill>
            <a:prstDash val="solid"/>
          </a:ln>
        </p:spPr>
      </p:sp>
      <p:sp>
        <p:nvSpPr>
          <p:cNvPr id="12" name="Text 10"/>
          <p:cNvSpPr/>
          <p:nvPr/>
        </p:nvSpPr>
        <p:spPr>
          <a:xfrm>
            <a:off x="3078480" y="2806700"/>
            <a:ext cx="1810411"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Does the goal matter?</a:t>
            </a:r>
            <a:endParaRPr lang="en-US" sz="1400" dirty="0"/>
          </a:p>
        </p:txBody>
      </p:sp>
      <p:sp>
        <p:nvSpPr>
          <p:cNvPr id="13" name="Text 11"/>
          <p:cNvSpPr/>
          <p:nvPr/>
        </p:nvSpPr>
        <p:spPr>
          <a:xfrm>
            <a:off x="3078480" y="3406139"/>
            <a:ext cx="18104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Does the goal change what the AI learns?</a:t>
            </a:r>
            <a:endParaRPr lang="en-US" sz="1200" dirty="0"/>
          </a:p>
        </p:txBody>
      </p:sp>
      <p:sp>
        <p:nvSpPr>
          <p:cNvPr id="14" name="Text 12"/>
          <p:cNvSpPr/>
          <p:nvPr/>
        </p:nvSpPr>
        <p:spPr>
          <a:xfrm>
            <a:off x="3078480" y="3893821"/>
            <a:ext cx="181041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E3 · E4 · E5</a:t>
            </a:r>
            <a:endParaRPr lang="en-US" sz="1200" dirty="0"/>
          </a:p>
        </p:txBody>
      </p:sp>
      <p:sp>
        <p:nvSpPr>
          <p:cNvPr id="15" name="Text 13"/>
          <p:cNvSpPr/>
          <p:nvPr/>
        </p:nvSpPr>
        <p:spPr>
          <a:xfrm>
            <a:off x="5217160" y="2374900"/>
            <a:ext cx="18104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B6CB0"/>
                </a:solidFill>
                <a:latin typeface="Source Serif 4" pitchFamily="18" charset="0"/>
                <a:ea typeface="Source Serif 4" pitchFamily="18" charset="-122"/>
                <a:cs typeface="Source Serif 4" pitchFamily="18" charset="-120"/>
              </a:rPr>
              <a:t>3</a:t>
            </a:r>
            <a:endParaRPr lang="en-US" sz="2800" dirty="0"/>
          </a:p>
        </p:txBody>
      </p:sp>
      <p:sp>
        <p:nvSpPr>
          <p:cNvPr id="16" name="Shape 14"/>
          <p:cNvSpPr/>
          <p:nvPr/>
        </p:nvSpPr>
        <p:spPr>
          <a:xfrm>
            <a:off x="5217160" y="3098165"/>
            <a:ext cx="1757680" cy="0"/>
          </a:xfrm>
          <a:prstGeom prst="line">
            <a:avLst/>
          </a:prstGeom>
          <a:noFill/>
          <a:ln w="19050">
            <a:solidFill>
              <a:srgbClr val="14213D"/>
            </a:solidFill>
            <a:prstDash val="solid"/>
          </a:ln>
        </p:spPr>
      </p:sp>
      <p:sp>
        <p:nvSpPr>
          <p:cNvPr id="17" name="Text 15"/>
          <p:cNvSpPr/>
          <p:nvPr/>
        </p:nvSpPr>
        <p:spPr>
          <a:xfrm>
            <a:off x="5217160" y="2806700"/>
            <a:ext cx="1810411"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Stress tests</a:t>
            </a:r>
            <a:endParaRPr lang="en-US" sz="1400" dirty="0"/>
          </a:p>
        </p:txBody>
      </p:sp>
      <p:sp>
        <p:nvSpPr>
          <p:cNvPr id="18" name="Text 16"/>
          <p:cNvSpPr/>
          <p:nvPr/>
        </p:nvSpPr>
        <p:spPr>
          <a:xfrm>
            <a:off x="5217160" y="3183889"/>
            <a:ext cx="18104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Does the answer survive new patients and errors?</a:t>
            </a:r>
            <a:endParaRPr lang="en-US" sz="1200" dirty="0"/>
          </a:p>
        </p:txBody>
      </p:sp>
      <p:sp>
        <p:nvSpPr>
          <p:cNvPr id="19" name="Text 17"/>
          <p:cNvSpPr/>
          <p:nvPr/>
        </p:nvSpPr>
        <p:spPr>
          <a:xfrm>
            <a:off x="5217160" y="3671571"/>
            <a:ext cx="181041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E6 · E8 · E9</a:t>
            </a:r>
            <a:endParaRPr lang="en-US" sz="1200" dirty="0"/>
          </a:p>
        </p:txBody>
      </p:sp>
      <p:sp>
        <p:nvSpPr>
          <p:cNvPr id="20" name="Text 18"/>
          <p:cNvSpPr/>
          <p:nvPr/>
        </p:nvSpPr>
        <p:spPr>
          <a:xfrm>
            <a:off x="5217160" y="3953511"/>
            <a:ext cx="18104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Folded in: E7, E10, E3c, A1, B2, B4, C1, FE1, FE2</a:t>
            </a:r>
            <a:endParaRPr lang="en-US" sz="1200" dirty="0"/>
          </a:p>
        </p:txBody>
      </p:sp>
      <p:sp>
        <p:nvSpPr>
          <p:cNvPr id="21" name="Shape 19"/>
          <p:cNvSpPr/>
          <p:nvPr/>
        </p:nvSpPr>
        <p:spPr>
          <a:xfrm>
            <a:off x="7228840" y="2247900"/>
            <a:ext cx="2011680" cy="2260600"/>
          </a:xfrm>
          <a:prstGeom prst="roundRect">
            <a:avLst>
              <a:gd name="adj" fmla="val 3788"/>
            </a:avLst>
          </a:prstGeom>
          <a:solidFill>
            <a:srgbClr val="E6EEF8"/>
          </a:solidFill>
          <a:ln/>
        </p:spPr>
      </p:sp>
      <p:sp>
        <p:nvSpPr>
          <p:cNvPr id="22" name="Text 20"/>
          <p:cNvSpPr/>
          <p:nvPr/>
        </p:nvSpPr>
        <p:spPr>
          <a:xfrm>
            <a:off x="7355840" y="2374900"/>
            <a:ext cx="18104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B54A1A"/>
                </a:solidFill>
                <a:latin typeface="Source Serif 4" pitchFamily="18" charset="0"/>
                <a:ea typeface="Source Serif 4" pitchFamily="18" charset="-122"/>
                <a:cs typeface="Source Serif 4" pitchFamily="18" charset="-120"/>
              </a:rPr>
              <a:t>4</a:t>
            </a:r>
            <a:endParaRPr lang="en-US" sz="2800" dirty="0"/>
          </a:p>
        </p:txBody>
      </p:sp>
      <p:sp>
        <p:nvSpPr>
          <p:cNvPr id="23" name="Shape 21"/>
          <p:cNvSpPr/>
          <p:nvPr/>
        </p:nvSpPr>
        <p:spPr>
          <a:xfrm>
            <a:off x="7355840" y="3098165"/>
            <a:ext cx="1757680" cy="0"/>
          </a:xfrm>
          <a:prstGeom prst="line">
            <a:avLst/>
          </a:prstGeom>
          <a:noFill/>
          <a:ln w="19050">
            <a:solidFill>
              <a:srgbClr val="B54A1A"/>
            </a:solidFill>
            <a:prstDash val="solid"/>
          </a:ln>
        </p:spPr>
      </p:sp>
      <p:sp>
        <p:nvSpPr>
          <p:cNvPr id="24" name="Text 22"/>
          <p:cNvSpPr/>
          <p:nvPr/>
        </p:nvSpPr>
        <p:spPr>
          <a:xfrm>
            <a:off x="7355840" y="2806700"/>
            <a:ext cx="1810411"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What the AI can see</a:t>
            </a:r>
            <a:endParaRPr lang="en-US" sz="1400" dirty="0"/>
          </a:p>
        </p:txBody>
      </p:sp>
      <p:sp>
        <p:nvSpPr>
          <p:cNvPr id="25" name="Text 23"/>
          <p:cNvSpPr/>
          <p:nvPr/>
        </p:nvSpPr>
        <p:spPr>
          <a:xfrm>
            <a:off x="7355840" y="3183889"/>
            <a:ext cx="18104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What if it sees only what a doctor sees?</a:t>
            </a:r>
            <a:endParaRPr lang="en-US" sz="1200" dirty="0"/>
          </a:p>
        </p:txBody>
      </p:sp>
      <p:sp>
        <p:nvSpPr>
          <p:cNvPr id="26" name="Text 24"/>
          <p:cNvSpPr/>
          <p:nvPr/>
        </p:nvSpPr>
        <p:spPr>
          <a:xfrm>
            <a:off x="7355840" y="3671571"/>
            <a:ext cx="181041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E11 · E11b · A2</a:t>
            </a:r>
            <a:endParaRPr lang="en-US" sz="1200" dirty="0"/>
          </a:p>
        </p:txBody>
      </p:sp>
      <p:sp>
        <p:nvSpPr>
          <p:cNvPr id="27" name="Text 25"/>
          <p:cNvSpPr/>
          <p:nvPr/>
        </p:nvSpPr>
        <p:spPr>
          <a:xfrm>
            <a:off x="7355840" y="3953511"/>
            <a:ext cx="181041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Folded in: E11c, E11d</a:t>
            </a:r>
            <a:endParaRPr lang="en-US" sz="1200" dirty="0"/>
          </a:p>
        </p:txBody>
      </p:sp>
      <p:sp>
        <p:nvSpPr>
          <p:cNvPr id="28" name="Text 26"/>
          <p:cNvSpPr/>
          <p:nvPr/>
        </p:nvSpPr>
        <p:spPr>
          <a:xfrm>
            <a:off x="9494520" y="2374900"/>
            <a:ext cx="18104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B6CB0"/>
                </a:solidFill>
                <a:latin typeface="Source Serif 4" pitchFamily="18" charset="0"/>
                <a:ea typeface="Source Serif 4" pitchFamily="18" charset="-122"/>
                <a:cs typeface="Source Serif 4" pitchFamily="18" charset="-120"/>
              </a:rPr>
              <a:t>5</a:t>
            </a:r>
            <a:endParaRPr lang="en-US" sz="2800" dirty="0"/>
          </a:p>
        </p:txBody>
      </p:sp>
      <p:sp>
        <p:nvSpPr>
          <p:cNvPr id="29" name="Shape 27"/>
          <p:cNvSpPr/>
          <p:nvPr/>
        </p:nvSpPr>
        <p:spPr>
          <a:xfrm>
            <a:off x="9494520" y="3098165"/>
            <a:ext cx="1757680" cy="0"/>
          </a:xfrm>
          <a:prstGeom prst="line">
            <a:avLst/>
          </a:prstGeom>
          <a:noFill/>
          <a:ln w="19050">
            <a:solidFill>
              <a:srgbClr val="14213D"/>
            </a:solidFill>
            <a:prstDash val="solid"/>
          </a:ln>
        </p:spPr>
      </p:sp>
      <p:sp>
        <p:nvSpPr>
          <p:cNvPr id="30" name="Text 28"/>
          <p:cNvSpPr/>
          <p:nvPr/>
        </p:nvSpPr>
        <p:spPr>
          <a:xfrm>
            <a:off x="9494520" y="2806700"/>
            <a:ext cx="1810411"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Toward the clinic</a:t>
            </a:r>
            <a:endParaRPr lang="en-US" sz="1400" dirty="0"/>
          </a:p>
        </p:txBody>
      </p:sp>
      <p:sp>
        <p:nvSpPr>
          <p:cNvPr id="31" name="Text 29"/>
          <p:cNvSpPr/>
          <p:nvPr/>
        </p:nvSpPr>
        <p:spPr>
          <a:xfrm>
            <a:off x="9494520" y="3183889"/>
            <a:ext cx="181041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Can the schedule be made practical?</a:t>
            </a:r>
            <a:endParaRPr lang="en-US" sz="1200" dirty="0"/>
          </a:p>
        </p:txBody>
      </p:sp>
      <p:sp>
        <p:nvSpPr>
          <p:cNvPr id="32" name="Text 30"/>
          <p:cNvSpPr/>
          <p:nvPr/>
        </p:nvSpPr>
        <p:spPr>
          <a:xfrm>
            <a:off x="9494520" y="3671571"/>
            <a:ext cx="1810411"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D1–D4 · B3</a:t>
            </a:r>
            <a:endParaRPr lang="en-US" sz="1200" dirty="0"/>
          </a:p>
        </p:txBody>
      </p:sp>
      <p:sp>
        <p:nvSpPr>
          <p:cNvPr id="33" name="Text 31"/>
          <p:cNvSpPr/>
          <p:nvPr/>
        </p:nvSpPr>
        <p:spPr>
          <a:xfrm>
            <a:off x="9494520" y="3953511"/>
            <a:ext cx="181041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Folded in: B1</a:t>
            </a:r>
            <a:endParaRPr lang="en-US" sz="1200" dirty="0"/>
          </a:p>
        </p:txBody>
      </p:sp>
      <p:sp>
        <p:nvSpPr>
          <p:cNvPr id="34" name="Shape 32"/>
          <p:cNvSpPr/>
          <p:nvPr/>
        </p:nvSpPr>
        <p:spPr>
          <a:xfrm>
            <a:off x="812800" y="5189857"/>
            <a:ext cx="10566400" cy="0"/>
          </a:xfrm>
          <a:prstGeom prst="line">
            <a:avLst/>
          </a:prstGeom>
          <a:noFill/>
          <a:ln w="6350">
            <a:solidFill>
              <a:srgbClr val="D6D2C6"/>
            </a:solidFill>
            <a:prstDash val="solid"/>
          </a:ln>
        </p:spPr>
      </p:sp>
      <p:sp>
        <p:nvSpPr>
          <p:cNvPr id="35" name="Text 33"/>
          <p:cNvSpPr/>
          <p:nvPr/>
        </p:nvSpPr>
        <p:spPr>
          <a:xfrm>
            <a:off x="812800" y="5344161"/>
            <a:ext cx="685165"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585</a:t>
            </a:r>
            <a:endParaRPr lang="en-US" sz="2800" dirty="0"/>
          </a:p>
        </p:txBody>
      </p:sp>
      <p:sp>
        <p:nvSpPr>
          <p:cNvPr id="36" name="Text 34"/>
          <p:cNvSpPr/>
          <p:nvPr/>
        </p:nvSpPr>
        <p:spPr>
          <a:xfrm>
            <a:off x="1497965" y="5557521"/>
            <a:ext cx="1411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AI agents trained</a:t>
            </a:r>
            <a:endParaRPr lang="en-US" sz="1200" dirty="0"/>
          </a:p>
        </p:txBody>
      </p:sp>
      <p:sp>
        <p:nvSpPr>
          <p:cNvPr id="37" name="Text 35"/>
          <p:cNvSpPr/>
          <p:nvPr/>
        </p:nvSpPr>
        <p:spPr>
          <a:xfrm>
            <a:off x="4402614" y="5344161"/>
            <a:ext cx="24534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2</a:t>
            </a:r>
            <a:endParaRPr lang="en-US" sz="2800" dirty="0"/>
          </a:p>
        </p:txBody>
      </p:sp>
      <p:sp>
        <p:nvSpPr>
          <p:cNvPr id="38" name="Text 36"/>
          <p:cNvSpPr/>
          <p:nvPr/>
        </p:nvSpPr>
        <p:spPr>
          <a:xfrm>
            <a:off x="4698762" y="5557521"/>
            <a:ext cx="18458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rounds of experiments</a:t>
            </a:r>
            <a:endParaRPr lang="en-US" sz="1200" dirty="0"/>
          </a:p>
        </p:txBody>
      </p:sp>
      <p:sp>
        <p:nvSpPr>
          <p:cNvPr id="39" name="Text 37"/>
          <p:cNvSpPr/>
          <p:nvPr/>
        </p:nvSpPr>
        <p:spPr>
          <a:xfrm>
            <a:off x="7992507" y="5344161"/>
            <a:ext cx="24534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0</a:t>
            </a:r>
            <a:endParaRPr lang="en-US" sz="2800" dirty="0"/>
          </a:p>
        </p:txBody>
      </p:sp>
      <p:sp>
        <p:nvSpPr>
          <p:cNvPr id="40" name="Text 38"/>
          <p:cNvSpPr/>
          <p:nvPr/>
        </p:nvSpPr>
        <p:spPr>
          <a:xfrm>
            <a:off x="8288655" y="5557521"/>
            <a:ext cx="20691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RL libraries or GPUs used</a:t>
            </a:r>
            <a:endParaRPr lang="en-US" sz="1200" dirty="0"/>
          </a:p>
        </p:txBody>
      </p:sp>
      <p:sp>
        <p:nvSpPr>
          <p:cNvPr id="41" name="Text 39"/>
          <p:cNvSpPr/>
          <p:nvPr/>
        </p:nvSpPr>
        <p:spPr>
          <a:xfrm>
            <a:off x="812800" y="6238239"/>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42" name="Text 40"/>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1 · A BASELINE WE CAN TRUST</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Our simulator reproduces the published study</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2263775"/>
            <a:ext cx="3380264" cy="1675130"/>
          </a:xfrm>
          <a:prstGeom prst="roundRect">
            <a:avLst>
              <a:gd name="adj" fmla="val 5876"/>
            </a:avLst>
          </a:prstGeom>
          <a:solidFill>
            <a:srgbClr val="FFFFFF"/>
          </a:solidFill>
          <a:ln w="6350">
            <a:solidFill>
              <a:srgbClr val="E2DED3"/>
            </a:solidFill>
            <a:prstDash val="solid"/>
          </a:ln>
        </p:spPr>
      </p:sp>
      <p:sp>
        <p:nvSpPr>
          <p:cNvPr id="5" name="Text 3"/>
          <p:cNvSpPr/>
          <p:nvPr/>
        </p:nvSpPr>
        <p:spPr>
          <a:xfrm>
            <a:off x="1071880" y="2519682"/>
            <a:ext cx="2954507"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B6CB0"/>
                </a:solidFill>
                <a:latin typeface="Source Serif 4" pitchFamily="18" charset="0"/>
                <a:ea typeface="Source Serif 4" pitchFamily="18" charset="-122"/>
                <a:cs typeface="Source Serif 4" pitchFamily="18" charset="-120"/>
              </a:rPr>
              <a:t>452 d</a:t>
            </a:r>
            <a:endParaRPr lang="en-US" sz="4400" dirty="0"/>
          </a:p>
        </p:txBody>
      </p:sp>
      <p:sp>
        <p:nvSpPr>
          <p:cNvPr id="6" name="Text 4"/>
          <p:cNvSpPr/>
          <p:nvPr/>
        </p:nvSpPr>
        <p:spPr>
          <a:xfrm>
            <a:off x="1071880" y="3185161"/>
            <a:ext cx="29545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Full dose until failure. Paper: 450–451 d.</a:t>
            </a:r>
            <a:endParaRPr lang="en-US" sz="1400" dirty="0"/>
          </a:p>
        </p:txBody>
      </p:sp>
      <p:sp>
        <p:nvSpPr>
          <p:cNvPr id="7" name="Shape 5"/>
          <p:cNvSpPr/>
          <p:nvPr/>
        </p:nvSpPr>
        <p:spPr>
          <a:xfrm>
            <a:off x="4405789" y="2263775"/>
            <a:ext cx="3380343" cy="1675130"/>
          </a:xfrm>
          <a:prstGeom prst="roundRect">
            <a:avLst>
              <a:gd name="adj" fmla="val 5876"/>
            </a:avLst>
          </a:prstGeom>
          <a:solidFill>
            <a:srgbClr val="FFFFFF"/>
          </a:solidFill>
          <a:ln w="6350">
            <a:solidFill>
              <a:srgbClr val="E2DED3"/>
            </a:solidFill>
            <a:prstDash val="solid"/>
          </a:ln>
        </p:spPr>
      </p:sp>
      <p:sp>
        <p:nvSpPr>
          <p:cNvPr id="8" name="Text 6"/>
          <p:cNvSpPr/>
          <p:nvPr/>
        </p:nvSpPr>
        <p:spPr>
          <a:xfrm>
            <a:off x="4661694" y="2519682"/>
            <a:ext cx="2954589"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B6CB0"/>
                </a:solidFill>
                <a:latin typeface="Source Serif 4" pitchFamily="18" charset="0"/>
                <a:ea typeface="Source Serif 4" pitchFamily="18" charset="-122"/>
                <a:cs typeface="Source Serif 4" pitchFamily="18" charset="-120"/>
              </a:rPr>
              <a:t>663 d</a:t>
            </a:r>
            <a:endParaRPr lang="en-US" sz="4400" dirty="0"/>
          </a:p>
        </p:txBody>
      </p:sp>
      <p:sp>
        <p:nvSpPr>
          <p:cNvPr id="9" name="Text 7"/>
          <p:cNvSpPr/>
          <p:nvPr/>
        </p:nvSpPr>
        <p:spPr>
          <a:xfrm>
            <a:off x="4661694" y="3185161"/>
            <a:ext cx="312126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AT50, daily decisions. Paper: 662 d.</a:t>
            </a:r>
            <a:endParaRPr lang="en-US" sz="1400" dirty="0"/>
          </a:p>
        </p:txBody>
      </p:sp>
      <p:sp>
        <p:nvSpPr>
          <p:cNvPr id="10" name="Shape 8"/>
          <p:cNvSpPr/>
          <p:nvPr/>
        </p:nvSpPr>
        <p:spPr>
          <a:xfrm>
            <a:off x="7995682" y="2263775"/>
            <a:ext cx="3380343" cy="1675130"/>
          </a:xfrm>
          <a:prstGeom prst="roundRect">
            <a:avLst>
              <a:gd name="adj" fmla="val 5876"/>
            </a:avLst>
          </a:prstGeom>
          <a:solidFill>
            <a:srgbClr val="FFFFFF"/>
          </a:solidFill>
          <a:ln w="6350">
            <a:solidFill>
              <a:srgbClr val="E2DED3"/>
            </a:solidFill>
            <a:prstDash val="solid"/>
          </a:ln>
        </p:spPr>
      </p:sp>
      <p:sp>
        <p:nvSpPr>
          <p:cNvPr id="11" name="Text 9"/>
          <p:cNvSpPr/>
          <p:nvPr/>
        </p:nvSpPr>
        <p:spPr>
          <a:xfrm>
            <a:off x="8251587" y="2519682"/>
            <a:ext cx="2954589"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B6CB0"/>
                </a:solidFill>
                <a:latin typeface="Source Serif 4" pitchFamily="18" charset="0"/>
                <a:ea typeface="Source Serif 4" pitchFamily="18" charset="-122"/>
                <a:cs typeface="Source Serif 4" pitchFamily="18" charset="-120"/>
              </a:rPr>
              <a:t>&lt; 0.01 d</a:t>
            </a:r>
            <a:endParaRPr lang="en-US" sz="4400" dirty="0"/>
          </a:p>
        </p:txBody>
      </p:sp>
      <p:sp>
        <p:nvSpPr>
          <p:cNvPr id="12" name="Text 10"/>
          <p:cNvSpPr/>
          <p:nvPr/>
        </p:nvSpPr>
        <p:spPr>
          <a:xfrm>
            <a:off x="8251587" y="3185161"/>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Error against a high-precision solver.</a:t>
            </a:r>
            <a:endParaRPr lang="en-US" sz="1400" dirty="0"/>
          </a:p>
        </p:txBody>
      </p:sp>
      <p:sp>
        <p:nvSpPr>
          <p:cNvPr id="13" name="Text 11"/>
          <p:cNvSpPr/>
          <p:nvPr/>
        </p:nvSpPr>
        <p:spPr>
          <a:xfrm>
            <a:off x="812800" y="4632961"/>
            <a:ext cx="10566400" cy="553720"/>
          </a:xfrm>
          <a:prstGeom prst="rect">
            <a:avLst/>
          </a:prstGeom>
          <a:solidFill>
            <a:srgbClr val="F6E6DD"/>
          </a:solidFill>
          <a:ln/>
        </p:spPr>
        <p:txBody>
          <a:bodyPr wrap="square" lIns="289560" tIns="152400" rIns="0" bIns="12700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One number in our plan was wrong:</a:t>
            </a:r>
            <a:r>
              <a:rPr lang="en-US" sz="1400" dirty="0">
                <a:solidFill>
                  <a:srgbClr val="14213D"/>
                </a:solidFill>
                <a:latin typeface="IBM Plex Sans" pitchFamily="34" charset="0"/>
                <a:ea typeface="IBM Plex Sans" pitchFamily="34" charset="-122"/>
                <a:cs typeface="IBM Plex Sans" pitchFamily="34" charset="-120"/>
              </a:rPr>
              <a:t> the study starts with 0.1% resistant cells, not 1%. With 1%, nothing matched.</a:t>
            </a:r>
            <a:endParaRPr lang="en-US" sz="1400" dirty="0"/>
          </a:p>
        </p:txBody>
      </p:sp>
      <p:sp>
        <p:nvSpPr>
          <p:cNvPr id="14" name="Shape 12"/>
          <p:cNvSpPr/>
          <p:nvPr/>
        </p:nvSpPr>
        <p:spPr>
          <a:xfrm>
            <a:off x="831850" y="4632961"/>
            <a:ext cx="0" cy="553720"/>
          </a:xfrm>
          <a:prstGeom prst="line">
            <a:avLst/>
          </a:prstGeom>
          <a:noFill/>
          <a:ln w="38100">
            <a:solidFill>
              <a:srgbClr val="B54A1A"/>
            </a:solidFill>
            <a:prstDash val="solid"/>
          </a:ln>
        </p:spPr>
      </p:sp>
      <p:sp>
        <p:nvSpPr>
          <p:cNvPr id="15" name="Text 13"/>
          <p:cNvSpPr/>
          <p:nvPr/>
        </p:nvSpPr>
        <p:spPr>
          <a:xfrm>
            <a:off x="812800" y="5288282"/>
            <a:ext cx="10566400" cy="553720"/>
          </a:xfrm>
          <a:prstGeom prst="rect">
            <a:avLst/>
          </a:prstGeom>
          <a:solidFill>
            <a:srgbClr val="E6EEF8"/>
          </a:solidFill>
          <a:ln/>
        </p:spPr>
        <p:txBody>
          <a:bodyPr wrap="square" lIns="289560" tIns="152400" rIns="0" bIns="12700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The ceiling is precise too (A3):</a:t>
            </a:r>
            <a:r>
              <a:rPr lang="en-US" sz="1400" dirty="0">
                <a:solidFill>
                  <a:srgbClr val="14213D"/>
                </a:solidFill>
                <a:latin typeface="IBM Plex Sans" pitchFamily="34" charset="0"/>
                <a:ea typeface="IBM Plex Sans" pitchFamily="34" charset="-122"/>
                <a:cs typeface="IBM Plex Sans" pitchFamily="34" charset="-120"/>
              </a:rPr>
              <a:t> a 4× finer planning grid moved the best plan by at most 0.36%.</a:t>
            </a:r>
            <a:endParaRPr lang="en-US" sz="1400" dirty="0"/>
          </a:p>
        </p:txBody>
      </p:sp>
      <p:sp>
        <p:nvSpPr>
          <p:cNvPr id="16" name="Shape 14"/>
          <p:cNvSpPr/>
          <p:nvPr/>
        </p:nvSpPr>
        <p:spPr>
          <a:xfrm>
            <a:off x="831850" y="5288282"/>
            <a:ext cx="0" cy="553720"/>
          </a:xfrm>
          <a:prstGeom prst="line">
            <a:avLst/>
          </a:prstGeom>
          <a:noFill/>
          <a:ln w="38100">
            <a:solidFill>
              <a:srgbClr val="2B6CB0"/>
            </a:solidFill>
            <a:prstDash val="solid"/>
          </a:ln>
        </p:spPr>
      </p:sp>
      <p:sp>
        <p:nvSpPr>
          <p:cNvPr id="17" name="Text 15"/>
          <p:cNvSpPr/>
          <p:nvPr/>
        </p:nvSpPr>
        <p:spPr>
          <a:xfrm>
            <a:off x="812800" y="6238239"/>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8" name="Text 16"/>
          <p:cNvSpPr/>
          <p:nvPr/>
        </p:nvSpPr>
        <p:spPr>
          <a:xfrm>
            <a:off x="11236960" y="6238239"/>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1 · A BASELINE WE CAN TRUST</a:t>
            </a:r>
            <a:endParaRPr lang="en-US" sz="1200" dirty="0"/>
          </a:p>
        </p:txBody>
      </p:sp>
      <p:sp>
        <p:nvSpPr>
          <p:cNvPr id="3" name="Text 1"/>
          <p:cNvSpPr>
            <a:spLocks noGrp="1"/>
          </p:cNvSpPr>
          <p:nvPr>
            <p:ph type="title"/>
          </p:nvPr>
        </p:nvSpPr>
        <p:spPr>
          <a:xfrm>
            <a:off x="812800" y="11023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The best possible plan is containment</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25296"/>
            <a:ext cx="10560050" cy="2581910"/>
          </a:xfrm>
          <a:prstGeom prst="roundRect">
            <a:avLst>
              <a:gd name="adj" fmla="val 2828"/>
            </a:avLst>
          </a:prstGeom>
          <a:solidFill>
            <a:srgbClr val="FFFFFF"/>
          </a:solidFill>
          <a:ln w="6350">
            <a:solidFill>
              <a:srgbClr val="E2DED3"/>
            </a:solidFill>
            <a:prstDash val="solid"/>
          </a:ln>
        </p:spPr>
      </p:sp>
      <p:pic>
        <p:nvPicPr>
          <p:cNvPr id="5" name="Image 0" descr="Best-plan maps for goals R1 to R4 over tumour size and share of resistant cells. R1, R2 and R4 treat only in a thin strip just below the failure line; R3 also treats over a wide band where resistant cells are rare. Days to failure: R1 2038, R2 2030, R3 1625, R4 2038."/>
          <p:cNvPicPr>
            <a:picLocks noChangeAspect="1"/>
          </p:cNvPicPr>
          <p:nvPr/>
        </p:nvPicPr>
        <p:blipFill>
          <a:blip r:embed="rId3"/>
          <a:srcRect l="-51" r="-51"/>
          <a:stretch/>
        </p:blipFill>
        <p:spPr>
          <a:xfrm>
            <a:off x="1651000" y="1828800"/>
            <a:ext cx="8890000" cy="2374900"/>
          </a:xfrm>
          <a:prstGeom prst="rect">
            <a:avLst/>
          </a:prstGeom>
        </p:spPr>
      </p:pic>
      <p:sp>
        <p:nvSpPr>
          <p:cNvPr id="6" name="Text 3"/>
          <p:cNvSpPr/>
          <p:nvPr/>
        </p:nvSpPr>
        <p:spPr>
          <a:xfrm>
            <a:off x="812800" y="4462779"/>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Across: tumour size (1.2 = failure line). Up: share of resistant cells. Dark = treat, light = wait, orange = the tumour’s path.</a:t>
            </a:r>
            <a:endParaRPr lang="en-US" sz="1200" dirty="0"/>
          </a:p>
        </p:txBody>
      </p:sp>
      <p:sp>
        <p:nvSpPr>
          <p:cNvPr id="7" name="Text 4"/>
          <p:cNvSpPr/>
          <p:nvPr/>
        </p:nvSpPr>
        <p:spPr>
          <a:xfrm>
            <a:off x="812800" y="4820921"/>
            <a:ext cx="5310886"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Survival, less drug, lasting control:</a:t>
            </a:r>
            <a:r>
              <a:rPr lang="en-US" sz="1400" dirty="0">
                <a:solidFill>
                  <a:srgbClr val="4A5568"/>
                </a:solidFill>
                <a:latin typeface="IBM Plex Sans" pitchFamily="34" charset="0"/>
                <a:ea typeface="IBM Plex Sans" pitchFamily="34" charset="-122"/>
                <a:cs typeface="IBM Plex Sans" pitchFamily="34" charset="-120"/>
              </a:rPr>
              <a:t> let the tumour regrow, and treat only when next week would cross the line. About 2035 days, 1.8× the best human rule.</a:t>
            </a:r>
            <a:endParaRPr lang="en-US" sz="1400" dirty="0"/>
          </a:p>
        </p:txBody>
      </p:sp>
      <p:sp>
        <p:nvSpPr>
          <p:cNvPr id="8" name="Text 5"/>
          <p:cNvSpPr/>
          <p:nvPr/>
        </p:nvSpPr>
        <p:spPr>
          <a:xfrm>
            <a:off x="6223000" y="4820921"/>
            <a:ext cx="5310886"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54A1A"/>
                </a:solidFill>
                <a:latin typeface="IBM Plex Sans" pitchFamily="34" charset="0"/>
                <a:ea typeface="IBM Plex Sans" pitchFamily="34" charset="-122"/>
                <a:cs typeface="IBM Plex Sans" pitchFamily="34" charset="-120"/>
              </a:rPr>
              <a:t>Keep the mix (R3):</a:t>
            </a:r>
            <a:r>
              <a:rPr lang="en-US" sz="1400" dirty="0">
                <a:solidFill>
                  <a:srgbClr val="4A5568"/>
                </a:solidFill>
                <a:latin typeface="IBM Plex Sans" pitchFamily="34" charset="0"/>
                <a:ea typeface="IBM Plex Sans" pitchFamily="34" charset="-122"/>
                <a:cs typeface="IBM Plex Sans" pitchFamily="34" charset="-120"/>
              </a:rPr>
              <a:t> treats early to balance the mix, then contains. It fails about 400 days sooner, at 1625 days.</a:t>
            </a:r>
            <a:endParaRPr lang="en-US" sz="1400" dirty="0"/>
          </a:p>
        </p:txBody>
      </p:sp>
      <p:sp>
        <p:nvSpPr>
          <p:cNvPr id="9" name="Text 6"/>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0" name="Text 7"/>
          <p:cNvSpPr/>
          <p:nvPr/>
        </p:nvSpPr>
        <p:spPr>
          <a:xfrm>
            <a:off x="11236960" y="6238242"/>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2 · DOES THE GOAL MATTER?</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Every AI learned, and beat every human rule</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092964"/>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Days until the tumour crosses the failure line · main virtual patient, weekly decisions</a:t>
            </a:r>
            <a:endParaRPr lang="en-US" sz="1200" dirty="0"/>
          </a:p>
        </p:txBody>
      </p:sp>
      <p:sp>
        <p:nvSpPr>
          <p:cNvPr id="5" name="Text 3"/>
          <p:cNvSpPr/>
          <p:nvPr/>
        </p:nvSpPr>
        <p:spPr>
          <a:xfrm>
            <a:off x="812800" y="2410464"/>
            <a:ext cx="30086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Full dose</a:t>
            </a:r>
            <a:endParaRPr lang="en-US" sz="1400" dirty="0"/>
          </a:p>
        </p:txBody>
      </p:sp>
      <p:sp>
        <p:nvSpPr>
          <p:cNvPr id="6" name="Shape 4"/>
          <p:cNvSpPr/>
          <p:nvPr/>
        </p:nvSpPr>
        <p:spPr>
          <a:xfrm>
            <a:off x="3886200" y="2395221"/>
            <a:ext cx="1409700" cy="279400"/>
          </a:xfrm>
          <a:prstGeom prst="roundRect">
            <a:avLst>
              <a:gd name="adj" fmla="val 9091"/>
            </a:avLst>
          </a:prstGeom>
          <a:solidFill>
            <a:srgbClr val="B8B3A6"/>
          </a:solidFill>
          <a:ln/>
        </p:spPr>
      </p:sp>
      <p:sp>
        <p:nvSpPr>
          <p:cNvPr id="7" name="Text 5"/>
          <p:cNvSpPr/>
          <p:nvPr/>
        </p:nvSpPr>
        <p:spPr>
          <a:xfrm>
            <a:off x="5448300" y="2410464"/>
            <a:ext cx="38404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452</a:t>
            </a:r>
            <a:endParaRPr lang="en-US" sz="1400" dirty="0"/>
          </a:p>
        </p:txBody>
      </p:sp>
      <p:sp>
        <p:nvSpPr>
          <p:cNvPr id="8" name="Text 6"/>
          <p:cNvSpPr/>
          <p:nvPr/>
        </p:nvSpPr>
        <p:spPr>
          <a:xfrm>
            <a:off x="812800" y="2778764"/>
            <a:ext cx="30086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AT50, the trial rule</a:t>
            </a:r>
            <a:endParaRPr lang="en-US" sz="1400" dirty="0"/>
          </a:p>
        </p:txBody>
      </p:sp>
      <p:sp>
        <p:nvSpPr>
          <p:cNvPr id="9" name="Shape 7"/>
          <p:cNvSpPr/>
          <p:nvPr/>
        </p:nvSpPr>
        <p:spPr>
          <a:xfrm>
            <a:off x="3886200" y="2763521"/>
            <a:ext cx="2095500" cy="279400"/>
          </a:xfrm>
          <a:prstGeom prst="roundRect">
            <a:avLst>
              <a:gd name="adj" fmla="val 9091"/>
            </a:avLst>
          </a:prstGeom>
          <a:solidFill>
            <a:srgbClr val="B8B3A6"/>
          </a:solidFill>
          <a:ln/>
        </p:spPr>
      </p:sp>
      <p:sp>
        <p:nvSpPr>
          <p:cNvPr id="10" name="Text 8"/>
          <p:cNvSpPr/>
          <p:nvPr/>
        </p:nvSpPr>
        <p:spPr>
          <a:xfrm>
            <a:off x="6134100" y="2778764"/>
            <a:ext cx="38404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673</a:t>
            </a:r>
            <a:endParaRPr lang="en-US" sz="1400" dirty="0"/>
          </a:p>
        </p:txBody>
      </p:sp>
      <p:sp>
        <p:nvSpPr>
          <p:cNvPr id="11" name="Text 9"/>
          <p:cNvSpPr/>
          <p:nvPr/>
        </p:nvSpPr>
        <p:spPr>
          <a:xfrm>
            <a:off x="812800" y="3147064"/>
            <a:ext cx="30086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AT90</a:t>
            </a:r>
            <a:endParaRPr lang="en-US" sz="1400" dirty="0"/>
          </a:p>
        </p:txBody>
      </p:sp>
      <p:sp>
        <p:nvSpPr>
          <p:cNvPr id="12" name="Shape 10"/>
          <p:cNvSpPr/>
          <p:nvPr/>
        </p:nvSpPr>
        <p:spPr>
          <a:xfrm>
            <a:off x="3886200" y="3131821"/>
            <a:ext cx="2901950" cy="279400"/>
          </a:xfrm>
          <a:prstGeom prst="roundRect">
            <a:avLst>
              <a:gd name="adj" fmla="val 9091"/>
            </a:avLst>
          </a:prstGeom>
          <a:solidFill>
            <a:srgbClr val="B8B3A6"/>
          </a:solidFill>
          <a:ln/>
        </p:spPr>
      </p:sp>
      <p:sp>
        <p:nvSpPr>
          <p:cNvPr id="13" name="Text 11"/>
          <p:cNvSpPr/>
          <p:nvPr/>
        </p:nvSpPr>
        <p:spPr>
          <a:xfrm>
            <a:off x="6940550" y="3147064"/>
            <a:ext cx="38404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932</a:t>
            </a:r>
            <a:endParaRPr lang="en-US" sz="1400" dirty="0"/>
          </a:p>
        </p:txBody>
      </p:sp>
      <p:sp>
        <p:nvSpPr>
          <p:cNvPr id="14" name="Text 12"/>
          <p:cNvSpPr/>
          <p:nvPr/>
        </p:nvSpPr>
        <p:spPr>
          <a:xfrm>
            <a:off x="812800" y="3515364"/>
            <a:ext cx="30086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Best human rule (tuned)</a:t>
            </a:r>
            <a:endParaRPr lang="en-US" sz="1400" dirty="0"/>
          </a:p>
        </p:txBody>
      </p:sp>
      <p:sp>
        <p:nvSpPr>
          <p:cNvPr id="15" name="Shape 13"/>
          <p:cNvSpPr/>
          <p:nvPr/>
        </p:nvSpPr>
        <p:spPr>
          <a:xfrm>
            <a:off x="3886200" y="3500121"/>
            <a:ext cx="3536950" cy="279400"/>
          </a:xfrm>
          <a:prstGeom prst="roundRect">
            <a:avLst>
              <a:gd name="adj" fmla="val 9091"/>
            </a:avLst>
          </a:prstGeom>
          <a:solidFill>
            <a:srgbClr val="8C8677"/>
          </a:solidFill>
          <a:ln/>
        </p:spPr>
      </p:sp>
      <p:sp>
        <p:nvSpPr>
          <p:cNvPr id="16" name="Text 14"/>
          <p:cNvSpPr/>
          <p:nvPr/>
        </p:nvSpPr>
        <p:spPr>
          <a:xfrm>
            <a:off x="7575550" y="3515364"/>
            <a:ext cx="51206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1135</a:t>
            </a:r>
            <a:endParaRPr lang="en-US" sz="1400" dirty="0"/>
          </a:p>
        </p:txBody>
      </p:sp>
      <p:sp>
        <p:nvSpPr>
          <p:cNvPr id="17" name="Text 15"/>
          <p:cNvSpPr/>
          <p:nvPr/>
        </p:nvSpPr>
        <p:spPr>
          <a:xfrm>
            <a:off x="812800" y="3883664"/>
            <a:ext cx="30086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AI agent, survival goal</a:t>
            </a:r>
            <a:endParaRPr lang="en-US" sz="1400" dirty="0"/>
          </a:p>
        </p:txBody>
      </p:sp>
      <p:sp>
        <p:nvSpPr>
          <p:cNvPr id="18" name="Shape 16"/>
          <p:cNvSpPr/>
          <p:nvPr/>
        </p:nvSpPr>
        <p:spPr>
          <a:xfrm>
            <a:off x="3886200" y="3868421"/>
            <a:ext cx="5435600" cy="279400"/>
          </a:xfrm>
          <a:prstGeom prst="roundRect">
            <a:avLst>
              <a:gd name="adj" fmla="val 9091"/>
            </a:avLst>
          </a:prstGeom>
          <a:solidFill>
            <a:srgbClr val="2B6CB0"/>
          </a:solidFill>
          <a:ln/>
        </p:spPr>
      </p:sp>
      <p:sp>
        <p:nvSpPr>
          <p:cNvPr id="19" name="Text 17"/>
          <p:cNvSpPr/>
          <p:nvPr/>
        </p:nvSpPr>
        <p:spPr>
          <a:xfrm>
            <a:off x="9474200" y="3883664"/>
            <a:ext cx="51206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1744</a:t>
            </a:r>
            <a:endParaRPr lang="en-US" sz="1400" dirty="0"/>
          </a:p>
        </p:txBody>
      </p:sp>
      <p:sp>
        <p:nvSpPr>
          <p:cNvPr id="20" name="Text 18"/>
          <p:cNvSpPr/>
          <p:nvPr/>
        </p:nvSpPr>
        <p:spPr>
          <a:xfrm>
            <a:off x="812800" y="4251964"/>
            <a:ext cx="30086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Best possible plan</a:t>
            </a:r>
            <a:endParaRPr lang="en-US" sz="1400" dirty="0"/>
          </a:p>
        </p:txBody>
      </p:sp>
      <p:sp>
        <p:nvSpPr>
          <p:cNvPr id="21" name="Shape 19"/>
          <p:cNvSpPr/>
          <p:nvPr/>
        </p:nvSpPr>
        <p:spPr>
          <a:xfrm>
            <a:off x="3886200" y="4236721"/>
            <a:ext cx="6350000" cy="279400"/>
          </a:xfrm>
          <a:prstGeom prst="roundRect">
            <a:avLst>
              <a:gd name="adj" fmla="val 9091"/>
            </a:avLst>
          </a:prstGeom>
          <a:solidFill>
            <a:srgbClr val="14213D"/>
          </a:solidFill>
          <a:ln/>
        </p:spPr>
      </p:sp>
      <p:sp>
        <p:nvSpPr>
          <p:cNvPr id="22" name="Text 20"/>
          <p:cNvSpPr/>
          <p:nvPr/>
        </p:nvSpPr>
        <p:spPr>
          <a:xfrm>
            <a:off x="10388600" y="4251964"/>
            <a:ext cx="51206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2038</a:t>
            </a:r>
            <a:endParaRPr lang="en-US" sz="1400" dirty="0"/>
          </a:p>
        </p:txBody>
      </p:sp>
      <p:sp>
        <p:nvSpPr>
          <p:cNvPr id="23" name="Text 21"/>
          <p:cNvSpPr/>
          <p:nvPr/>
        </p:nvSpPr>
        <p:spPr>
          <a:xfrm>
            <a:off x="812800" y="5039364"/>
            <a:ext cx="10566400" cy="802640"/>
          </a:xfrm>
          <a:prstGeom prst="rect">
            <a:avLst/>
          </a:prstGeom>
          <a:solidFill>
            <a:srgbClr val="E6EEF8"/>
          </a:solidFill>
          <a:ln/>
        </p:spPr>
        <p:txBody>
          <a:bodyPr wrap="square" lIns="289560" tIns="152400" rIns="0" bIns="12700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All 40 AIs trained</a:t>
            </a:r>
            <a:r>
              <a:rPr lang="en-US" sz="1400" dirty="0">
                <a:solidFill>
                  <a:srgbClr val="14213D"/>
                </a:solidFill>
                <a:latin typeface="IBM Plex Sans" pitchFamily="34" charset="0"/>
                <a:ea typeface="IBM Plex Sans" pitchFamily="34" charset="-122"/>
                <a:cs typeface="IBM Plex Sans" pitchFamily="34" charset="-120"/>
              </a:rPr>
              <a:t> (10 per goal). They reach 85–87% of the best plan for R1, R2 and R4, and 76% for R3, and pass the best human rule within 150,000 practice steps.</a:t>
            </a:r>
            <a:endParaRPr lang="en-US" sz="1400" dirty="0"/>
          </a:p>
        </p:txBody>
      </p:sp>
      <p:sp>
        <p:nvSpPr>
          <p:cNvPr id="24" name="Shape 22"/>
          <p:cNvSpPr/>
          <p:nvPr/>
        </p:nvSpPr>
        <p:spPr>
          <a:xfrm>
            <a:off x="831850" y="5039364"/>
            <a:ext cx="0" cy="802640"/>
          </a:xfrm>
          <a:prstGeom prst="line">
            <a:avLst/>
          </a:prstGeom>
          <a:noFill/>
          <a:ln w="38100">
            <a:solidFill>
              <a:srgbClr val="2B6CB0"/>
            </a:solidFill>
            <a:prstDash val="solid"/>
          </a:ln>
        </p:spPr>
      </p:sp>
      <p:sp>
        <p:nvSpPr>
          <p:cNvPr id="25" name="Text 2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6" name="Text 24"/>
          <p:cNvSpPr/>
          <p:nvPr/>
        </p:nvSpPr>
        <p:spPr>
          <a:xfrm>
            <a:off x="11236960" y="6238242"/>
            <a:ext cx="14224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15975" y="815975"/>
            <a:ext cx="4652010" cy="4404360"/>
          </a:xfrm>
          <a:prstGeom prst="roundRect">
            <a:avLst>
              <a:gd name="adj" fmla="val 1658"/>
            </a:avLst>
          </a:prstGeom>
          <a:solidFill>
            <a:srgbClr val="FFFFFF"/>
          </a:solidFill>
          <a:ln w="6350">
            <a:solidFill>
              <a:srgbClr val="E2DED3"/>
            </a:solidFill>
            <a:prstDash val="solid"/>
          </a:ln>
        </p:spPr>
      </p:sp>
      <p:pic>
        <p:nvPicPr>
          <p:cNvPr id="3" name="Image 0" descr="Score table: rows are AIs trained on R1 to R4, the best plans and the human rules; columns are the goal used to score them. The R3-trained row scores 0.67 to 0.76; the R1, R2 and R4 rows score 0.83 to 0.87; human rules score 0.14 to 0.59."/>
          <p:cNvPicPr>
            <a:picLocks noChangeAspect="1"/>
          </p:cNvPicPr>
          <p:nvPr/>
        </p:nvPicPr>
        <p:blipFill>
          <a:blip r:embed="rId3"/>
          <a:srcRect l="-5" r="-5"/>
          <a:stretch/>
        </p:blipFill>
        <p:spPr>
          <a:xfrm>
            <a:off x="919480" y="919479"/>
            <a:ext cx="4445000" cy="4197350"/>
          </a:xfrm>
          <a:prstGeom prst="rect">
            <a:avLst/>
          </a:prstGeom>
        </p:spPr>
      </p:pic>
      <p:sp>
        <p:nvSpPr>
          <p:cNvPr id="4" name="Text 1"/>
          <p:cNvSpPr/>
          <p:nvPr/>
        </p:nvSpPr>
        <p:spPr>
          <a:xfrm>
            <a:off x="5826760" y="763640"/>
            <a:ext cx="571901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2 · DOES THE GOAL MATTER?</a:t>
            </a:r>
            <a:endParaRPr lang="en-US" sz="1200" dirty="0"/>
          </a:p>
        </p:txBody>
      </p:sp>
      <p:sp>
        <p:nvSpPr>
          <p:cNvPr id="5" name="Text 2"/>
          <p:cNvSpPr>
            <a:spLocks noGrp="1"/>
          </p:cNvSpPr>
          <p:nvPr>
            <p:ph type="title"/>
          </p:nvPr>
        </p:nvSpPr>
        <p:spPr>
          <a:xfrm>
            <a:off x="5826760" y="1102364"/>
            <a:ext cx="5719013" cy="1252220"/>
          </a:xfrm>
          <a:prstGeom prst="rect">
            <a:avLst/>
          </a:prstGeom>
          <a:noFill/>
          <a:ln/>
        </p:spPr>
        <p:txBody>
          <a:bodyPr wrap="square" lIns="0" tIns="0" rIns="0" bIns="0" rtlCol="0" anchor="t">
            <a:normAutofit/>
          </a:bodyPr>
          <a:lstStyle/>
          <a:p>
            <a:pPr marL="0" indent="0" algn="l">
              <a:lnSpc>
                <a:spcPts val="3220"/>
              </a:lnSpc>
              <a:buNone/>
            </a:pPr>
            <a:r>
              <a:rPr lang="en-US" sz="3400" b="1" i="0" dirty="0">
                <a:solidFill>
                  <a:srgbClr val="14213D"/>
                </a:solidFill>
                <a:latin typeface="Times New Roman" panose="02020603050405020304" pitchFamily="18" charset="0"/>
                <a:ea typeface="Source Serif 4" pitchFamily="18" charset="-122"/>
                <a:cs typeface="Times New Roman" panose="02020603050405020304" pitchFamily="18" charset="0"/>
              </a:rPr>
              <a:t>Training on “keep the mix” costs 12–18% on every other goal</a:t>
            </a:r>
            <a:endParaRPr lang="en-US" sz="3400" dirty="0">
              <a:latin typeface="Times New Roman" panose="02020603050405020304" pitchFamily="18" charset="0"/>
              <a:cs typeface="Times New Roman" panose="02020603050405020304" pitchFamily="18" charset="0"/>
            </a:endParaRPr>
          </a:p>
        </p:txBody>
      </p:sp>
      <p:sp>
        <p:nvSpPr>
          <p:cNvPr id="6" name="Shape 3"/>
          <p:cNvSpPr/>
          <p:nvPr/>
        </p:nvSpPr>
        <p:spPr>
          <a:xfrm>
            <a:off x="5845810" y="2532379"/>
            <a:ext cx="0" cy="665480"/>
          </a:xfrm>
          <a:prstGeom prst="line">
            <a:avLst/>
          </a:prstGeom>
          <a:noFill/>
          <a:ln w="38100">
            <a:solidFill>
              <a:srgbClr val="B54A1A"/>
            </a:solidFill>
            <a:prstDash val="solid"/>
          </a:ln>
        </p:spPr>
      </p:sp>
      <p:sp>
        <p:nvSpPr>
          <p:cNvPr id="7" name="Text 4"/>
          <p:cNvSpPr/>
          <p:nvPr/>
        </p:nvSpPr>
        <p:spPr>
          <a:xfrm>
            <a:off x="6040120" y="2532379"/>
            <a:ext cx="549925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54A1A"/>
                </a:solidFill>
                <a:latin typeface="Source Serif 4" pitchFamily="18" charset="0"/>
                <a:ea typeface="Source Serif 4" pitchFamily="18" charset="-122"/>
                <a:cs typeface="Source Serif 4" pitchFamily="18" charset="-120"/>
              </a:rPr>
              <a:t>0.12–0.18</a:t>
            </a:r>
            <a:endParaRPr lang="en-US" sz="2800" dirty="0"/>
          </a:p>
        </p:txBody>
      </p:sp>
      <p:sp>
        <p:nvSpPr>
          <p:cNvPr id="8" name="Text 5"/>
          <p:cNvSpPr/>
          <p:nvPr/>
        </p:nvSpPr>
        <p:spPr>
          <a:xfrm>
            <a:off x="6040120" y="2948942"/>
            <a:ext cx="549925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lost on each other goal by AIs trained to keep the mix (R3)</a:t>
            </a:r>
            <a:endParaRPr lang="en-US" sz="1400" dirty="0"/>
          </a:p>
        </p:txBody>
      </p:sp>
      <p:sp>
        <p:nvSpPr>
          <p:cNvPr id="9" name="Shape 6"/>
          <p:cNvSpPr/>
          <p:nvPr/>
        </p:nvSpPr>
        <p:spPr>
          <a:xfrm>
            <a:off x="5845810" y="3401064"/>
            <a:ext cx="0" cy="914400"/>
          </a:xfrm>
          <a:prstGeom prst="line">
            <a:avLst/>
          </a:prstGeom>
          <a:noFill/>
          <a:ln w="38100">
            <a:solidFill>
              <a:srgbClr val="2B6CB0"/>
            </a:solidFill>
            <a:prstDash val="solid"/>
          </a:ln>
        </p:spPr>
      </p:sp>
      <p:sp>
        <p:nvSpPr>
          <p:cNvPr id="10" name="Text 7"/>
          <p:cNvSpPr/>
          <p:nvPr/>
        </p:nvSpPr>
        <p:spPr>
          <a:xfrm>
            <a:off x="6040120" y="3401064"/>
            <a:ext cx="549925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 0.02</a:t>
            </a:r>
            <a:endParaRPr lang="en-US" sz="2800" dirty="0"/>
          </a:p>
        </p:txBody>
      </p:sp>
      <p:sp>
        <p:nvSpPr>
          <p:cNvPr id="11" name="Text 8"/>
          <p:cNvSpPr/>
          <p:nvPr/>
        </p:nvSpPr>
        <p:spPr>
          <a:xfrm>
            <a:off x="6040120" y="3817621"/>
            <a:ext cx="54992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lost between survival, less drug and lasting control: almost interchangeable</a:t>
            </a:r>
            <a:endParaRPr lang="en-US" sz="1400" dirty="0"/>
          </a:p>
        </p:txBody>
      </p:sp>
      <p:sp>
        <p:nvSpPr>
          <p:cNvPr id="12" name="Text 9"/>
          <p:cNvSpPr/>
          <p:nvPr/>
        </p:nvSpPr>
        <p:spPr>
          <a:xfrm>
            <a:off x="5826760" y="4518664"/>
            <a:ext cx="571901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Table: rows = who is scored, columns = the goal used to score them. 1 = best plan, 0 = no treatment.</a:t>
            </a:r>
            <a:endParaRPr lang="en-US" sz="1200" dirty="0"/>
          </a:p>
        </p:txBody>
      </p:sp>
      <p:sp>
        <p:nvSpPr>
          <p:cNvPr id="13" name="Text 10"/>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4" name="Text 11"/>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6CB0"/>
        </a:solidFill>
        <a:effectLst/>
      </p:bgPr>
    </p:bg>
    <p:spTree>
      <p:nvGrpSpPr>
        <p:cNvPr id="1" name=""/>
        <p:cNvGrpSpPr/>
        <p:nvPr/>
      </p:nvGrpSpPr>
      <p:grpSpPr>
        <a:xfrm>
          <a:off x="0" y="0"/>
          <a:ext cx="0" cy="0"/>
          <a:chOff x="0" y="0"/>
          <a:chExt cx="0" cy="0"/>
        </a:xfrm>
      </p:grpSpPr>
      <p:sp>
        <p:nvSpPr>
          <p:cNvPr id="2" name="Text 0"/>
          <p:cNvSpPr/>
          <p:nvPr/>
        </p:nvSpPr>
        <p:spPr>
          <a:xfrm>
            <a:off x="812800" y="204977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EF3FA"/>
                </a:solidFill>
                <a:latin typeface="IBM Plex Sans" pitchFamily="34" charset="0"/>
                <a:ea typeface="IBM Plex Sans" pitchFamily="34" charset="-122"/>
                <a:cs typeface="IBM Plex Sans" pitchFamily="34" charset="-120"/>
              </a:rPr>
              <a:t>CHAPTER 2 · THE SURPRISE</a:t>
            </a:r>
            <a:endParaRPr lang="en-US" sz="1200" dirty="0"/>
          </a:p>
        </p:txBody>
      </p:sp>
      <p:sp>
        <p:nvSpPr>
          <p:cNvPr id="3" name="Text 1"/>
          <p:cNvSpPr>
            <a:spLocks noGrp="1"/>
          </p:cNvSpPr>
          <p:nvPr>
            <p:ph type="title"/>
          </p:nvPr>
        </p:nvSpPr>
        <p:spPr>
          <a:xfrm>
            <a:off x="812800" y="2517142"/>
            <a:ext cx="10883392" cy="12547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AF8F3"/>
                </a:solidFill>
                <a:latin typeface="Times New Roman" panose="02020603050405020304" pitchFamily="18" charset="0"/>
                <a:ea typeface="Source Serif 4" pitchFamily="18" charset="-122"/>
                <a:cs typeface="Times New Roman" panose="02020603050405020304" pitchFamily="18" charset="0"/>
              </a:rPr>
              <a:t>Aiming to survive keeps the mix better than aiming for the mix</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812800" y="4000500"/>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AF8F3"/>
                </a:solidFill>
                <a:latin typeface="IBM Plex Sans" pitchFamily="34" charset="0"/>
                <a:ea typeface="IBM Plex Sans" pitchFamily="34" charset="-122"/>
                <a:cs typeface="IBM Plex Sans" pitchFamily="34" charset="-120"/>
              </a:rPr>
              <a:t>We predicted that AIs trained to keep a balanced mix would outlast survival-trained ones. The reverse held: survival-trained AIs even score higher on the mix goal itself, </a:t>
            </a:r>
            <a:r>
              <a:rPr lang="en-US" sz="1700" b="1" dirty="0">
                <a:solidFill>
                  <a:srgbClr val="FAF8F3"/>
                </a:solidFill>
                <a:latin typeface="IBM Plex Sans" pitchFamily="34" charset="0"/>
                <a:ea typeface="IBM Plex Sans" pitchFamily="34" charset="-122"/>
                <a:cs typeface="IBM Plex Sans" pitchFamily="34" charset="-120"/>
              </a:rPr>
              <a:t>0.78 vs 0.76</a:t>
            </a:r>
            <a:r>
              <a:rPr lang="en-US" sz="1700" dirty="0">
                <a:solidFill>
                  <a:srgbClr val="FAF8F3"/>
                </a:solidFill>
                <a:latin typeface="IBM Plex Sans" pitchFamily="34" charset="0"/>
                <a:ea typeface="IBM Plex Sans" pitchFamily="34" charset="-122"/>
                <a:cs typeface="IBM Plex Sans" pitchFamily="34" charset="-120"/>
              </a:rPr>
              <a:t>.</a:t>
            </a:r>
            <a:endParaRPr lang="en-US" sz="1700" dirty="0"/>
          </a:p>
        </p:txBody>
      </p:sp>
      <p:sp>
        <p:nvSpPr>
          <p:cNvPr id="5" name="Text 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EF3FA"/>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6" name="Text 4"/>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EF3F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2 · DOES THE GOAL MATTER?</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What the winning strategy looks like</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25296"/>
            <a:ext cx="10560050" cy="2613660"/>
          </a:xfrm>
          <a:prstGeom prst="roundRect">
            <a:avLst>
              <a:gd name="adj" fmla="val 2794"/>
            </a:avLst>
          </a:prstGeom>
          <a:solidFill>
            <a:srgbClr val="FFFFFF"/>
          </a:solidFill>
          <a:ln w="6350">
            <a:solidFill>
              <a:srgbClr val="E2DED3"/>
            </a:solidFill>
            <a:prstDash val="solid"/>
          </a:ln>
        </p:spPr>
      </p:sp>
      <p:pic>
        <p:nvPicPr>
          <p:cNvPr id="5" name="Image 0" descr="One typical AI per goal: tumour over time with sensitive cells in blue and resistant cells in orange, drug weeks as black ticks. All hold the tumour just under the 1.2 failure line; R3 fails at 1484 days, the others at 1728 to 1752."/>
          <p:cNvPicPr>
            <a:picLocks noChangeAspect="1"/>
          </p:cNvPicPr>
          <p:nvPr/>
        </p:nvPicPr>
        <p:blipFill>
          <a:blip r:embed="rId3"/>
          <a:srcRect l="-95" r="-95"/>
          <a:stretch/>
        </p:blipFill>
        <p:spPr>
          <a:xfrm>
            <a:off x="1651000" y="1828800"/>
            <a:ext cx="8890000" cy="2406650"/>
          </a:xfrm>
          <a:prstGeom prst="rect">
            <a:avLst/>
          </a:prstGeom>
        </p:spPr>
      </p:pic>
      <p:sp>
        <p:nvSpPr>
          <p:cNvPr id="6" name="Text 3"/>
          <p:cNvSpPr/>
          <p:nvPr/>
        </p:nvSpPr>
        <p:spPr>
          <a:xfrm>
            <a:off x="812800" y="4494529"/>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One typical AI per goal. Blue = sensitive cells, orange = resistant, black ticks = weeks on drug, dashed = failure line.</a:t>
            </a:r>
            <a:endParaRPr lang="en-US" sz="1200" dirty="0"/>
          </a:p>
        </p:txBody>
      </p:sp>
      <p:sp>
        <p:nvSpPr>
          <p:cNvPr id="7" name="Text 4"/>
          <p:cNvSpPr/>
          <p:nvPr/>
        </p:nvSpPr>
        <p:spPr>
          <a:xfrm>
            <a:off x="812800" y="4852671"/>
            <a:ext cx="5310886"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Short weekly pulses</a:t>
            </a:r>
            <a:r>
              <a:rPr lang="en-US" sz="1400" dirty="0">
                <a:solidFill>
                  <a:srgbClr val="4A5568"/>
                </a:solidFill>
                <a:latin typeface="IBM Plex Sans" pitchFamily="34" charset="0"/>
                <a:ea typeface="IBM Plex Sans" pitchFamily="34" charset="-122"/>
                <a:cs typeface="IBM Plex Sans" pitchFamily="34" charset="-120"/>
              </a:rPr>
              <a:t> keep the tumour just under 1.2× its start. Sensitive cells stay plentiful; the resistant clone grows anyway and finally fills the space.</a:t>
            </a:r>
            <a:endParaRPr lang="en-US" sz="1400" dirty="0"/>
          </a:p>
        </p:txBody>
      </p:sp>
      <p:sp>
        <p:nvSpPr>
          <p:cNvPr id="8" name="Text 5"/>
          <p:cNvSpPr/>
          <p:nvPr/>
        </p:nvSpPr>
        <p:spPr>
          <a:xfrm>
            <a:off x="6223000" y="4852671"/>
            <a:ext cx="5310886"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Survival and lasting control learn the same strategy.</a:t>
            </a:r>
            <a:r>
              <a:rPr lang="en-US" sz="1400" dirty="0">
                <a:solidFill>
                  <a:srgbClr val="4A5568"/>
                </a:solidFill>
                <a:latin typeface="IBM Plex Sans" pitchFamily="34" charset="0"/>
                <a:ea typeface="IBM Plex Sans" pitchFamily="34" charset="-122"/>
                <a:cs typeface="IBM Plex Sans" pitchFamily="34" charset="-120"/>
              </a:rPr>
              <a:t> Every AI also treats a little early (about 1.15× vs the plan’s 1.17×), a safety margin it found on its own.</a:t>
            </a:r>
            <a:endParaRPr lang="en-US" sz="1400" dirty="0"/>
          </a:p>
        </p:txBody>
      </p:sp>
      <p:sp>
        <p:nvSpPr>
          <p:cNvPr id="9" name="Text 6"/>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0" name="Text 7"/>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3 · STRESS TESTS</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Why “keep the mix” can’t win</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812800" y="1722121"/>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In a tumour that will eventually fail, resistant cells grow under </a:t>
            </a:r>
            <a:r>
              <a:rPr lang="en-US" sz="1400" b="1" dirty="0">
                <a:solidFill>
                  <a:srgbClr val="14213D"/>
                </a:solidFill>
                <a:latin typeface="IBM Plex Sans" pitchFamily="34" charset="0"/>
                <a:ea typeface="IBM Plex Sans" pitchFamily="34" charset="-122"/>
                <a:cs typeface="IBM Plex Sans" pitchFamily="34" charset="-120"/>
              </a:rPr>
              <a:t>every</a:t>
            </a:r>
            <a:r>
              <a:rPr lang="en-US" sz="1400" dirty="0">
                <a:solidFill>
                  <a:srgbClr val="14213D"/>
                </a:solidFill>
                <a:latin typeface="IBM Plex Sans" pitchFamily="34" charset="0"/>
                <a:ea typeface="IBM Plex Sans" pitchFamily="34" charset="-122"/>
                <a:cs typeface="IBM Plex Sans" pitchFamily="34" charset="-120"/>
              </a:rPr>
              <a:t> schedule, so a fixed mix can never be held. We tried three ways to rescue it.</a:t>
            </a:r>
            <a:endParaRPr lang="en-US" sz="1400" dirty="0"/>
          </a:p>
        </p:txBody>
      </p:sp>
      <p:sp>
        <p:nvSpPr>
          <p:cNvPr id="5" name="Shape 3"/>
          <p:cNvSpPr/>
          <p:nvPr/>
        </p:nvSpPr>
        <p:spPr>
          <a:xfrm>
            <a:off x="815975" y="2375539"/>
            <a:ext cx="6430010" cy="2683510"/>
          </a:xfrm>
          <a:prstGeom prst="roundRect">
            <a:avLst>
              <a:gd name="adj" fmla="val 2721"/>
            </a:avLst>
          </a:prstGeom>
          <a:solidFill>
            <a:srgbClr val="FFFFFF"/>
          </a:solidFill>
          <a:ln w="6350">
            <a:solidFill>
              <a:srgbClr val="E2DED3"/>
            </a:solidFill>
            <a:prstDash val="solid"/>
          </a:ln>
        </p:spPr>
      </p:sp>
      <p:pic>
        <p:nvPicPr>
          <p:cNvPr id="6" name="Image 0" descr="Left: days to failure for coexistence targets of 5% to 50%: AIs about 1500 to 1525 days, best plans about 1625, survival-trained AIs 1744. Right: the resistant share actually reached stays near 0.09 for every target, far from the target line."/>
          <p:cNvPicPr>
            <a:picLocks noChangeAspect="1"/>
          </p:cNvPicPr>
          <p:nvPr/>
        </p:nvPicPr>
        <p:blipFill>
          <a:blip r:embed="rId3"/>
          <a:srcRect l="-21" r="-21"/>
          <a:stretch/>
        </p:blipFill>
        <p:spPr>
          <a:xfrm>
            <a:off x="919480" y="2479042"/>
            <a:ext cx="6223000" cy="2476500"/>
          </a:xfrm>
          <a:prstGeom prst="rect">
            <a:avLst/>
          </a:prstGeom>
        </p:spPr>
      </p:pic>
      <p:sp>
        <p:nvSpPr>
          <p:cNvPr id="7" name="Shape 4"/>
          <p:cNvSpPr/>
          <p:nvPr/>
        </p:nvSpPr>
        <p:spPr>
          <a:xfrm>
            <a:off x="7455535" y="2375539"/>
            <a:ext cx="3920490" cy="942340"/>
          </a:xfrm>
          <a:prstGeom prst="roundRect">
            <a:avLst>
              <a:gd name="adj" fmla="val 7749"/>
            </a:avLst>
          </a:prstGeom>
          <a:solidFill>
            <a:srgbClr val="FFFFFF"/>
          </a:solidFill>
          <a:ln w="6350">
            <a:solidFill>
              <a:srgbClr val="E2DED3"/>
            </a:solidFill>
            <a:prstDash val="solid"/>
          </a:ln>
        </p:spPr>
      </p:sp>
      <p:sp>
        <p:nvSpPr>
          <p:cNvPr id="8" name="Text 5"/>
          <p:cNvSpPr/>
          <p:nvPr/>
        </p:nvSpPr>
        <p:spPr>
          <a:xfrm>
            <a:off x="7609840" y="2504442"/>
            <a:ext cx="372023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Any target, 5% to 50% (E6)</a:t>
            </a:r>
            <a:endParaRPr lang="en-US" sz="1400" dirty="0"/>
          </a:p>
        </p:txBody>
      </p:sp>
      <p:sp>
        <p:nvSpPr>
          <p:cNvPr id="9" name="Text 6"/>
          <p:cNvSpPr/>
          <p:nvPr/>
        </p:nvSpPr>
        <p:spPr>
          <a:xfrm>
            <a:off x="7609840" y="2777492"/>
            <a:ext cx="372023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All land near 1510 days; the real resistant share stays about 9%.</a:t>
            </a:r>
            <a:endParaRPr lang="en-US" sz="1200" dirty="0"/>
          </a:p>
        </p:txBody>
      </p:sp>
      <p:sp>
        <p:nvSpPr>
          <p:cNvPr id="10" name="Shape 7"/>
          <p:cNvSpPr/>
          <p:nvPr/>
        </p:nvSpPr>
        <p:spPr>
          <a:xfrm>
            <a:off x="7455535" y="3425825"/>
            <a:ext cx="3920490" cy="942340"/>
          </a:xfrm>
          <a:prstGeom prst="roundRect">
            <a:avLst>
              <a:gd name="adj" fmla="val 7749"/>
            </a:avLst>
          </a:prstGeom>
          <a:solidFill>
            <a:srgbClr val="FFFFFF"/>
          </a:solidFill>
          <a:ln w="6350">
            <a:solidFill>
              <a:srgbClr val="E2DED3"/>
            </a:solidFill>
            <a:prstDash val="solid"/>
          </a:ln>
        </p:spPr>
      </p:sp>
      <p:sp>
        <p:nvSpPr>
          <p:cNvPr id="11" name="Text 8"/>
          <p:cNvSpPr/>
          <p:nvPr/>
        </p:nvSpPr>
        <p:spPr>
          <a:xfrm>
            <a:off x="7609840" y="3554729"/>
            <a:ext cx="372023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Smoother rewards (B2)</a:t>
            </a:r>
            <a:endParaRPr lang="en-US" sz="1400" dirty="0"/>
          </a:p>
        </p:txBody>
      </p:sp>
      <p:sp>
        <p:nvSpPr>
          <p:cNvPr id="12" name="Text 9"/>
          <p:cNvSpPr/>
          <p:nvPr/>
        </p:nvSpPr>
        <p:spPr>
          <a:xfrm>
            <a:off x="7609840" y="3827779"/>
            <a:ext cx="372023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Even worse: best plan 1387 days vs 1625 for the original.</a:t>
            </a:r>
            <a:endParaRPr lang="en-US" sz="1200" dirty="0"/>
          </a:p>
        </p:txBody>
      </p:sp>
      <p:sp>
        <p:nvSpPr>
          <p:cNvPr id="13" name="Shape 10"/>
          <p:cNvSpPr/>
          <p:nvPr/>
        </p:nvSpPr>
        <p:spPr>
          <a:xfrm>
            <a:off x="7455535" y="4476117"/>
            <a:ext cx="3920490" cy="736600"/>
          </a:xfrm>
          <a:prstGeom prst="roundRect">
            <a:avLst>
              <a:gd name="adj" fmla="val 9914"/>
            </a:avLst>
          </a:prstGeom>
          <a:solidFill>
            <a:srgbClr val="FFFFFF"/>
          </a:solidFill>
          <a:ln w="6350">
            <a:solidFill>
              <a:srgbClr val="E2DED3"/>
            </a:solidFill>
            <a:prstDash val="solid"/>
          </a:ln>
        </p:spPr>
      </p:sp>
      <p:sp>
        <p:nvSpPr>
          <p:cNvPr id="14" name="Text 11"/>
          <p:cNvSpPr/>
          <p:nvPr/>
        </p:nvSpPr>
        <p:spPr>
          <a:xfrm>
            <a:off x="7609840" y="4605021"/>
            <a:ext cx="372023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IBM Plex Sans" pitchFamily="34" charset="0"/>
                <a:ea typeface="IBM Plex Sans" pitchFamily="34" charset="-122"/>
                <a:cs typeface="IBM Plex Sans" pitchFamily="34" charset="-120"/>
              </a:rPr>
              <a:t>Partly resistant cells (FE2)</a:t>
            </a:r>
            <a:endParaRPr lang="en-US" sz="1400" dirty="0"/>
          </a:p>
        </p:txBody>
      </p:sp>
      <p:sp>
        <p:nvSpPr>
          <p:cNvPr id="15" name="Text 12"/>
          <p:cNvSpPr/>
          <p:nvPr/>
        </p:nvSpPr>
        <p:spPr>
          <a:xfrm>
            <a:off x="7609840" y="4878071"/>
            <a:ext cx="3720236"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Still loses 18–21% wherever the patient can fail.</a:t>
            </a:r>
            <a:endParaRPr lang="en-US" sz="1200" dirty="0"/>
          </a:p>
        </p:txBody>
      </p:sp>
      <p:sp>
        <p:nvSpPr>
          <p:cNvPr id="16" name="Text 1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7" name="Text 14"/>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3 · STRESS TESTS</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The answer held in every stress test we ran</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2800" y="1887221"/>
            <a:ext cx="10566400" cy="2870200"/>
          </a:xfrm>
          <a:prstGeom prst="rect">
            <a:avLst/>
          </a:prstGeom>
          <a:solidFill>
            <a:srgbClr val="FFFFFF"/>
          </a:solidFill>
          <a:ln/>
        </p:spPr>
      </p:sp>
      <p:sp>
        <p:nvSpPr>
          <p:cNvPr id="5" name="Shape 3"/>
          <p:cNvSpPr/>
          <p:nvPr/>
        </p:nvSpPr>
        <p:spPr>
          <a:xfrm>
            <a:off x="11376025" y="1887221"/>
            <a:ext cx="0" cy="2870200"/>
          </a:xfrm>
          <a:prstGeom prst="line">
            <a:avLst/>
          </a:prstGeom>
          <a:noFill/>
          <a:ln w="6350">
            <a:solidFill>
              <a:srgbClr val="E2DED3"/>
            </a:solidFill>
            <a:prstDash val="solid"/>
          </a:ln>
        </p:spPr>
      </p:sp>
      <p:sp>
        <p:nvSpPr>
          <p:cNvPr id="6" name="Shape 4"/>
          <p:cNvSpPr/>
          <p:nvPr/>
        </p:nvSpPr>
        <p:spPr>
          <a:xfrm>
            <a:off x="812800" y="4754246"/>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97381"/>
          <a:ext cx="10551160" cy="2854960"/>
        </p:xfrm>
        <a:graphic>
          <a:graphicData uri="http://schemas.openxmlformats.org/drawingml/2006/table">
            <a:tbl>
              <a:tblPr/>
              <a:tblGrid>
                <a:gridCol w="6119673">
                  <a:extLst>
                    <a:ext uri="{9D8B030D-6E8A-4147-A177-3AD203B41FA5}">
                      <a16:colId xmlns:a16="http://schemas.microsoft.com/office/drawing/2014/main" val="20000"/>
                    </a:ext>
                  </a:extLst>
                </a:gridCol>
                <a:gridCol w="4431487">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Stress test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What happened to “keep the mix” (R3)</a:t>
                      </a:r>
                      <a:endParaRPr lang="en-US" sz="1300" dirty="0">
                        <a:latin typeface="IBM Plex Sans" charset="0"/>
                        <a:ea typeface="IBM Plex Sans" charset="0"/>
                        <a:cs typeface="IBM Plex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 virtual patients the AI had never seen (E7)</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last on 20 of 20</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Model numbers off by up to ±25% (E8)</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still last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Two other ways the drug could act (E10)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still last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Resistant cells grow 42% slower (E3c)</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costs 13–17% on other goals</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Cells also die naturally (A1)</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costs up to 17% on other goals</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 map of 25 different patients (C1)</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20–23% shorter survival</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Failure line at 1.1×, 1.2× or 1.3× (B4)</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14%, 20%, 27% shorter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812800" y="5074921"/>
            <a:ext cx="10566400" cy="767080"/>
          </a:xfrm>
          <a:prstGeom prst="rect">
            <a:avLst/>
          </a:prstGeom>
          <a:solidFill>
            <a:srgbClr val="E6EEF8"/>
          </a:solidFill>
          <a:ln/>
        </p:spPr>
        <p:txBody>
          <a:bodyPr wrap="square" lIns="289560" tIns="152400" rIns="0" bIns="12700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Also robust: survival = lasting control.</a:t>
            </a:r>
            <a:r>
              <a:rPr lang="en-US" sz="1300" dirty="0">
                <a:solidFill>
                  <a:srgbClr val="14213D"/>
                </a:solidFill>
                <a:latin typeface="IBM Plex Sans" pitchFamily="34" charset="0"/>
                <a:ea typeface="IBM Plex Sans" pitchFamily="34" charset="-122"/>
                <a:cs typeface="IBM Plex Sans" pitchFamily="34" charset="-120"/>
              </a:rPr>
              <a:t> R1 and R4 pick the same plan at all 25 map patients. The only splits are tiny (a half-dose detail, D1; mutation, FE1).</a:t>
            </a:r>
            <a:endParaRPr lang="en-US" sz="1300" dirty="0"/>
          </a:p>
        </p:txBody>
      </p:sp>
      <p:sp>
        <p:nvSpPr>
          <p:cNvPr id="9" name="Shape 6"/>
          <p:cNvSpPr/>
          <p:nvPr/>
        </p:nvSpPr>
        <p:spPr>
          <a:xfrm>
            <a:off x="831850" y="5074921"/>
            <a:ext cx="0" cy="767080"/>
          </a:xfrm>
          <a:prstGeom prst="line">
            <a:avLst/>
          </a:prstGeom>
          <a:noFill/>
          <a:ln w="38100">
            <a:solidFill>
              <a:srgbClr val="2B6CB0"/>
            </a:solidFill>
            <a:prstDash val="solid"/>
          </a:ln>
        </p:spPr>
      </p:sp>
      <p:sp>
        <p:nvSpPr>
          <p:cNvPr id="10" name="Text 7"/>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1" name="Text 8"/>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3 · STRESS TESTS</a:t>
            </a:r>
            <a:endParaRPr lang="en-US" sz="1200" dirty="0"/>
          </a:p>
        </p:txBody>
      </p:sp>
      <p:sp>
        <p:nvSpPr>
          <p:cNvPr id="3" name="Text 1"/>
          <p:cNvSpPr>
            <a:spLocks noGrp="1"/>
          </p:cNvSpPr>
          <p:nvPr>
            <p:ph type="title"/>
          </p:nvPr>
        </p:nvSpPr>
        <p:spPr>
          <a:xfrm>
            <a:off x="812800" y="11023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Two practical lessons from the stress tests</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76096"/>
            <a:ext cx="5175250" cy="3338830"/>
          </a:xfrm>
          <a:prstGeom prst="roundRect">
            <a:avLst>
              <a:gd name="adj" fmla="val 2948"/>
            </a:avLst>
          </a:prstGeom>
          <a:solidFill>
            <a:srgbClr val="FFFFFF"/>
          </a:solidFill>
          <a:ln w="6350">
            <a:solidFill>
              <a:srgbClr val="E2DED3"/>
            </a:solidFill>
            <a:prstDash val="solid"/>
          </a:ln>
        </p:spPr>
      </p:sp>
      <p:sp>
        <p:nvSpPr>
          <p:cNvPr id="5" name="Text 3"/>
          <p:cNvSpPr/>
          <p:nvPr/>
        </p:nvSpPr>
        <p:spPr>
          <a:xfrm>
            <a:off x="1071880" y="2032000"/>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A safety margin beats a perfect plan</a:t>
            </a:r>
            <a:endParaRPr lang="en-US" sz="1700" dirty="0"/>
          </a:p>
        </p:txBody>
      </p:sp>
      <p:sp>
        <p:nvSpPr>
          <p:cNvPr id="6" name="Text 4"/>
          <p:cNvSpPr/>
          <p:nvPr/>
        </p:nvSpPr>
        <p:spPr>
          <a:xfrm>
            <a:off x="1071880" y="2316479"/>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Model numbers off by up to ±25% (E8)</a:t>
            </a:r>
            <a:endParaRPr lang="en-US" sz="1200" dirty="0"/>
          </a:p>
        </p:txBody>
      </p:sp>
      <p:sp>
        <p:nvSpPr>
          <p:cNvPr id="7" name="Text 5"/>
          <p:cNvSpPr/>
          <p:nvPr/>
        </p:nvSpPr>
        <p:spPr>
          <a:xfrm>
            <a:off x="1071880" y="2656842"/>
            <a:ext cx="4803343"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1680–1730 d</a:t>
            </a:r>
            <a:endParaRPr lang="en-US" sz="2800" dirty="0"/>
          </a:p>
        </p:txBody>
      </p:sp>
      <p:sp>
        <p:nvSpPr>
          <p:cNvPr id="8" name="Text 6"/>
          <p:cNvSpPr/>
          <p:nvPr/>
        </p:nvSpPr>
        <p:spPr>
          <a:xfrm>
            <a:off x="1071880" y="3073400"/>
            <a:ext cx="480334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AI agents (survival, less drug, lasting control)</a:t>
            </a:r>
            <a:endParaRPr lang="en-US" sz="1200" dirty="0"/>
          </a:p>
        </p:txBody>
      </p:sp>
      <p:sp>
        <p:nvSpPr>
          <p:cNvPr id="9" name="Text 7"/>
          <p:cNvSpPr/>
          <p:nvPr/>
        </p:nvSpPr>
        <p:spPr>
          <a:xfrm>
            <a:off x="1071880" y="3406142"/>
            <a:ext cx="4803343"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54A1A"/>
                </a:solidFill>
                <a:latin typeface="Source Serif 4" pitchFamily="18" charset="0"/>
                <a:ea typeface="Source Serif 4" pitchFamily="18" charset="-122"/>
                <a:cs typeface="Source Serif 4" pitchFamily="18" charset="-120"/>
              </a:rPr>
              <a:t>110–160 d</a:t>
            </a:r>
            <a:endParaRPr lang="en-US" sz="2800" dirty="0"/>
          </a:p>
        </p:txBody>
      </p:sp>
      <p:sp>
        <p:nvSpPr>
          <p:cNvPr id="10" name="Text 8"/>
          <p:cNvSpPr/>
          <p:nvPr/>
        </p:nvSpPr>
        <p:spPr>
          <a:xfrm>
            <a:off x="1071880" y="3822700"/>
            <a:ext cx="480334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the exact best plan, in its worst quarter of patients</a:t>
            </a:r>
            <a:endParaRPr lang="en-US" sz="1200" dirty="0"/>
          </a:p>
        </p:txBody>
      </p:sp>
      <p:sp>
        <p:nvSpPr>
          <p:cNvPr id="11" name="Text 9"/>
          <p:cNvSpPr/>
          <p:nvPr/>
        </p:nvSpPr>
        <p:spPr>
          <a:xfrm>
            <a:off x="1071880" y="4155442"/>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exact plan rides right on the failure line; the AIs’ habit of treating early protects them.</a:t>
            </a:r>
            <a:endParaRPr lang="en-US" sz="1400" dirty="0"/>
          </a:p>
        </p:txBody>
      </p:sp>
      <p:sp>
        <p:nvSpPr>
          <p:cNvPr id="12" name="Shape 10"/>
          <p:cNvSpPr/>
          <p:nvPr/>
        </p:nvSpPr>
        <p:spPr>
          <a:xfrm>
            <a:off x="6200775" y="1776096"/>
            <a:ext cx="5175250" cy="3338830"/>
          </a:xfrm>
          <a:prstGeom prst="roundRect">
            <a:avLst>
              <a:gd name="adj" fmla="val 2948"/>
            </a:avLst>
          </a:prstGeom>
          <a:solidFill>
            <a:srgbClr val="FFFFFF"/>
          </a:solidFill>
          <a:ln w="6350">
            <a:solidFill>
              <a:srgbClr val="E2DED3"/>
            </a:solidFill>
            <a:prstDash val="solid"/>
          </a:ln>
        </p:spPr>
      </p:sp>
      <p:sp>
        <p:nvSpPr>
          <p:cNvPr id="13" name="Text 11"/>
          <p:cNvSpPr/>
          <p:nvPr/>
        </p:nvSpPr>
        <p:spPr>
          <a:xfrm>
            <a:off x="6456680" y="2032000"/>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Check as often as the AI was trained</a:t>
            </a:r>
            <a:endParaRPr lang="en-US" sz="1700" dirty="0"/>
          </a:p>
        </p:txBody>
      </p:sp>
      <p:sp>
        <p:nvSpPr>
          <p:cNvPr id="14" name="Text 12"/>
          <p:cNvSpPr/>
          <p:nvPr/>
        </p:nvSpPr>
        <p:spPr>
          <a:xfrm>
            <a:off x="6456680" y="2316479"/>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Check-up rhythm (E9)</a:t>
            </a:r>
            <a:endParaRPr lang="en-US" sz="1200" dirty="0"/>
          </a:p>
        </p:txBody>
      </p:sp>
      <p:sp>
        <p:nvSpPr>
          <p:cNvPr id="15" name="Text 13"/>
          <p:cNvSpPr/>
          <p:nvPr/>
        </p:nvSpPr>
        <p:spPr>
          <a:xfrm>
            <a:off x="6456680" y="2656842"/>
            <a:ext cx="4803343"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B54A1A"/>
                </a:solidFill>
                <a:latin typeface="Source Serif 4" pitchFamily="18" charset="0"/>
                <a:ea typeface="Source Serif 4" pitchFamily="18" charset="-122"/>
                <a:cs typeface="Source Serif 4" pitchFamily="18" charset="-120"/>
              </a:rPr>
              <a:t>83 d</a:t>
            </a:r>
            <a:endParaRPr lang="en-US" sz="2800" dirty="0"/>
          </a:p>
        </p:txBody>
      </p:sp>
      <p:sp>
        <p:nvSpPr>
          <p:cNvPr id="16" name="Text 14"/>
          <p:cNvSpPr/>
          <p:nvPr/>
        </p:nvSpPr>
        <p:spPr>
          <a:xfrm>
            <a:off x="6456680" y="3073400"/>
            <a:ext cx="480334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weekly-trained AI checked only monthly: worse than any human rule</a:t>
            </a:r>
            <a:endParaRPr lang="en-US" sz="1200" dirty="0"/>
          </a:p>
        </p:txBody>
      </p:sp>
      <p:sp>
        <p:nvSpPr>
          <p:cNvPr id="17" name="Text 15"/>
          <p:cNvSpPr/>
          <p:nvPr/>
        </p:nvSpPr>
        <p:spPr>
          <a:xfrm>
            <a:off x="6456680" y="3611879"/>
            <a:ext cx="4803343"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89–100%</a:t>
            </a:r>
            <a:endParaRPr lang="en-US" sz="2800" dirty="0"/>
          </a:p>
        </p:txBody>
      </p:sp>
      <p:sp>
        <p:nvSpPr>
          <p:cNvPr id="18" name="Text 16"/>
          <p:cNvSpPr/>
          <p:nvPr/>
        </p:nvSpPr>
        <p:spPr>
          <a:xfrm>
            <a:off x="6456680" y="4028442"/>
            <a:ext cx="480334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of the monthly best plan, for monthly-trained AIs at every rhythm</a:t>
            </a:r>
            <a:endParaRPr lang="en-US" sz="1200" dirty="0"/>
          </a:p>
        </p:txBody>
      </p:sp>
      <p:sp>
        <p:nvSpPr>
          <p:cNvPr id="19" name="Text 17"/>
          <p:cNvSpPr/>
          <p:nvPr/>
        </p:nvSpPr>
        <p:spPr>
          <a:xfrm>
            <a:off x="6456680" y="4361179"/>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Never use a strategy with fewer check-ups than it was designed for.</a:t>
            </a:r>
            <a:endParaRPr lang="en-US" sz="1400" dirty="0"/>
          </a:p>
        </p:txBody>
      </p:sp>
      <p:sp>
        <p:nvSpPr>
          <p:cNvPr id="20" name="Text 18"/>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91008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27C"/>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2377442"/>
            <a:ext cx="10883392" cy="12547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3EFE6"/>
                </a:solidFill>
                <a:latin typeface="Times New Roman" panose="02020603050405020304" pitchFamily="18" charset="0"/>
                <a:ea typeface="Source Serif 4" pitchFamily="18" charset="-122"/>
                <a:cs typeface="Times New Roman" panose="02020603050405020304" pitchFamily="18" charset="0"/>
              </a:rPr>
              <a:t>So far, the AI saw the exact cell mix. A doctor sees only tumour size.</a:t>
            </a:r>
            <a:endParaRPr lang="en-US" sz="4400" dirty="0">
              <a:latin typeface="Times New Roman" panose="02020603050405020304" pitchFamily="18" charset="0"/>
              <a:cs typeface="Times New Roman" panose="02020603050405020304" pitchFamily="18" charset="0"/>
            </a:endParaRPr>
          </a:p>
        </p:txBody>
      </p:sp>
      <p:pic>
        <p:nvPicPr>
          <p:cNvPr id="4" name="Image 0" descr="line"/>
          <p:cNvPicPr>
            <a:picLocks noChangeAspect="1"/>
          </p:cNvPicPr>
          <p:nvPr/>
        </p:nvPicPr>
        <p:blipFill>
          <a:blip r:embed="rId3"/>
          <a:srcRect/>
          <a:stretch/>
        </p:blipFill>
        <p:spPr>
          <a:xfrm>
            <a:off x="812800" y="3860800"/>
            <a:ext cx="1016000" cy="25400"/>
          </a:xfrm>
          <a:prstGeom prst="rect">
            <a:avLst/>
          </a:prstGeom>
        </p:spPr>
      </p:pic>
      <p:sp>
        <p:nvSpPr>
          <p:cNvPr id="5" name="Text 2"/>
          <p:cNvSpPr/>
          <p:nvPr/>
        </p:nvSpPr>
        <p:spPr>
          <a:xfrm>
            <a:off x="812800" y="4140200"/>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BFC8D8"/>
                </a:solidFill>
                <a:latin typeface="IBM Plex Sans" pitchFamily="34" charset="0"/>
                <a:ea typeface="IBM Plex Sans" pitchFamily="34" charset="-122"/>
                <a:cs typeface="IBM Plex Sans" pitchFamily="34" charset="-120"/>
              </a:rPr>
              <a:t>In prostate cancer, PSA tracks total tumour size, not how many cells are resistant. What happens when the AI sees only what a doctor sees?</a:t>
            </a:r>
            <a:endParaRPr lang="en-US" sz="1700" dirty="0"/>
          </a:p>
        </p:txBody>
      </p:sp>
      <p:sp>
        <p:nvSpPr>
          <p:cNvPr id="6" name="Text 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8"/>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7" name="Text 4"/>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FC8D8"/>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The AIs failed where a one-line rule succeeded</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25302"/>
            <a:ext cx="10560050" cy="3102610"/>
          </a:xfrm>
          <a:prstGeom prst="roundRect">
            <a:avLst>
              <a:gd name="adj" fmla="val 2354"/>
            </a:avLst>
          </a:prstGeom>
          <a:solidFill>
            <a:srgbClr val="FFFFFF"/>
          </a:solidFill>
          <a:ln w="6350">
            <a:solidFill>
              <a:srgbClr val="E2DED3"/>
            </a:solidFill>
            <a:prstDash val="solid"/>
          </a:ln>
        </p:spPr>
      </p:sp>
      <p:pic>
        <p:nvPicPr>
          <p:cNvPr id="5" name="Image 0" descr="Left: chance of treating against tumour size for size-only AIs; they start treating between 0.5 and 0.9 of the starting size, far below the best rule at 1.17. Right: days to failure for the rule treat if size is at least theta; it rises to 1945 days at theta 1.17, while the AIs sit at 590 to 770 days."/>
          <p:cNvPicPr>
            <a:picLocks noChangeAspect="1"/>
          </p:cNvPicPr>
          <p:nvPr/>
        </p:nvPicPr>
        <p:blipFill>
          <a:blip r:embed="rId3"/>
          <a:srcRect l="-9" r="-9"/>
          <a:stretch/>
        </p:blipFill>
        <p:spPr>
          <a:xfrm>
            <a:off x="1841500" y="1828800"/>
            <a:ext cx="8509000" cy="2895600"/>
          </a:xfrm>
          <a:prstGeom prst="rect">
            <a:avLst/>
          </a:prstGeom>
        </p:spPr>
      </p:pic>
      <p:sp>
        <p:nvSpPr>
          <p:cNvPr id="6" name="Text 3"/>
          <p:cNvSpPr/>
          <p:nvPr/>
        </p:nvSpPr>
        <p:spPr>
          <a:xfrm>
            <a:off x="812800" y="4983485"/>
            <a:ext cx="531088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54A1A"/>
                </a:solidFill>
                <a:latin typeface="IBM Plex Sans" pitchFamily="34" charset="0"/>
                <a:ea typeface="IBM Plex Sans" pitchFamily="34" charset="-122"/>
                <a:cs typeface="IBM Plex Sans" pitchFamily="34" charset="-120"/>
              </a:rPr>
              <a:t>AIs that see only size:</a:t>
            </a:r>
            <a:r>
              <a:rPr lang="en-US" sz="1400" dirty="0">
                <a:solidFill>
                  <a:srgbClr val="4A5568"/>
                </a:solidFill>
                <a:latin typeface="IBM Plex Sans" pitchFamily="34" charset="0"/>
                <a:ea typeface="IBM Plex Sans" pitchFamily="34" charset="-122"/>
                <a:cs typeface="IBM Plex Sans" pitchFamily="34" charset="-120"/>
              </a:rPr>
              <a:t> 0.21–0.37 of the best plan, about 700 days, close to AT50. They treat far too early (left).</a:t>
            </a:r>
            <a:endParaRPr lang="en-US" sz="1400" dirty="0"/>
          </a:p>
        </p:txBody>
      </p:sp>
      <p:sp>
        <p:nvSpPr>
          <p:cNvPr id="7" name="Text 4"/>
          <p:cNvSpPr/>
          <p:nvPr/>
        </p:nvSpPr>
        <p:spPr>
          <a:xfrm>
            <a:off x="6223000" y="4983485"/>
            <a:ext cx="531088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The rule “treat if size ≥ 1.17× start”:</a:t>
            </a:r>
            <a:r>
              <a:rPr lang="en-US" sz="1400" dirty="0">
                <a:solidFill>
                  <a:srgbClr val="4A5568"/>
                </a:solidFill>
                <a:latin typeface="IBM Plex Sans" pitchFamily="34" charset="0"/>
                <a:ea typeface="IBM Plex Sans" pitchFamily="34" charset="-122"/>
                <a:cs typeface="IBM Plex Sans" pitchFamily="34" charset="-120"/>
              </a:rPr>
              <a:t> 1945 days, 96% of the best plan (right). The information was there; the learning failed.</a:t>
            </a:r>
            <a:endParaRPr lang="en-US" sz="1400" dirty="0"/>
          </a:p>
        </p:txBody>
      </p:sp>
      <p:sp>
        <p:nvSpPr>
          <p:cNvPr id="8" name="Text 5"/>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Why it failed, and how we fixed it</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76102"/>
            <a:ext cx="5175250" cy="3224530"/>
          </a:xfrm>
          <a:prstGeom prst="roundRect">
            <a:avLst>
              <a:gd name="adj" fmla="val 3052"/>
            </a:avLst>
          </a:prstGeom>
          <a:solidFill>
            <a:srgbClr val="FFFFFF"/>
          </a:solidFill>
          <a:ln w="6350">
            <a:solidFill>
              <a:srgbClr val="E2DED3"/>
            </a:solidFill>
            <a:prstDash val="solid"/>
          </a:ln>
        </p:spPr>
      </p:sp>
      <p:sp>
        <p:nvSpPr>
          <p:cNvPr id="5" name="Text 3"/>
          <p:cNvSpPr/>
          <p:nvPr/>
        </p:nvSpPr>
        <p:spPr>
          <a:xfrm>
            <a:off x="1071880" y="2032000"/>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The problem: a confused judge</a:t>
            </a:r>
            <a:endParaRPr lang="en-US" sz="1700" dirty="0"/>
          </a:p>
        </p:txBody>
      </p:sp>
      <p:sp>
        <p:nvSpPr>
          <p:cNvPr id="6" name="Text 4"/>
          <p:cNvSpPr/>
          <p:nvPr/>
        </p:nvSpPr>
        <p:spPr>
          <a:xfrm>
            <a:off x="1071880" y="2418085"/>
            <a:ext cx="480334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Two tumours, the same size today (1.1× start). Blue = sensitive, orange = resistant.</a:t>
            </a:r>
            <a:endParaRPr lang="en-US" sz="1200" dirty="0"/>
          </a:p>
        </p:txBody>
      </p:sp>
      <p:sp>
        <p:nvSpPr>
          <p:cNvPr id="7" name="Text 5"/>
          <p:cNvSpPr/>
          <p:nvPr/>
        </p:nvSpPr>
        <p:spPr>
          <a:xfrm>
            <a:off x="1071880" y="2956558"/>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Tumour A</a:t>
            </a:r>
            <a:r>
              <a:rPr lang="en-US" sz="1200" dirty="0">
                <a:solidFill>
                  <a:srgbClr val="14213D"/>
                </a:solidFill>
                <a:latin typeface="IBM Plex Sans" pitchFamily="34" charset="0"/>
                <a:ea typeface="IBM Plex Sans" pitchFamily="34" charset="-122"/>
                <a:cs typeface="IBM Plex Sans" pitchFamily="34" charset="-120"/>
              </a:rPr>
              <a:t> · mostly sensitive · long future</a:t>
            </a:r>
            <a:endParaRPr lang="en-US" sz="1200" dirty="0"/>
          </a:p>
        </p:txBody>
      </p:sp>
      <p:sp>
        <p:nvSpPr>
          <p:cNvPr id="8" name="Shape 6"/>
          <p:cNvSpPr/>
          <p:nvPr/>
        </p:nvSpPr>
        <p:spPr>
          <a:xfrm>
            <a:off x="1071880" y="3220727"/>
            <a:ext cx="4197112" cy="254000"/>
          </a:xfrm>
          <a:custGeom>
            <a:avLst/>
            <a:gdLst/>
            <a:ahLst/>
            <a:cxnLst/>
            <a:rect l="l" t="t" r="r" b="b"/>
            <a:pathLst>
              <a:path w="4197112" h="254000">
                <a:moveTo>
                  <a:pt x="0" y="38100"/>
                </a:moveTo>
                <a:arcTo wR="38100" hR="38100" stAng="10800000" swAng="5400000"/>
                <a:lnTo>
                  <a:pt x="4197112" y="0"/>
                </a:lnTo>
                <a:lnTo>
                  <a:pt x="4197112" y="254000"/>
                </a:lnTo>
                <a:lnTo>
                  <a:pt x="38100" y="254000"/>
                </a:lnTo>
                <a:arcTo wR="38100" hR="38100" stAng="5400000" swAng="5400000"/>
                <a:close/>
              </a:path>
            </a:pathLst>
          </a:custGeom>
          <a:solidFill>
            <a:srgbClr val="2B6CB0"/>
          </a:solidFill>
          <a:ln/>
        </p:spPr>
      </p:sp>
      <p:sp>
        <p:nvSpPr>
          <p:cNvPr id="9" name="Shape 7"/>
          <p:cNvSpPr/>
          <p:nvPr/>
        </p:nvSpPr>
        <p:spPr>
          <a:xfrm>
            <a:off x="5268992" y="3220727"/>
            <a:ext cx="466328" cy="254000"/>
          </a:xfrm>
          <a:custGeom>
            <a:avLst/>
            <a:gdLst/>
            <a:ahLst/>
            <a:cxnLst/>
            <a:rect l="l" t="t" r="r" b="b"/>
            <a:pathLst>
              <a:path w="466328" h="254000">
                <a:moveTo>
                  <a:pt x="428228" y="0"/>
                </a:moveTo>
                <a:arcTo wR="38100" hR="38100" stAng="16200000" swAng="5400000"/>
                <a:lnTo>
                  <a:pt x="466328" y="215900"/>
                </a:lnTo>
                <a:arcTo wR="38100" hR="38100" stAng="0" swAng="5400000"/>
                <a:lnTo>
                  <a:pt x="0" y="254000"/>
                </a:lnTo>
                <a:lnTo>
                  <a:pt x="0" y="0"/>
                </a:lnTo>
                <a:close/>
              </a:path>
            </a:pathLst>
          </a:custGeom>
          <a:solidFill>
            <a:srgbClr val="E8A27C"/>
          </a:solidFill>
          <a:ln/>
        </p:spPr>
      </p:sp>
      <p:sp>
        <p:nvSpPr>
          <p:cNvPr id="10" name="Text 8"/>
          <p:cNvSpPr/>
          <p:nvPr/>
        </p:nvSpPr>
        <p:spPr>
          <a:xfrm>
            <a:off x="1071880" y="3601727"/>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Tumour B</a:t>
            </a:r>
            <a:r>
              <a:rPr lang="en-US" sz="1200" dirty="0">
                <a:solidFill>
                  <a:srgbClr val="14213D"/>
                </a:solidFill>
                <a:latin typeface="IBM Plex Sans" pitchFamily="34" charset="0"/>
                <a:ea typeface="IBM Plex Sans" pitchFamily="34" charset="-122"/>
                <a:cs typeface="IBM Plex Sans" pitchFamily="34" charset="-120"/>
              </a:rPr>
              <a:t> · mostly resistant · fails soon</a:t>
            </a:r>
            <a:endParaRPr lang="en-US" sz="1200" dirty="0"/>
          </a:p>
        </p:txBody>
      </p:sp>
      <p:sp>
        <p:nvSpPr>
          <p:cNvPr id="11" name="Shape 9"/>
          <p:cNvSpPr/>
          <p:nvPr/>
        </p:nvSpPr>
        <p:spPr>
          <a:xfrm>
            <a:off x="1071880" y="3865885"/>
            <a:ext cx="932656" cy="254000"/>
          </a:xfrm>
          <a:custGeom>
            <a:avLst/>
            <a:gdLst/>
            <a:ahLst/>
            <a:cxnLst/>
            <a:rect l="l" t="t" r="r" b="b"/>
            <a:pathLst>
              <a:path w="932656" h="254000">
                <a:moveTo>
                  <a:pt x="0" y="38100"/>
                </a:moveTo>
                <a:arcTo wR="38100" hR="38100" stAng="10800000" swAng="5400000"/>
                <a:lnTo>
                  <a:pt x="932656" y="0"/>
                </a:lnTo>
                <a:lnTo>
                  <a:pt x="932656" y="254000"/>
                </a:lnTo>
                <a:lnTo>
                  <a:pt x="38100" y="254000"/>
                </a:lnTo>
                <a:arcTo wR="38100" hR="38100" stAng="5400000" swAng="5400000"/>
                <a:close/>
              </a:path>
            </a:pathLst>
          </a:custGeom>
          <a:solidFill>
            <a:srgbClr val="2B6CB0"/>
          </a:solidFill>
          <a:ln/>
        </p:spPr>
      </p:sp>
      <p:sp>
        <p:nvSpPr>
          <p:cNvPr id="12" name="Shape 10"/>
          <p:cNvSpPr/>
          <p:nvPr/>
        </p:nvSpPr>
        <p:spPr>
          <a:xfrm>
            <a:off x="2004536" y="3865885"/>
            <a:ext cx="3730784" cy="254000"/>
          </a:xfrm>
          <a:custGeom>
            <a:avLst/>
            <a:gdLst/>
            <a:ahLst/>
            <a:cxnLst/>
            <a:rect l="l" t="t" r="r" b="b"/>
            <a:pathLst>
              <a:path w="3730784" h="254000">
                <a:moveTo>
                  <a:pt x="3692684" y="0"/>
                </a:moveTo>
                <a:arcTo wR="38100" hR="38100" stAng="16200000" swAng="5400000"/>
                <a:lnTo>
                  <a:pt x="3730784" y="215900"/>
                </a:lnTo>
                <a:arcTo wR="38100" hR="38100" stAng="0" swAng="5400000"/>
                <a:lnTo>
                  <a:pt x="0" y="254000"/>
                </a:lnTo>
                <a:lnTo>
                  <a:pt x="0" y="0"/>
                </a:lnTo>
                <a:close/>
              </a:path>
            </a:pathLst>
          </a:custGeom>
          <a:solidFill>
            <a:srgbClr val="E8A27C"/>
          </a:solidFill>
          <a:ln/>
        </p:spPr>
      </p:sp>
      <p:sp>
        <p:nvSpPr>
          <p:cNvPr id="13" name="Text 11"/>
          <p:cNvSpPr/>
          <p:nvPr/>
        </p:nvSpPr>
        <p:spPr>
          <a:xfrm>
            <a:off x="1071880" y="4246885"/>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AI’s internal judge sees one number for both, so it averages their futures and gives misleading advice.</a:t>
            </a:r>
            <a:endParaRPr lang="en-US" sz="1400" dirty="0"/>
          </a:p>
        </p:txBody>
      </p:sp>
      <p:sp>
        <p:nvSpPr>
          <p:cNvPr id="14" name="Shape 12"/>
          <p:cNvSpPr/>
          <p:nvPr/>
        </p:nvSpPr>
        <p:spPr>
          <a:xfrm>
            <a:off x="6200775" y="1776102"/>
            <a:ext cx="5175250" cy="3224530"/>
          </a:xfrm>
          <a:prstGeom prst="roundRect">
            <a:avLst>
              <a:gd name="adj" fmla="val 3052"/>
            </a:avLst>
          </a:prstGeom>
          <a:solidFill>
            <a:srgbClr val="FFFFFF"/>
          </a:solidFill>
          <a:ln w="6350">
            <a:solidFill>
              <a:srgbClr val="E2DED3"/>
            </a:solidFill>
            <a:prstDash val="solid"/>
          </a:ln>
        </p:spPr>
      </p:sp>
      <p:sp>
        <p:nvSpPr>
          <p:cNvPr id="15" name="Text 13"/>
          <p:cNvSpPr/>
          <p:nvPr/>
        </p:nvSpPr>
        <p:spPr>
          <a:xfrm>
            <a:off x="6456680" y="2032000"/>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The fix: a better judge, in training only</a:t>
            </a:r>
            <a:endParaRPr lang="en-US" sz="1700" dirty="0"/>
          </a:p>
        </p:txBody>
      </p:sp>
      <p:sp>
        <p:nvSpPr>
          <p:cNvPr id="16" name="Text 14"/>
          <p:cNvSpPr/>
          <p:nvPr/>
        </p:nvSpPr>
        <p:spPr>
          <a:xfrm>
            <a:off x="6456680" y="2418085"/>
            <a:ext cx="4663440" cy="716280"/>
          </a:xfrm>
          <a:prstGeom prst="roundRect">
            <a:avLst>
              <a:gd name="adj" fmla="val 10638"/>
            </a:avLst>
          </a:prstGeom>
          <a:solidFill>
            <a:srgbClr val="14213D"/>
          </a:solidFill>
          <a:ln/>
        </p:spPr>
        <p:txBody>
          <a:bodyPr wrap="square" lIns="155482" tIns="104682" rIns="26246" bIns="79282" rtlCol="0" anchor="t">
            <a:normAutofit/>
          </a:bodyPr>
          <a:lstStyle/>
          <a:p>
            <a:pPr marL="0" indent="0" algn="l">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Decision-maker</a:t>
            </a:r>
            <a:endParaRPr lang="en-US" sz="1300" dirty="0"/>
          </a:p>
          <a:p>
            <a:pPr marL="0" indent="0" algn="l">
              <a:lnSpc>
                <a:spcPts val="1820"/>
              </a:lnSpc>
              <a:buNone/>
            </a:pPr>
            <a:r>
              <a:rPr lang="en-US" sz="1300" dirty="0">
                <a:solidFill>
                  <a:srgbClr val="F3EFE6"/>
                </a:solidFill>
                <a:latin typeface="IBM Plex Sans" pitchFamily="34" charset="0"/>
                <a:ea typeface="IBM Plex Sans" pitchFamily="34" charset="-122"/>
                <a:cs typeface="IBM Plex Sans" pitchFamily="34" charset="-120"/>
              </a:rPr>
              <a:t>sees tumour size only, in training and in use</a:t>
            </a:r>
            <a:endParaRPr lang="en-US" sz="1300" dirty="0"/>
          </a:p>
        </p:txBody>
      </p:sp>
      <p:sp>
        <p:nvSpPr>
          <p:cNvPr id="17" name="Text 15"/>
          <p:cNvSpPr/>
          <p:nvPr/>
        </p:nvSpPr>
        <p:spPr>
          <a:xfrm>
            <a:off x="6463030" y="3267708"/>
            <a:ext cx="4650740" cy="723900"/>
          </a:xfrm>
          <a:prstGeom prst="roundRect">
            <a:avLst>
              <a:gd name="adj" fmla="val 9649"/>
            </a:avLst>
          </a:prstGeom>
          <a:solidFill>
            <a:srgbClr val="E6EEF8"/>
          </a:solidFill>
          <a:ln w="12700">
            <a:solidFill>
              <a:srgbClr val="2B6CB0"/>
            </a:solidFill>
            <a:prstDash val="solid"/>
          </a:ln>
        </p:spPr>
        <p:txBody>
          <a:bodyPr wrap="square" lIns="161152" tIns="110352" rIns="32526" bIns="84952"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Judge</a:t>
            </a:r>
            <a:endParaRPr lang="en-US" sz="1300" dirty="0"/>
          </a:p>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sees the full cell mix from the simulator, in training only</a:t>
            </a:r>
            <a:endParaRPr lang="en-US" sz="1300" dirty="0"/>
          </a:p>
        </p:txBody>
      </p:sp>
      <p:sp>
        <p:nvSpPr>
          <p:cNvPr id="18" name="Text 16"/>
          <p:cNvSpPr/>
          <p:nvPr/>
        </p:nvSpPr>
        <p:spPr>
          <a:xfrm>
            <a:off x="6456680" y="4124958"/>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After training the judge is dropped. The AI you would use still sees only size.</a:t>
            </a:r>
            <a:endParaRPr lang="en-US" sz="1400" dirty="0"/>
          </a:p>
        </p:txBody>
      </p:sp>
      <p:sp>
        <p:nvSpPr>
          <p:cNvPr id="19" name="Text 17"/>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0" name="Text 18"/>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With a better judge, seeing less worked better</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25302"/>
            <a:ext cx="10560050" cy="2937510"/>
          </a:xfrm>
          <a:prstGeom prst="roundRect">
            <a:avLst>
              <a:gd name="adj" fmla="val 2486"/>
            </a:avLst>
          </a:prstGeom>
          <a:solidFill>
            <a:srgbClr val="FFFFFF"/>
          </a:solidFill>
          <a:ln w="6350">
            <a:solidFill>
              <a:srgbClr val="E2DED3"/>
            </a:solidFill>
            <a:prstDash val="solid"/>
          </a:ln>
        </p:spPr>
      </p:sp>
      <p:pic>
        <p:nvPicPr>
          <p:cNvPr id="5" name="Image 0" descr="Left: chance of treating against tumour size for size-only AIs trained with the better judge; all four goals switch sharply at about 1.15 to 1.16. Right: days to failure per goal for full information (about 1500 to 1750), size only (about 600 to 770) and size only with the better judge (about 1780 to 1855)."/>
          <p:cNvPicPr>
            <a:picLocks noChangeAspect="1"/>
          </p:cNvPicPr>
          <p:nvPr/>
        </p:nvPicPr>
        <p:blipFill>
          <a:blip r:embed="rId3"/>
          <a:srcRect t="-18" b="-18"/>
          <a:stretch/>
        </p:blipFill>
        <p:spPr>
          <a:xfrm>
            <a:off x="1651000" y="1828800"/>
            <a:ext cx="8890000" cy="2730500"/>
          </a:xfrm>
          <a:prstGeom prst="rect">
            <a:avLst/>
          </a:prstGeom>
        </p:spPr>
      </p:pic>
      <p:sp>
        <p:nvSpPr>
          <p:cNvPr id="6" name="Text 3"/>
          <p:cNvSpPr/>
          <p:nvPr/>
        </p:nvSpPr>
        <p:spPr>
          <a:xfrm>
            <a:off x="812800" y="4818385"/>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Left: when each AI treats. Right: days per goal for three AIs: full cell mix · size only · size + better judge (“+critic”).</a:t>
            </a:r>
            <a:endParaRPr lang="en-US" sz="1200" dirty="0"/>
          </a:p>
        </p:txBody>
      </p:sp>
      <p:sp>
        <p:nvSpPr>
          <p:cNvPr id="7" name="Text 4"/>
          <p:cNvSpPr/>
          <p:nvPr/>
        </p:nvSpPr>
        <p:spPr>
          <a:xfrm>
            <a:off x="812800" y="5176527"/>
            <a:ext cx="531088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All 40 trained.</a:t>
            </a:r>
            <a:r>
              <a:rPr lang="en-US" sz="1400" dirty="0">
                <a:solidFill>
                  <a:srgbClr val="4A5568"/>
                </a:solidFill>
                <a:latin typeface="IBM Plex Sans" pitchFamily="34" charset="0"/>
                <a:ea typeface="IBM Plex Sans" pitchFamily="34" charset="-122"/>
                <a:cs typeface="IBM Plex Sans" pitchFamily="34" charset="-120"/>
              </a:rPr>
              <a:t> Each learned one sharp rule: treat when the tumour passes about 1.15× its start.</a:t>
            </a:r>
            <a:endParaRPr lang="en-US" sz="1400" dirty="0"/>
          </a:p>
        </p:txBody>
      </p:sp>
      <p:sp>
        <p:nvSpPr>
          <p:cNvPr id="8" name="Text 5"/>
          <p:cNvSpPr/>
          <p:nvPr/>
        </p:nvSpPr>
        <p:spPr>
          <a:xfrm>
            <a:off x="6223000" y="5176527"/>
            <a:ext cx="531088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6CB0"/>
                </a:solidFill>
                <a:latin typeface="IBM Plex Sans" pitchFamily="34" charset="0"/>
                <a:ea typeface="IBM Plex Sans" pitchFamily="34" charset="-122"/>
                <a:cs typeface="IBM Plex Sans" pitchFamily="34" charset="-120"/>
              </a:rPr>
              <a:t>1779–1855 days,</a:t>
            </a:r>
            <a:r>
              <a:rPr lang="en-US" sz="1400" dirty="0">
                <a:solidFill>
                  <a:srgbClr val="4A5568"/>
                </a:solidFill>
                <a:latin typeface="IBM Plex Sans" pitchFamily="34" charset="0"/>
                <a:ea typeface="IBM Plex Sans" pitchFamily="34" charset="-122"/>
                <a:cs typeface="IBM Plex Sans" pitchFamily="34" charset="-120"/>
              </a:rPr>
              <a:t> above the AIs that saw the full cell mix (1494–1751) on every goal.</a:t>
            </a:r>
            <a:endParaRPr lang="en-US" sz="1400" dirty="0"/>
          </a:p>
        </p:txBody>
      </p:sp>
      <p:sp>
        <p:nvSpPr>
          <p:cNvPr id="9" name="Text 6"/>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0" name="Text 7"/>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And the four goals nearly merged</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50702"/>
            <a:ext cx="6811010" cy="2689860"/>
          </a:xfrm>
          <a:prstGeom prst="roundRect">
            <a:avLst>
              <a:gd name="adj" fmla="val 2715"/>
            </a:avLst>
          </a:prstGeom>
          <a:solidFill>
            <a:srgbClr val="FFFFFF"/>
          </a:solidFill>
          <a:ln w="6350">
            <a:solidFill>
              <a:srgbClr val="E2DED3"/>
            </a:solidFill>
            <a:prstDash val="solid"/>
          </a:ln>
        </p:spPr>
      </p:sp>
      <p:pic>
        <p:nvPicPr>
          <p:cNvPr id="5" name="Image 0" descr="Left: score table for size-only AIs with the better judge; every AI row scores 0.80 to 0.92 on every goal. Right: days to failure per AI, tightly clustered: R1 about 1855, R2 1801, R3 1779, R4 1846."/>
          <p:cNvPicPr>
            <a:picLocks noChangeAspect="1"/>
          </p:cNvPicPr>
          <p:nvPr/>
        </p:nvPicPr>
        <p:blipFill>
          <a:blip r:embed="rId3"/>
          <a:srcRect l="-14" r="-14"/>
          <a:stretch/>
        </p:blipFill>
        <p:spPr>
          <a:xfrm>
            <a:off x="919480" y="1854200"/>
            <a:ext cx="6604000" cy="2482850"/>
          </a:xfrm>
          <a:prstGeom prst="rect">
            <a:avLst/>
          </a:prstGeom>
        </p:spPr>
      </p:pic>
      <p:sp>
        <p:nvSpPr>
          <p:cNvPr id="6" name="Shape 3"/>
          <p:cNvSpPr/>
          <p:nvPr/>
        </p:nvSpPr>
        <p:spPr>
          <a:xfrm>
            <a:off x="7903210" y="2009775"/>
            <a:ext cx="0" cy="622300"/>
          </a:xfrm>
          <a:prstGeom prst="line">
            <a:avLst/>
          </a:prstGeom>
          <a:noFill/>
          <a:ln w="38100">
            <a:solidFill>
              <a:srgbClr val="2B6CB0"/>
            </a:solidFill>
            <a:prstDash val="solid"/>
          </a:ln>
        </p:spPr>
      </p:sp>
      <p:sp>
        <p:nvSpPr>
          <p:cNvPr id="7" name="Text 4"/>
          <p:cNvSpPr/>
          <p:nvPr/>
        </p:nvSpPr>
        <p:spPr>
          <a:xfrm>
            <a:off x="8072120" y="2009775"/>
            <a:ext cx="34062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250 → 76 d</a:t>
            </a:r>
            <a:endParaRPr lang="en-US" sz="2800" dirty="0"/>
          </a:p>
        </p:txBody>
      </p:sp>
      <p:sp>
        <p:nvSpPr>
          <p:cNvPr id="8" name="Text 5"/>
          <p:cNvSpPr/>
          <p:nvPr/>
        </p:nvSpPr>
        <p:spPr>
          <a:xfrm>
            <a:off x="8072120" y="2426333"/>
            <a:ext cx="34062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gap between survival and keep-the-mix AIs</a:t>
            </a:r>
            <a:endParaRPr lang="en-US" sz="1200" dirty="0"/>
          </a:p>
        </p:txBody>
      </p:sp>
      <p:sp>
        <p:nvSpPr>
          <p:cNvPr id="9" name="Shape 6"/>
          <p:cNvSpPr/>
          <p:nvPr/>
        </p:nvSpPr>
        <p:spPr>
          <a:xfrm>
            <a:off x="7903210" y="2784475"/>
            <a:ext cx="0" cy="622300"/>
          </a:xfrm>
          <a:prstGeom prst="line">
            <a:avLst/>
          </a:prstGeom>
          <a:noFill/>
          <a:ln w="38100">
            <a:solidFill>
              <a:srgbClr val="2B6CB0"/>
            </a:solidFill>
            <a:prstDash val="solid"/>
          </a:ln>
        </p:spPr>
      </p:sp>
      <p:sp>
        <p:nvSpPr>
          <p:cNvPr id="10" name="Text 7"/>
          <p:cNvSpPr/>
          <p:nvPr/>
        </p:nvSpPr>
        <p:spPr>
          <a:xfrm>
            <a:off x="8072120" y="2784475"/>
            <a:ext cx="34062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18% → 3.5%</a:t>
            </a:r>
            <a:endParaRPr lang="en-US" sz="2800" dirty="0"/>
          </a:p>
        </p:txBody>
      </p:sp>
      <p:sp>
        <p:nvSpPr>
          <p:cNvPr id="11" name="Text 8"/>
          <p:cNvSpPr/>
          <p:nvPr/>
        </p:nvSpPr>
        <p:spPr>
          <a:xfrm>
            <a:off x="8072120" y="3201033"/>
            <a:ext cx="34062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worst cost of picking the wrong goal</a:t>
            </a:r>
            <a:endParaRPr lang="en-US" sz="1200" dirty="0"/>
          </a:p>
        </p:txBody>
      </p:sp>
      <p:sp>
        <p:nvSpPr>
          <p:cNvPr id="12" name="Shape 9"/>
          <p:cNvSpPr/>
          <p:nvPr/>
        </p:nvSpPr>
        <p:spPr>
          <a:xfrm>
            <a:off x="7903210" y="3559175"/>
            <a:ext cx="0" cy="622300"/>
          </a:xfrm>
          <a:prstGeom prst="line">
            <a:avLst/>
          </a:prstGeom>
          <a:noFill/>
          <a:ln w="38100">
            <a:solidFill>
              <a:srgbClr val="2B6CB0"/>
            </a:solidFill>
            <a:prstDash val="solid"/>
          </a:ln>
        </p:spPr>
      </p:sp>
      <p:sp>
        <p:nvSpPr>
          <p:cNvPr id="13" name="Text 10"/>
          <p:cNvSpPr/>
          <p:nvPr/>
        </p:nvSpPr>
        <p:spPr>
          <a:xfrm>
            <a:off x="8072120" y="3559175"/>
            <a:ext cx="3406292"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0.80–0.92</a:t>
            </a:r>
            <a:endParaRPr lang="en-US" sz="2800" dirty="0"/>
          </a:p>
        </p:txBody>
      </p:sp>
      <p:sp>
        <p:nvSpPr>
          <p:cNvPr id="14" name="Text 11"/>
          <p:cNvSpPr/>
          <p:nvPr/>
        </p:nvSpPr>
        <p:spPr>
          <a:xfrm>
            <a:off x="8072120" y="3975733"/>
            <a:ext cx="34062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every AI’s score, on every goal</a:t>
            </a:r>
            <a:endParaRPr lang="en-US" sz="1200" dirty="0"/>
          </a:p>
        </p:txBody>
      </p:sp>
      <p:sp>
        <p:nvSpPr>
          <p:cNvPr id="15" name="Text 12"/>
          <p:cNvSpPr/>
          <p:nvPr/>
        </p:nvSpPr>
        <p:spPr>
          <a:xfrm>
            <a:off x="812800" y="4621535"/>
            <a:ext cx="10566400" cy="802640"/>
          </a:xfrm>
          <a:prstGeom prst="roundRect">
            <a:avLst>
              <a:gd name="adj" fmla="val 9494"/>
            </a:avLst>
          </a:prstGeom>
          <a:solidFill>
            <a:srgbClr val="14213D"/>
          </a:solidFill>
          <a:ln/>
        </p:spPr>
        <p:txBody>
          <a:bodyPr wrap="square" lIns="206282" tIns="130082" rIns="0" bIns="104682" rtlCol="0" anchor="t">
            <a:normAutofit/>
          </a:bodyPr>
          <a:lstStyle/>
          <a:p>
            <a:pPr marL="0" indent="0" algn="l">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Why:</a:t>
            </a:r>
            <a:r>
              <a:rPr lang="en-US" sz="1400" dirty="0">
                <a:solidFill>
                  <a:srgbClr val="F3EFE6"/>
                </a:solidFill>
                <a:latin typeface="IBM Plex Sans" pitchFamily="34" charset="0"/>
                <a:ea typeface="IBM Plex Sans" pitchFamily="34" charset="-122"/>
                <a:cs typeface="IBM Plex Sans" pitchFamily="34" charset="-120"/>
              </a:rPr>
              <a:t> keep-the-mix can’t chase a cell mix it cannot see. Most of the goal effect in chapter 2 needed information a doctor does not have.</a:t>
            </a:r>
            <a:endParaRPr lang="en-US" sz="1400" dirty="0"/>
          </a:p>
        </p:txBody>
      </p:sp>
      <p:sp>
        <p:nvSpPr>
          <p:cNvPr id="16" name="Text 1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7" name="Text 14"/>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What the AI sees decides how much its goal matters</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2800" y="1772927"/>
            <a:ext cx="10566400" cy="2316480"/>
          </a:xfrm>
          <a:prstGeom prst="rect">
            <a:avLst/>
          </a:prstGeom>
          <a:solidFill>
            <a:srgbClr val="FFFFFF"/>
          </a:solidFill>
          <a:ln/>
        </p:spPr>
      </p:sp>
      <p:sp>
        <p:nvSpPr>
          <p:cNvPr id="5" name="Shape 3"/>
          <p:cNvSpPr/>
          <p:nvPr/>
        </p:nvSpPr>
        <p:spPr>
          <a:xfrm>
            <a:off x="11376025" y="1772927"/>
            <a:ext cx="0" cy="2316480"/>
          </a:xfrm>
          <a:prstGeom prst="line">
            <a:avLst/>
          </a:prstGeom>
          <a:noFill/>
          <a:ln w="6350">
            <a:solidFill>
              <a:srgbClr val="E2DED3"/>
            </a:solidFill>
            <a:prstDash val="solid"/>
          </a:ln>
        </p:spPr>
      </p:sp>
      <p:sp>
        <p:nvSpPr>
          <p:cNvPr id="6" name="Shape 4"/>
          <p:cNvSpPr/>
          <p:nvPr/>
        </p:nvSpPr>
        <p:spPr>
          <a:xfrm>
            <a:off x="812800" y="4086233"/>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83087"/>
          <a:ext cx="10551161" cy="2301240"/>
        </p:xfrm>
        <a:graphic>
          <a:graphicData uri="http://schemas.openxmlformats.org/drawingml/2006/table">
            <a:tbl>
              <a:tblPr/>
              <a:tblGrid>
                <a:gridCol w="3903929">
                  <a:extLst>
                    <a:ext uri="{9D8B030D-6E8A-4147-A177-3AD203B41FA5}">
                      <a16:colId xmlns:a16="http://schemas.microsoft.com/office/drawing/2014/main" val="20000"/>
                    </a:ext>
                  </a:extLst>
                </a:gridCol>
                <a:gridCol w="2215744">
                  <a:extLst>
                    <a:ext uri="{9D8B030D-6E8A-4147-A177-3AD203B41FA5}">
                      <a16:colId xmlns:a16="http://schemas.microsoft.com/office/drawing/2014/main" val="20001"/>
                    </a:ext>
                  </a:extLst>
                </a:gridCol>
                <a:gridCol w="2215744">
                  <a:extLst>
                    <a:ext uri="{9D8B030D-6E8A-4147-A177-3AD203B41FA5}">
                      <a16:colId xmlns:a16="http://schemas.microsoft.com/office/drawing/2014/main" val="20002"/>
                    </a:ext>
                  </a:extLst>
                </a:gridCol>
                <a:gridCol w="2215744">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The AI sees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Score vs best plan</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Survival vs mix gap</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Wrong-goal cost</a:t>
                      </a:r>
                      <a:endParaRPr lang="en-US" sz="1400" dirty="0">
                        <a:latin typeface="IBM Plex Sans" charset="0"/>
                        <a:ea typeface="IBM Plex Sans" charset="0"/>
                        <a:cs typeface="IBM Plex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full cell mix (E4)</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0.76–0.87</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250 d</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18%</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Size only (E11)</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0.21–0.37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did not train</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Size + better judge (E11b)</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0.80–0.92</a:t>
                      </a:r>
                      <a:endParaRPr lang="en-US" sz="1400" dirty="0">
                        <a:latin typeface="IBM Plex Sans" charset="0"/>
                        <a:ea typeface="IBM Plex Sans" charset="0"/>
                        <a:cs typeface="IBM Plex Sans" charset="0"/>
                      </a:endParaRPr>
                    </a:p>
                  </a:txBody>
                  <a:tcPr marL="62230" marR="62230" marT="62230" marB="62230">
                    <a:lnL w="12700" cap="flat" cmpd="sng" algn="ctr">
                      <a:solidFill>
                        <a:srgbClr val="B8BEC6"/>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76 d</a:t>
                      </a:r>
                      <a:endParaRPr lang="en-US" sz="1400" dirty="0">
                        <a:latin typeface="IBM Plex Sans" charset="0"/>
                        <a:ea typeface="IBM Plex Sans" charset="0"/>
                        <a:cs typeface="IBM Plex Sans" charset="0"/>
                      </a:endParaRPr>
                    </a:p>
                  </a:txBody>
                  <a:tcPr marL="62230" marR="62230" marT="62230" marB="62230">
                    <a:lnL w="12700" cap="flat" cmpd="sng" algn="ctr">
                      <a:solidFill>
                        <a:srgbClr val="B8BEC6"/>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3.5%</a:t>
                      </a:r>
                      <a:endParaRPr lang="en-US" sz="1400" dirty="0">
                        <a:latin typeface="IBM Plex Sans" charset="0"/>
                        <a:ea typeface="IBM Plex Sans" charset="0"/>
                        <a:cs typeface="IBM Plex Sans" charset="0"/>
                      </a:endParaRPr>
                    </a:p>
                  </a:txBody>
                  <a:tcPr marL="62230" marR="62230" marT="62230" marB="62230">
                    <a:lnL w="12700" cap="flat" cmpd="sng" algn="ctr">
                      <a:solidFill>
                        <a:srgbClr val="B8BEC6"/>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Last 8 weeks of size (E11c)</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0.71–0.86</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220 d</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10.5%</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8 weeks, 3× training (E11d)</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0.80–0.92</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235 d</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marL="0" indent="0" algn="r">
                        <a:lnSpc>
                          <a:spcPts val="1960"/>
                        </a:lnSpc>
                        <a:buNone/>
                      </a:pPr>
                      <a:r>
                        <a:rPr lang="en-US" sz="1400" dirty="0">
                          <a:solidFill>
                            <a:srgbClr val="14213D"/>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extLst>
                  <a:ext uri="{0D108BD9-81ED-4DB2-BD59-A6C34878D82A}">
                    <a16:rowId xmlns:a16="http://schemas.microsoft.com/office/drawing/2014/main" val="10005"/>
                  </a:ext>
                </a:extLst>
              </a:tr>
            </a:tbl>
          </a:graphicData>
        </a:graphic>
      </p:graphicFrame>
      <p:sp>
        <p:nvSpPr>
          <p:cNvPr id="8" name="Text 5"/>
          <p:cNvSpPr/>
          <p:nvPr/>
        </p:nvSpPr>
        <p:spPr>
          <a:xfrm>
            <a:off x="812800" y="4292600"/>
            <a:ext cx="10566400" cy="802640"/>
          </a:xfrm>
          <a:prstGeom prst="rect">
            <a:avLst/>
          </a:prstGeom>
          <a:solidFill>
            <a:srgbClr val="E6EEF8"/>
          </a:solidFill>
          <a:ln/>
        </p:spPr>
        <p:txBody>
          <a:bodyPr wrap="square" lIns="289560" tIns="152400" rIns="0" bIns="12700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 memory brings some differences back, but as noise, not insight.</a:t>
            </a:r>
            <a:r>
              <a:rPr lang="en-US" sz="1400" dirty="0">
                <a:solidFill>
                  <a:srgbClr val="14213D"/>
                </a:solidFill>
                <a:latin typeface="IBM Plex Sans" pitchFamily="34" charset="0"/>
                <a:ea typeface="IBM Plex Sans" pitchFamily="34" charset="-122"/>
                <a:cs typeface="IBM Plex Sans" pitchFamily="34" charset="-120"/>
              </a:rPr>
              <a:t> Memory AIs trained on less drug or keep the mix are no better at their own goals than survival-trained ones, and copies disagree 4× more, even with 3× training.</a:t>
            </a:r>
            <a:endParaRPr lang="en-US" sz="1400" dirty="0"/>
          </a:p>
        </p:txBody>
      </p:sp>
      <p:sp>
        <p:nvSpPr>
          <p:cNvPr id="9" name="Shape 6"/>
          <p:cNvSpPr/>
          <p:nvPr/>
        </p:nvSpPr>
        <p:spPr>
          <a:xfrm>
            <a:off x="831850" y="4292600"/>
            <a:ext cx="0" cy="802640"/>
          </a:xfrm>
          <a:prstGeom prst="line">
            <a:avLst/>
          </a:prstGeom>
          <a:noFill/>
          <a:ln w="38100">
            <a:solidFill>
              <a:srgbClr val="2B6CB0"/>
            </a:solidFill>
            <a:prstDash val="solid"/>
          </a:ln>
        </p:spPr>
      </p:sp>
      <p:sp>
        <p:nvSpPr>
          <p:cNvPr id="10" name="Text 7"/>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1" name="Text 8"/>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IBM Plex Sans" pitchFamily="34" charset="0"/>
                <a:ea typeface="IBM Plex Sans" pitchFamily="34" charset="-122"/>
                <a:cs typeface="IBM Plex Sans" pitchFamily="34" charset="-120"/>
              </a:rPr>
              <a:t>CHAPTER 4 · WHAT THE AI IS ALLOWED TO SEE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In a fair race, the better judge still wins</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725302"/>
            <a:ext cx="10560050" cy="2727960"/>
          </a:xfrm>
          <a:prstGeom prst="roundRect">
            <a:avLst>
              <a:gd name="adj" fmla="val 2677"/>
            </a:avLst>
          </a:prstGeom>
          <a:solidFill>
            <a:srgbClr val="FFFFFF"/>
          </a:solidFill>
          <a:ln w="6350">
            <a:solidFill>
              <a:srgbClr val="E2DED3"/>
            </a:solidFill>
            <a:prstDash val="solid"/>
          </a:ln>
        </p:spPr>
      </p:sp>
      <p:pic>
        <p:nvPicPr>
          <p:cNvPr id="5" name="Image 0" descr="Survival during training over 3 million steps. Left, AIs that see the full cell mix: R1 and R4 reach about 1800 days, R2 about 1740, R3 about 1640. Right, size-only AIs with the better judge: all four goals reach about 1860 to 1890 days, close together."/>
          <p:cNvPicPr>
            <a:picLocks noChangeAspect="1"/>
          </p:cNvPicPr>
          <p:nvPr/>
        </p:nvPicPr>
        <p:blipFill>
          <a:blip r:embed="rId3"/>
          <a:srcRect t="-39" b="-39"/>
          <a:stretch/>
        </p:blipFill>
        <p:spPr>
          <a:xfrm>
            <a:off x="1968500" y="1828800"/>
            <a:ext cx="8255000" cy="2520950"/>
          </a:xfrm>
          <a:prstGeom prst="rect">
            <a:avLst/>
          </a:prstGeom>
        </p:spPr>
      </p:pic>
      <p:sp>
        <p:nvSpPr>
          <p:cNvPr id="6" name="Text 3"/>
          <p:cNvSpPr/>
          <p:nvPr/>
        </p:nvSpPr>
        <p:spPr>
          <a:xfrm>
            <a:off x="812800" y="4608835"/>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Survival during training, every AI given 3 million steps (A2). Left: sees the full cell mix. Right: sees size, with the better judge.</a:t>
            </a:r>
            <a:endParaRPr lang="en-US" sz="1200" dirty="0"/>
          </a:p>
        </p:txBody>
      </p:sp>
      <p:sp>
        <p:nvSpPr>
          <p:cNvPr id="7" name="Shape 4"/>
          <p:cNvSpPr/>
          <p:nvPr/>
        </p:nvSpPr>
        <p:spPr>
          <a:xfrm>
            <a:off x="812800" y="4970152"/>
            <a:ext cx="10566400" cy="0"/>
          </a:xfrm>
          <a:prstGeom prst="line">
            <a:avLst/>
          </a:prstGeom>
          <a:noFill/>
          <a:ln w="6350">
            <a:solidFill>
              <a:srgbClr val="D6D2C6"/>
            </a:solidFill>
            <a:prstDash val="solid"/>
          </a:ln>
        </p:spPr>
      </p:sp>
      <p:sp>
        <p:nvSpPr>
          <p:cNvPr id="8" name="Text 5"/>
          <p:cNvSpPr/>
          <p:nvPr/>
        </p:nvSpPr>
        <p:spPr>
          <a:xfrm>
            <a:off x="812800" y="5099050"/>
            <a:ext cx="2263585"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0.97</a:t>
            </a:r>
            <a:endParaRPr lang="en-US" sz="2800" dirty="0"/>
          </a:p>
        </p:txBody>
      </p:sp>
      <p:sp>
        <p:nvSpPr>
          <p:cNvPr id="9" name="Text 6"/>
          <p:cNvSpPr/>
          <p:nvPr/>
        </p:nvSpPr>
        <p:spPr>
          <a:xfrm>
            <a:off x="812800" y="5515608"/>
            <a:ext cx="2263585"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size + better judge</a:t>
            </a:r>
            <a:endParaRPr lang="en-US" sz="1200" dirty="0"/>
          </a:p>
        </p:txBody>
      </p:sp>
      <p:sp>
        <p:nvSpPr>
          <p:cNvPr id="10" name="Text 7"/>
          <p:cNvSpPr/>
          <p:nvPr/>
        </p:nvSpPr>
        <p:spPr>
          <a:xfrm>
            <a:off x="3162856" y="5099050"/>
            <a:ext cx="2263585"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4213D"/>
                </a:solidFill>
                <a:latin typeface="Source Serif 4" pitchFamily="18" charset="0"/>
                <a:ea typeface="Source Serif 4" pitchFamily="18" charset="-122"/>
                <a:cs typeface="Source Serif 4" pitchFamily="18" charset="-120"/>
              </a:rPr>
              <a:t>0.94</a:t>
            </a:r>
            <a:endParaRPr lang="en-US" sz="2800" dirty="0"/>
          </a:p>
        </p:txBody>
      </p:sp>
      <p:sp>
        <p:nvSpPr>
          <p:cNvPr id="11" name="Text 8"/>
          <p:cNvSpPr/>
          <p:nvPr/>
        </p:nvSpPr>
        <p:spPr>
          <a:xfrm>
            <a:off x="3162856" y="5515608"/>
            <a:ext cx="2263585"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full cell mix</a:t>
            </a:r>
            <a:endParaRPr lang="en-US" sz="1200" dirty="0"/>
          </a:p>
        </p:txBody>
      </p:sp>
      <p:sp>
        <p:nvSpPr>
          <p:cNvPr id="12" name="Text 9"/>
          <p:cNvSpPr/>
          <p:nvPr/>
        </p:nvSpPr>
        <p:spPr>
          <a:xfrm>
            <a:off x="5512911" y="5099050"/>
            <a:ext cx="2263585"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4213D"/>
                </a:solidFill>
                <a:latin typeface="Source Serif 4" pitchFamily="18" charset="0"/>
                <a:ea typeface="Source Serif 4" pitchFamily="18" charset="-122"/>
                <a:cs typeface="Source Serif 4" pitchFamily="18" charset="-120"/>
              </a:rPr>
              <a:t>0.92</a:t>
            </a:r>
            <a:endParaRPr lang="en-US" sz="2800" dirty="0"/>
          </a:p>
        </p:txBody>
      </p:sp>
      <p:sp>
        <p:nvSpPr>
          <p:cNvPr id="13" name="Text 10"/>
          <p:cNvSpPr/>
          <p:nvPr/>
        </p:nvSpPr>
        <p:spPr>
          <a:xfrm>
            <a:off x="5512911" y="5515608"/>
            <a:ext cx="2263585"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8-week memory</a:t>
            </a:r>
            <a:endParaRPr lang="en-US" sz="1200" dirty="0"/>
          </a:p>
        </p:txBody>
      </p:sp>
      <p:sp>
        <p:nvSpPr>
          <p:cNvPr id="14" name="Text 11"/>
          <p:cNvSpPr/>
          <p:nvPr/>
        </p:nvSpPr>
        <p:spPr>
          <a:xfrm>
            <a:off x="7862967" y="5099050"/>
            <a:ext cx="3621720"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1927–1974 d</a:t>
            </a:r>
            <a:endParaRPr lang="en-US" sz="2800" dirty="0"/>
          </a:p>
        </p:txBody>
      </p:sp>
      <p:sp>
        <p:nvSpPr>
          <p:cNvPr id="15" name="Text 12"/>
          <p:cNvSpPr/>
          <p:nvPr/>
        </p:nvSpPr>
        <p:spPr>
          <a:xfrm>
            <a:off x="7862967" y="5515608"/>
            <a:ext cx="362172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the best AIs of the whole project</a:t>
            </a:r>
            <a:endParaRPr lang="en-US" sz="1200" dirty="0"/>
          </a:p>
        </p:txBody>
      </p:sp>
      <p:sp>
        <p:nvSpPr>
          <p:cNvPr id="16" name="Text 1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7" name="Text 14"/>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CHAPTER 5 · TOWARD THE CLINIC</a:t>
            </a:r>
            <a:endParaRPr lang="en-US" sz="1200" dirty="0"/>
          </a:p>
        </p:txBody>
      </p:sp>
      <p:sp>
        <p:nvSpPr>
          <p:cNvPr id="3" name="Text 1"/>
          <p:cNvSpPr>
            <a:spLocks noGrp="1"/>
          </p:cNvSpPr>
          <p:nvPr>
            <p:ph type="title"/>
          </p:nvPr>
        </p:nvSpPr>
        <p:spPr>
          <a:xfrm>
            <a:off x="812800" y="13600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dirty="0">
                <a:latin typeface="Times New Roman" panose="02020603050405020304" pitchFamily="18" charset="0"/>
                <a:cs typeface="Times New Roman" panose="02020603050405020304" pitchFamily="18" charset="0"/>
              </a:rPr>
              <a:t>Towards the reality that would happen in a clinic</a:t>
            </a:r>
          </a:p>
        </p:txBody>
      </p:sp>
      <p:sp>
        <p:nvSpPr>
          <p:cNvPr id="4" name="Shape 2"/>
          <p:cNvSpPr/>
          <p:nvPr/>
        </p:nvSpPr>
        <p:spPr>
          <a:xfrm>
            <a:off x="815975" y="2351410"/>
            <a:ext cx="5175250" cy="2503170"/>
          </a:xfrm>
          <a:prstGeom prst="roundRect">
            <a:avLst>
              <a:gd name="adj" fmla="val 3932"/>
            </a:avLst>
          </a:prstGeom>
          <a:solidFill>
            <a:srgbClr val="FFFFFF"/>
          </a:solidFill>
          <a:ln w="6350">
            <a:solidFill>
              <a:srgbClr val="E2DED3"/>
            </a:solidFill>
            <a:prstDash val="solid"/>
          </a:ln>
        </p:spPr>
      </p:sp>
      <p:sp>
        <p:nvSpPr>
          <p:cNvPr id="5" name="Text 3"/>
          <p:cNvSpPr/>
          <p:nvPr/>
        </p:nvSpPr>
        <p:spPr>
          <a:xfrm>
            <a:off x="1071880" y="2607308"/>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One smart middle dose</a:t>
            </a:r>
            <a:endParaRPr lang="en-US" sz="1700" dirty="0"/>
          </a:p>
        </p:txBody>
      </p:sp>
      <p:sp>
        <p:nvSpPr>
          <p:cNvPr id="6" name="Text 4"/>
          <p:cNvSpPr/>
          <p:nvPr/>
        </p:nvSpPr>
        <p:spPr>
          <a:xfrm>
            <a:off x="1071880" y="2993392"/>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Dose levels (D1–D3)</a:t>
            </a:r>
            <a:endParaRPr lang="en-US" sz="1200" dirty="0"/>
          </a:p>
        </p:txBody>
      </p:sp>
      <p:sp>
        <p:nvSpPr>
          <p:cNvPr id="7" name="Text 5"/>
          <p:cNvSpPr/>
          <p:nvPr/>
        </p:nvSpPr>
        <p:spPr>
          <a:xfrm>
            <a:off x="1071880" y="3333750"/>
            <a:ext cx="4803343"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⅔ dose</a:t>
            </a:r>
            <a:endParaRPr lang="en-US" sz="2800" dirty="0"/>
          </a:p>
        </p:txBody>
      </p:sp>
      <p:sp>
        <p:nvSpPr>
          <p:cNvPr id="8" name="Text 6"/>
          <p:cNvSpPr/>
          <p:nvPr/>
        </p:nvSpPr>
        <p:spPr>
          <a:xfrm>
            <a:off x="1071880" y="3851908"/>
            <a:ext cx="480334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dose that exactly freezes sensitive-cell growth. A middle dose adds 70–168 days. More dose levels help the exact planner, but make the AI worse.</a:t>
            </a:r>
            <a:endParaRPr lang="en-US" sz="1400" dirty="0"/>
          </a:p>
        </p:txBody>
      </p:sp>
      <p:sp>
        <p:nvSpPr>
          <p:cNvPr id="9" name="Shape 7"/>
          <p:cNvSpPr/>
          <p:nvPr/>
        </p:nvSpPr>
        <p:spPr>
          <a:xfrm>
            <a:off x="6200775" y="2351410"/>
            <a:ext cx="5175250" cy="2503170"/>
          </a:xfrm>
          <a:prstGeom prst="roundRect">
            <a:avLst>
              <a:gd name="adj" fmla="val 3932"/>
            </a:avLst>
          </a:prstGeom>
          <a:solidFill>
            <a:srgbClr val="FFFFFF"/>
          </a:solidFill>
          <a:ln w="6350">
            <a:solidFill>
              <a:srgbClr val="E2DED3"/>
            </a:solidFill>
            <a:prstDash val="solid"/>
          </a:ln>
        </p:spPr>
      </p:sp>
      <p:sp>
        <p:nvSpPr>
          <p:cNvPr id="10" name="Text 8"/>
          <p:cNvSpPr/>
          <p:nvPr/>
        </p:nvSpPr>
        <p:spPr>
          <a:xfrm>
            <a:off x="6456680" y="2607308"/>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Calmer schedules cost little</a:t>
            </a:r>
            <a:endParaRPr lang="en-US" sz="1700" dirty="0"/>
          </a:p>
        </p:txBody>
      </p:sp>
      <p:sp>
        <p:nvSpPr>
          <p:cNvPr id="11" name="Text 9"/>
          <p:cNvSpPr/>
          <p:nvPr/>
        </p:nvSpPr>
        <p:spPr>
          <a:xfrm>
            <a:off x="6456680" y="2993392"/>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Dose switching (B3, D4)</a:t>
            </a:r>
            <a:endParaRPr lang="en-US" sz="1200" dirty="0"/>
          </a:p>
        </p:txBody>
      </p:sp>
      <p:sp>
        <p:nvSpPr>
          <p:cNvPr id="12" name="Text 10"/>
          <p:cNvSpPr/>
          <p:nvPr/>
        </p:nvSpPr>
        <p:spPr>
          <a:xfrm>
            <a:off x="6456680" y="3333750"/>
            <a:ext cx="4803343"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2B6CB0"/>
                </a:solidFill>
                <a:latin typeface="Source Serif 4" pitchFamily="18" charset="0"/>
                <a:ea typeface="Source Serif 4" pitchFamily="18" charset="-122"/>
                <a:cs typeface="Source Serif 4" pitchFamily="18" charset="-120"/>
              </a:rPr>
              <a:t>9 switches a year</a:t>
            </a:r>
            <a:endParaRPr lang="en-US" sz="2800" dirty="0"/>
          </a:p>
        </p:txBody>
      </p:sp>
      <p:sp>
        <p:nvSpPr>
          <p:cNvPr id="13" name="Text 11"/>
          <p:cNvSpPr/>
          <p:nvPr/>
        </p:nvSpPr>
        <p:spPr>
          <a:xfrm>
            <a:off x="6456680" y="3851908"/>
            <a:ext cx="480334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Best plans change dose on about half of all weeks. Calmed to 9 a year, the plan keeps 87% of its benefit and still lasts 55% longer than the best human rule.</a:t>
            </a:r>
            <a:endParaRPr lang="en-US" sz="1400" dirty="0"/>
          </a:p>
        </p:txBody>
      </p:sp>
      <p:sp>
        <p:nvSpPr>
          <p:cNvPr id="14" name="Text 12"/>
          <p:cNvSpPr/>
          <p:nvPr/>
        </p:nvSpPr>
        <p:spPr>
          <a:xfrm>
            <a:off x="812800" y="5636258"/>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7280"/>
                </a:solidFill>
                <a:latin typeface="IBM Plex Sans" pitchFamily="34" charset="0"/>
                <a:ea typeface="IBM Plex Sans" pitchFamily="34" charset="-122"/>
                <a:cs typeface="IBM Plex Sans" pitchFamily="34" charset="-120"/>
              </a:rPr>
              <a:t>Also checked (B1): good strategies are on drug about 72% of the time, so living longer simply costs more total drug.</a:t>
            </a:r>
            <a:endParaRPr lang="en-US" sz="1200" dirty="0"/>
          </a:p>
        </p:txBody>
      </p:sp>
      <p:sp>
        <p:nvSpPr>
          <p:cNvPr id="15" name="Text 13"/>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6" name="Text 14"/>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WHAT WE FOUND</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Four things we learned</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801502"/>
            <a:ext cx="5175250" cy="1281430"/>
          </a:xfrm>
          <a:prstGeom prst="roundRect">
            <a:avLst>
              <a:gd name="adj" fmla="val 7681"/>
            </a:avLst>
          </a:prstGeom>
          <a:solidFill>
            <a:srgbClr val="FFFFFF"/>
          </a:solidFill>
          <a:ln w="6350">
            <a:solidFill>
              <a:srgbClr val="E2DED3"/>
            </a:solidFill>
            <a:prstDash val="solid"/>
          </a:ln>
        </p:spPr>
      </p:sp>
      <p:sp>
        <p:nvSpPr>
          <p:cNvPr id="5" name="Text 3"/>
          <p:cNvSpPr/>
          <p:nvPr/>
        </p:nvSpPr>
        <p:spPr>
          <a:xfrm>
            <a:off x="1046480" y="2032000"/>
            <a:ext cx="273129" cy="8458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B6CB0"/>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1446609" y="2032000"/>
            <a:ext cx="444353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Most goals lead to containment</a:t>
            </a:r>
            <a:endParaRPr lang="en-US" sz="1700" dirty="0"/>
          </a:p>
        </p:txBody>
      </p:sp>
      <p:sp>
        <p:nvSpPr>
          <p:cNvPr id="7" name="Text 5"/>
          <p:cNvSpPr/>
          <p:nvPr/>
        </p:nvSpPr>
        <p:spPr>
          <a:xfrm>
            <a:off x="1446609" y="2354585"/>
            <a:ext cx="444353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Survival, less drug and lasting control all hold the tumour just under the line.</a:t>
            </a:r>
            <a:endParaRPr lang="en-US" sz="1400" dirty="0"/>
          </a:p>
        </p:txBody>
      </p:sp>
      <p:sp>
        <p:nvSpPr>
          <p:cNvPr id="8" name="Shape 6"/>
          <p:cNvSpPr/>
          <p:nvPr/>
        </p:nvSpPr>
        <p:spPr>
          <a:xfrm>
            <a:off x="6200775" y="1801502"/>
            <a:ext cx="5175250" cy="1281430"/>
          </a:xfrm>
          <a:prstGeom prst="roundRect">
            <a:avLst>
              <a:gd name="adj" fmla="val 7681"/>
            </a:avLst>
          </a:prstGeom>
          <a:solidFill>
            <a:srgbClr val="FFFFFF"/>
          </a:solidFill>
          <a:ln w="6350">
            <a:solidFill>
              <a:srgbClr val="E2DED3"/>
            </a:solidFill>
            <a:prstDash val="solid"/>
          </a:ln>
        </p:spPr>
      </p:sp>
      <p:sp>
        <p:nvSpPr>
          <p:cNvPr id="9" name="Text 7"/>
          <p:cNvSpPr/>
          <p:nvPr/>
        </p:nvSpPr>
        <p:spPr>
          <a:xfrm>
            <a:off x="6431280" y="2032000"/>
            <a:ext cx="273129" cy="8458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B54A1A"/>
                </a:solidFill>
                <a:latin typeface="Source Serif 4" pitchFamily="18" charset="0"/>
                <a:ea typeface="Source Serif 4" pitchFamily="18" charset="-122"/>
                <a:cs typeface="Source Serif 4" pitchFamily="18" charset="-120"/>
              </a:rPr>
              <a:t>2</a:t>
            </a:r>
            <a:endParaRPr lang="en-US" sz="3200" dirty="0"/>
          </a:p>
        </p:txBody>
      </p:sp>
      <p:sp>
        <p:nvSpPr>
          <p:cNvPr id="10" name="Text 8"/>
          <p:cNvSpPr/>
          <p:nvPr/>
        </p:nvSpPr>
        <p:spPr>
          <a:xfrm>
            <a:off x="6831409" y="2032000"/>
            <a:ext cx="444353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“Keep the mix” is the costly mistake</a:t>
            </a:r>
            <a:endParaRPr lang="en-US" sz="1700" dirty="0"/>
          </a:p>
        </p:txBody>
      </p:sp>
      <p:sp>
        <p:nvSpPr>
          <p:cNvPr id="11" name="Text 9"/>
          <p:cNvSpPr/>
          <p:nvPr/>
        </p:nvSpPr>
        <p:spPr>
          <a:xfrm>
            <a:off x="6831409" y="2354585"/>
            <a:ext cx="454144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12–23% worse in every patient and every stress test.</a:t>
            </a:r>
            <a:endParaRPr lang="en-US" sz="1400" dirty="0"/>
          </a:p>
        </p:txBody>
      </p:sp>
      <p:sp>
        <p:nvSpPr>
          <p:cNvPr id="12" name="Shape 10"/>
          <p:cNvSpPr/>
          <p:nvPr/>
        </p:nvSpPr>
        <p:spPr>
          <a:xfrm>
            <a:off x="815975" y="3292475"/>
            <a:ext cx="5175250" cy="1281430"/>
          </a:xfrm>
          <a:prstGeom prst="roundRect">
            <a:avLst>
              <a:gd name="adj" fmla="val 7681"/>
            </a:avLst>
          </a:prstGeom>
          <a:solidFill>
            <a:srgbClr val="FFFFFF"/>
          </a:solidFill>
          <a:ln w="6350">
            <a:solidFill>
              <a:srgbClr val="E2DED3"/>
            </a:solidFill>
            <a:prstDash val="solid"/>
          </a:ln>
        </p:spPr>
      </p:sp>
      <p:sp>
        <p:nvSpPr>
          <p:cNvPr id="13" name="Text 11"/>
          <p:cNvSpPr/>
          <p:nvPr/>
        </p:nvSpPr>
        <p:spPr>
          <a:xfrm>
            <a:off x="1046480" y="3522985"/>
            <a:ext cx="273129" cy="8458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2B6CB0"/>
                </a:solidFill>
                <a:latin typeface="Source Serif 4" pitchFamily="18" charset="0"/>
                <a:ea typeface="Source Serif 4" pitchFamily="18" charset="-122"/>
                <a:cs typeface="Source Serif 4" pitchFamily="18" charset="-120"/>
              </a:rPr>
              <a:t>3</a:t>
            </a:r>
            <a:endParaRPr lang="en-US" sz="3200" dirty="0"/>
          </a:p>
        </p:txBody>
      </p:sp>
      <p:sp>
        <p:nvSpPr>
          <p:cNvPr id="14" name="Text 12"/>
          <p:cNvSpPr/>
          <p:nvPr/>
        </p:nvSpPr>
        <p:spPr>
          <a:xfrm>
            <a:off x="1446609" y="3522985"/>
            <a:ext cx="444353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AI beats every human rule</a:t>
            </a:r>
            <a:endParaRPr lang="en-US" sz="1700" dirty="0"/>
          </a:p>
        </p:txBody>
      </p:sp>
      <p:sp>
        <p:nvSpPr>
          <p:cNvPr id="15" name="Text 13"/>
          <p:cNvSpPr/>
          <p:nvPr/>
        </p:nvSpPr>
        <p:spPr>
          <a:xfrm>
            <a:off x="1446609" y="3845558"/>
            <a:ext cx="444353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About 50% longer than the best rule, and sturdier than the exact plan thanks to a safety margin.</a:t>
            </a:r>
            <a:endParaRPr lang="en-US" sz="1400" dirty="0"/>
          </a:p>
        </p:txBody>
      </p:sp>
      <p:sp>
        <p:nvSpPr>
          <p:cNvPr id="16" name="Shape 14"/>
          <p:cNvSpPr/>
          <p:nvPr/>
        </p:nvSpPr>
        <p:spPr>
          <a:xfrm>
            <a:off x="6197600" y="3289300"/>
            <a:ext cx="5181600" cy="1287780"/>
          </a:xfrm>
          <a:prstGeom prst="roundRect">
            <a:avLst>
              <a:gd name="adj" fmla="val 7890"/>
            </a:avLst>
          </a:prstGeom>
          <a:solidFill>
            <a:srgbClr val="14213D"/>
          </a:solidFill>
          <a:ln/>
        </p:spPr>
      </p:sp>
      <p:sp>
        <p:nvSpPr>
          <p:cNvPr id="17" name="Text 15"/>
          <p:cNvSpPr/>
          <p:nvPr/>
        </p:nvSpPr>
        <p:spPr>
          <a:xfrm>
            <a:off x="6426200" y="3517900"/>
            <a:ext cx="273129" cy="85598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8A27C"/>
                </a:solidFill>
                <a:latin typeface="Source Serif 4" pitchFamily="18" charset="0"/>
                <a:ea typeface="Source Serif 4" pitchFamily="18" charset="-122"/>
                <a:cs typeface="Source Serif 4" pitchFamily="18" charset="-120"/>
              </a:rPr>
              <a:t>4</a:t>
            </a:r>
            <a:endParaRPr lang="en-US" sz="3200" dirty="0"/>
          </a:p>
        </p:txBody>
      </p:sp>
      <p:sp>
        <p:nvSpPr>
          <p:cNvPr id="18" name="Text 16"/>
          <p:cNvSpPr/>
          <p:nvPr/>
        </p:nvSpPr>
        <p:spPr>
          <a:xfrm>
            <a:off x="6826330" y="3517900"/>
            <a:ext cx="445399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3EFE6"/>
                </a:solidFill>
                <a:latin typeface="IBM Plex Sans" pitchFamily="34" charset="0"/>
                <a:ea typeface="IBM Plex Sans" pitchFamily="34" charset="-122"/>
                <a:cs typeface="IBM Plex Sans" pitchFamily="34" charset="-120"/>
              </a:rPr>
              <a:t>What it sees beats what it aims for</a:t>
            </a:r>
            <a:endParaRPr lang="en-US" sz="1700" dirty="0"/>
          </a:p>
        </p:txBody>
      </p:sp>
      <p:sp>
        <p:nvSpPr>
          <p:cNvPr id="19" name="Text 17"/>
          <p:cNvSpPr/>
          <p:nvPr/>
        </p:nvSpPr>
        <p:spPr>
          <a:xfrm>
            <a:off x="6826330" y="3840485"/>
            <a:ext cx="445399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8"/>
                </a:solidFill>
                <a:latin typeface="IBM Plex Sans" pitchFamily="34" charset="0"/>
                <a:ea typeface="IBM Plex Sans" pitchFamily="34" charset="-122"/>
                <a:cs typeface="IBM Plex Sans" pitchFamily="34" charset="-120"/>
              </a:rPr>
              <a:t>Seeing only size, with a better judge in training, every goal does better and the goals nearly merge.</a:t>
            </a:r>
            <a:endParaRPr lang="en-US" sz="1400" dirty="0"/>
          </a:p>
        </p:txBody>
      </p:sp>
      <p:sp>
        <p:nvSpPr>
          <p:cNvPr id="20" name="Text 18"/>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C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B6CB0"/>
                </a:solidFill>
                <a:latin typeface="IBM Plex Sans" pitchFamily="34" charset="0"/>
                <a:ea typeface="IBM Plex Sans" pitchFamily="34" charset="-122"/>
                <a:cs typeface="IBM Plex Sans" pitchFamily="34" charset="-120"/>
              </a:rPr>
              <a:t>FOR MEDICINE</a:t>
            </a:r>
            <a:endParaRPr lang="en-US" sz="1200" dirty="0"/>
          </a:p>
        </p:txBody>
      </p:sp>
      <p:sp>
        <p:nvSpPr>
          <p:cNvPr id="3" name="Text 1"/>
          <p:cNvSpPr>
            <a:spLocks noGrp="1"/>
          </p:cNvSpPr>
          <p:nvPr>
            <p:ph type="title"/>
          </p:nvPr>
        </p:nvSpPr>
        <p:spPr>
          <a:xfrm>
            <a:off x="812800" y="1102358"/>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Times New Roman" panose="02020603050405020304" pitchFamily="18" charset="0"/>
                <a:ea typeface="Source Serif 4" pitchFamily="18" charset="-122"/>
                <a:cs typeface="Times New Roman" panose="02020603050405020304" pitchFamily="18" charset="0"/>
              </a:rPr>
              <a:t>What this could mean, and what it can’t claim</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815975" y="1801502"/>
            <a:ext cx="5175250" cy="2889250"/>
          </a:xfrm>
          <a:prstGeom prst="roundRect">
            <a:avLst>
              <a:gd name="adj" fmla="val 3407"/>
            </a:avLst>
          </a:prstGeom>
          <a:solidFill>
            <a:srgbClr val="FFFFFF"/>
          </a:solidFill>
          <a:ln w="6350">
            <a:solidFill>
              <a:srgbClr val="C9CFD9"/>
            </a:solidFill>
            <a:prstDash val="solid"/>
          </a:ln>
        </p:spPr>
      </p:sp>
      <p:sp>
        <p:nvSpPr>
          <p:cNvPr id="5" name="Text 3"/>
          <p:cNvSpPr/>
          <p:nvPr/>
        </p:nvSpPr>
        <p:spPr>
          <a:xfrm>
            <a:off x="1071880" y="2057400"/>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Hypotheses worth testing</a:t>
            </a:r>
            <a:endParaRPr lang="en-US" sz="1700" dirty="0"/>
          </a:p>
        </p:txBody>
      </p:sp>
      <p:sp>
        <p:nvSpPr>
          <p:cNvPr id="6" name="Text 4"/>
          <p:cNvSpPr/>
          <p:nvPr/>
        </p:nvSpPr>
        <p:spPr>
          <a:xfrm>
            <a:off x="1150112" y="2443485"/>
            <a:ext cx="4717491" cy="201676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Treat-when-needed containment beat AT50 in every simulated patient</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 simple size threshold, about 1.15–1.17× start, captures most of the benefit</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Check patients at least as often as the strategy was designed for</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One middle dose and about 9 switches a year keep most of the gain</a:t>
            </a:r>
            <a:endParaRPr lang="en-US" sz="1400" dirty="0"/>
          </a:p>
        </p:txBody>
      </p:sp>
      <p:sp>
        <p:nvSpPr>
          <p:cNvPr id="7" name="Shape 5"/>
          <p:cNvSpPr/>
          <p:nvPr/>
        </p:nvSpPr>
        <p:spPr>
          <a:xfrm>
            <a:off x="6200775" y="1801502"/>
            <a:ext cx="5175250" cy="2889250"/>
          </a:xfrm>
          <a:prstGeom prst="roundRect">
            <a:avLst>
              <a:gd name="adj" fmla="val 3407"/>
            </a:avLst>
          </a:prstGeom>
          <a:solidFill>
            <a:srgbClr val="FFFFFF"/>
          </a:solidFill>
          <a:ln w="6350">
            <a:solidFill>
              <a:srgbClr val="C9CFD9"/>
            </a:solidFill>
            <a:prstDash val="solid"/>
          </a:ln>
        </p:spPr>
      </p:sp>
      <p:sp>
        <p:nvSpPr>
          <p:cNvPr id="8" name="Text 6"/>
          <p:cNvSpPr/>
          <p:nvPr/>
        </p:nvSpPr>
        <p:spPr>
          <a:xfrm>
            <a:off x="6456680" y="2057400"/>
            <a:ext cx="480334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Limits</a:t>
            </a:r>
            <a:endParaRPr lang="en-US" sz="1700" dirty="0"/>
          </a:p>
        </p:txBody>
      </p:sp>
      <p:sp>
        <p:nvSpPr>
          <p:cNvPr id="9" name="Text 7"/>
          <p:cNvSpPr/>
          <p:nvPr/>
        </p:nvSpPr>
        <p:spPr>
          <a:xfrm>
            <a:off x="6534912" y="2443485"/>
            <a:ext cx="4717491" cy="176784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Computer simulation only, no patient data</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Two well-mixed cell types; no tumour shape or drug levels in the blood</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Trained AIs on three patients; 25 more with best plans only</a:t>
            </a:r>
            <a:endParaRPr lang="en-US" sz="1400" dirty="0"/>
          </a:p>
          <a:p>
            <a:pPr marL="175768" indent="-175768" algn="l">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Our own versions of the four goals; one learning method (PPO)</a:t>
            </a:r>
            <a:endParaRPr lang="en-US" sz="1400" dirty="0"/>
          </a:p>
        </p:txBody>
      </p:sp>
      <p:sp>
        <p:nvSpPr>
          <p:cNvPr id="10" name="Text 8"/>
          <p:cNvSpPr/>
          <p:nvPr/>
        </p:nvSpPr>
        <p:spPr>
          <a:xfrm>
            <a:off x="812800" y="5636258"/>
            <a:ext cx="1088339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472"/>
                </a:solidFill>
                <a:latin typeface="IBM Plex Sans" pitchFamily="34" charset="0"/>
                <a:ea typeface="IBM Plex Sans" pitchFamily="34" charset="-122"/>
                <a:cs typeface="IBM Plex Sans" pitchFamily="34" charset="-120"/>
              </a:rPr>
              <a:t>Adaptive therapy itself is still being tested in patients (Mistry 2021). Nothing here is a treatment recommendation.</a:t>
            </a:r>
            <a:endParaRPr lang="en-US" sz="1200" dirty="0"/>
          </a:p>
        </p:txBody>
      </p:sp>
      <p:sp>
        <p:nvSpPr>
          <p:cNvPr id="11" name="Text 9"/>
          <p:cNvSpPr/>
          <p:nvPr/>
        </p:nvSpPr>
        <p:spPr>
          <a:xfrm>
            <a:off x="812800" y="6238242"/>
            <a:ext cx="32898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2" name="Text 10"/>
          <p:cNvSpPr/>
          <p:nvPr/>
        </p:nvSpPr>
        <p:spPr>
          <a:xfrm>
            <a:off x="11145520" y="6238242"/>
            <a:ext cx="2336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27C"/>
                </a:solidFill>
                <a:latin typeface="IBM Plex Sans" pitchFamily="34" charset="0"/>
                <a:ea typeface="IBM Plex Sans" pitchFamily="34" charset="-122"/>
                <a:cs typeface="IBM Plex Sans" pitchFamily="34" charset="-120"/>
              </a:rPr>
              <a:t>IN ONE SENTENCE</a:t>
            </a:r>
            <a:endParaRPr lang="en-US" sz="1200" dirty="0"/>
          </a:p>
        </p:txBody>
      </p:sp>
      <p:sp>
        <p:nvSpPr>
          <p:cNvPr id="3" name="Text 1"/>
          <p:cNvSpPr>
            <a:spLocks noGrp="1"/>
          </p:cNvSpPr>
          <p:nvPr>
            <p:ph type="title"/>
          </p:nvPr>
        </p:nvSpPr>
        <p:spPr>
          <a:xfrm>
            <a:off x="812800" y="2131058"/>
            <a:ext cx="10883392" cy="1732280"/>
          </a:xfrm>
          <a:prstGeom prst="rect">
            <a:avLst/>
          </a:prstGeom>
          <a:noFill/>
          <a:ln/>
        </p:spPr>
        <p:txBody>
          <a:bodyPr wrap="square" lIns="0" tIns="0" rIns="0" bIns="0" rtlCol="0" anchor="t">
            <a:normAutofit/>
          </a:bodyPr>
          <a:lstStyle/>
          <a:p>
            <a:pPr marL="0" indent="0" algn="l">
              <a:lnSpc>
                <a:spcPts val="4480"/>
              </a:lnSpc>
              <a:buNone/>
            </a:pPr>
            <a:r>
              <a:rPr lang="en-US" sz="4000" b="1" i="0" dirty="0">
                <a:solidFill>
                  <a:srgbClr val="F3EFE6"/>
                </a:solidFill>
                <a:latin typeface="Times New Roman" panose="02020603050405020304" pitchFamily="18" charset="0"/>
                <a:ea typeface="Source Serif 4" pitchFamily="18" charset="-122"/>
                <a:cs typeface="Times New Roman" panose="02020603050405020304" pitchFamily="18" charset="0"/>
              </a:rPr>
              <a:t>Containment wins, and what the doctor can see decides how much the AI’s goal matters.</a:t>
            </a:r>
            <a:endParaRPr lang="en-US" sz="4000" dirty="0">
              <a:latin typeface="Times New Roman" panose="02020603050405020304" pitchFamily="18" charset="0"/>
              <a:cs typeface="Times New Roman" panose="02020603050405020304" pitchFamily="18" charset="0"/>
            </a:endParaRPr>
          </a:p>
        </p:txBody>
      </p:sp>
      <p:pic>
        <p:nvPicPr>
          <p:cNvPr id="4" name="Image 0" descr="line"/>
          <p:cNvPicPr>
            <a:picLocks noChangeAspect="1"/>
          </p:cNvPicPr>
          <p:nvPr/>
        </p:nvPicPr>
        <p:blipFill>
          <a:blip r:embed="rId3"/>
          <a:srcRect/>
          <a:stretch/>
        </p:blipFill>
        <p:spPr>
          <a:xfrm>
            <a:off x="812800" y="4091942"/>
            <a:ext cx="1016000" cy="25400"/>
          </a:xfrm>
          <a:prstGeom prst="rect">
            <a:avLst/>
          </a:prstGeom>
        </p:spPr>
      </p:pic>
      <p:sp>
        <p:nvSpPr>
          <p:cNvPr id="5" name="Text 2"/>
          <p:cNvSpPr/>
          <p:nvPr/>
        </p:nvSpPr>
        <p:spPr>
          <a:xfrm>
            <a:off x="812800" y="43713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Next:</a:t>
            </a:r>
            <a:r>
              <a:rPr lang="en-US" sz="1400" dirty="0">
                <a:solidFill>
                  <a:srgbClr val="BFC8D8"/>
                </a:solidFill>
                <a:latin typeface="IBM Plex Sans" pitchFamily="34" charset="0"/>
                <a:ea typeface="IBM Plex Sans" pitchFamily="34" charset="-122"/>
                <a:cs typeface="IBM Plex Sans" pitchFamily="34" charset="-120"/>
              </a:rPr>
              <a:t> noisy or delayed readings · AIs with a ⅔ dose · AIs that learn calmer schedules · a side-effects goal</a:t>
            </a:r>
            <a:endParaRPr lang="en-US" sz="1400" dirty="0"/>
          </a:p>
        </p:txBody>
      </p:sp>
      <p:sp>
        <p:nvSpPr>
          <p:cNvPr id="6" name="Text 3"/>
          <p:cNvSpPr/>
          <p:nvPr/>
        </p:nvSpPr>
        <p:spPr>
          <a:xfrm>
            <a:off x="812800" y="5725158"/>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C8D8"/>
                </a:solidFill>
                <a:latin typeface="IBM Plex Sans" pitchFamily="34" charset="0"/>
                <a:ea typeface="IBM Plex Sans" pitchFamily="34" charset="-122"/>
                <a:cs typeface="IBM Plex Sans" pitchFamily="34" charset="-120"/>
              </a:rPr>
              <a:t>Thank you · Questions</a:t>
            </a:r>
            <a:endParaRPr lang="en-US" sz="1800" dirty="0"/>
          </a:p>
        </p:txBody>
      </p:sp>
    </p:spTree>
  </p:cSld>
  <p:clrMapOvr>
    <a:masterClrMapping/>
  </p:clrMapOvr>
</p:sld>
</file>

<file path=ppt/theme/theme1.xml><?xml version="1.0" encoding="utf-8"?>
<a:theme xmlns:a="http://schemas.openxmlformats.org/drawingml/2006/main" name="What should adaptive therapy optimise? — Final presentation">
  <a:themeElements>
    <a:clrScheme name="What should adaptive therapy optimise? — Final presentation">
      <a:dk1>
        <a:srgbClr val="14213D"/>
      </a:dk1>
      <a:lt1>
        <a:srgbClr val="FAF8F3"/>
      </a:lt1>
      <a:dk2>
        <a:srgbClr val="4E576B"/>
      </a:dk2>
      <a:lt2>
        <a:srgbClr val="E3E3E1"/>
      </a:lt2>
      <a:accent1>
        <a:srgbClr val="2B6CB0"/>
      </a:accent1>
      <a:accent2>
        <a:srgbClr val="B54A1A"/>
      </a:accent2>
      <a:accent3>
        <a:srgbClr val="E8A27C"/>
      </a:accent3>
      <a:accent4>
        <a:srgbClr val="6B7280"/>
      </a:accent4>
      <a:accent5>
        <a:srgbClr val="4A5568"/>
      </a:accent5>
      <a:accent6>
        <a:srgbClr val="BFC8D8"/>
      </a:accent6>
      <a:hlink>
        <a:srgbClr val="0563C1"/>
      </a:hlink>
      <a:folHlink>
        <a:srgbClr val="954F72"/>
      </a:folHlink>
    </a:clrScheme>
    <a:fontScheme name="What should adaptive therapy optimise? — Final presentatio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6642</Words>
  <Application>Microsoft Office PowerPoint</Application>
  <PresentationFormat>Widescreen</PresentationFormat>
  <Paragraphs>396</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Source Serif 4</vt:lpstr>
      <vt:lpstr>Arial</vt:lpstr>
      <vt:lpstr>IBM Plex Sans</vt:lpstr>
      <vt:lpstr>Times New Roman</vt:lpstr>
      <vt:lpstr>What should adaptive therapy optimise? — Final presentation</vt:lpstr>
      <vt:lpstr>What should adaptive therapy optimise?</vt:lpstr>
      <vt:lpstr>Why cancer drugs stop working</vt:lpstr>
      <vt:lpstr>An AI can learn when to treat, but only from a reward</vt:lpstr>
      <vt:lpstr>Four published goals, never compared on equal terms</vt:lpstr>
      <vt:lpstr>One patient, three planners, one scorecard</vt:lpstr>
      <vt:lpstr>30 experiments, told in five chapters</vt:lpstr>
      <vt:lpstr>Our simulator reproduces the published study</vt:lpstr>
      <vt:lpstr>The best possible plan is containment</vt:lpstr>
      <vt:lpstr>Every AI learned, and beat every human rule</vt:lpstr>
      <vt:lpstr>Training on “keep the mix” costs 12–18% on every other goal</vt:lpstr>
      <vt:lpstr>Aiming to survive keeps the mix better than aiming for the mix</vt:lpstr>
      <vt:lpstr>What the winning strategy looks like</vt:lpstr>
      <vt:lpstr>Why “keep the mix” can’t win</vt:lpstr>
      <vt:lpstr>The answer held in every stress test we ran</vt:lpstr>
      <vt:lpstr>Two practical lessons from the stress tests</vt:lpstr>
      <vt:lpstr>So far, the AI saw the exact cell mix. A doctor sees only tumour size.</vt:lpstr>
      <vt:lpstr>The AIs failed where a one-line rule succeeded</vt:lpstr>
      <vt:lpstr>Why it failed, and how we fixed it</vt:lpstr>
      <vt:lpstr>With a better judge, seeing less worked better</vt:lpstr>
      <vt:lpstr>And the four goals nearly merged</vt:lpstr>
      <vt:lpstr>What the AI sees decides how much its goal matters</vt:lpstr>
      <vt:lpstr>In a fair race, the better judge still wins</vt:lpstr>
      <vt:lpstr>Towards the reality that would happen in a clinic</vt:lpstr>
      <vt:lpstr>Four things we learned</vt:lpstr>
      <vt:lpstr>What this could mean, and what it can’t claim</vt:lpstr>
      <vt:lpstr>Containment wins, and what the doctor can see decides how much the AI’s goal matters.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should adaptive therapy optimise? — Final presentation</dc:title>
  <dc:subject/>
  <dc:creator/>
  <cp:lastModifiedBy>ARNAV KUMAR</cp:lastModifiedBy>
  <cp:revision>4</cp:revision>
  <dcterms:created xsi:type="dcterms:W3CDTF">2026-10-22T18:20:35Z</dcterms:created>
  <dcterms:modified xsi:type="dcterms:W3CDTF">2026-10-23T09:04:32Z</dcterms:modified>
</cp:coreProperties>
</file>