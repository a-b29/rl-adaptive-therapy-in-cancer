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sldSz cx="12192000" cy="6858000"/>
  <p:notesSz cx="6858000" cy="12192000"/>
  <p:embeddedFontLst>
    <p:embeddedFont>
      <p:font typeface="Nunito Sans" pitchFamily="2" charset="0"/>
      <p:regular r:id="rId129"/>
      <p:bold r:id="rId130"/>
    </p:embeddedFont>
    <p:embeddedFont>
      <p:font typeface="Rubik" panose="020B0604020202020204" charset="-79"/>
      <p:regular r:id="rId131"/>
      <p:bold r:id="rId1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680" autoAdjust="0"/>
  </p:normalViewPr>
  <p:slideViewPr>
    <p:cSldViewPr snapToGrid="0" snapToObjects="1">
      <p:cViewPr>
        <p:scale>
          <a:sx n="75" d="100"/>
          <a:sy n="75" d="100"/>
        </p:scale>
        <p:origin x="94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font" Target="fonts/font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fntdata"/><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3.fntdata"/><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942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every experiment in the project. Each experiment gets three slides: how we did it, the graphs and numbers, and what we found in at most four points. An introduction comes first and an overall conclusion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evolution inside the tumour. Hitting it as hard as possible removes the very cells that were keeping the resistant ones in check. This is called competitive release.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 therapy was proposed by Gatenby in 2009. Its goal is to contain the tumour rather than to cure it. Human rules like AT50 are easy to follow but are probably not the best possible schedule, which is why researchers have started using reinforcement learning to find better ones.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method we used is called PPO (proximal policy optimisation). We wrote it ourselves rather than using a library. Each AI is a small neural network. The ten copies are called seeds: same settings, different random start. If the ten agree, a result is real; if they disagree, it might be luck.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the whole project answers: does the goal change what the AI learns, and what do you lose if you pick the wrong goal? We use the labels R1 to R4 throughout the deck.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called the proof-of-principle patient in the source paper. Later experiments change it: resistant cells that grow slower (a cost of resistance), cells that die naturally over time (turnover), a different drug, and so on. Everything is a computer simulation; no real patient data was used.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terms appear later. A “cross-evaluation” scores every strategy on every goal, not only the one it was trained for. “Policy” just means the AI’s strategy: which dose it picks in each situation. TTP stands for time to progression, the standard clinical term.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to 4 were the first round of work (315 trained agents). Part 5 is a second round of 14 follow-up experiments (270 more agents) that answer questions a reviewer would ask. In the follow-up round, FE1 and FE2 are the project’s “E1” and “E2” follow-ups, renamed here so they are not confused with the first-round E1 and E2.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E0 is the foundation: if the simulator were wrong, every later number would be wrong too. We used daily decisions here because that is what the paper used for this figure.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full dose kills the sensitive cells fast, then resistant cells take over and the tumour crosses the line at day 452. Right: AT50 pauses whenever the tumour halves, so sensitive cells regrow and keep competing; failure comes at day 663. The paper also quotes 672 days in one table; we reproduce exactly 672 with monthly check-ups, so that number was most likely a monthly-cadence result.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the correct 0.1% in the authors’ own code. With the 1% from our original plan, full dose failed at 369 days and AT50 at 473, which matched nothing in the paper.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map varies two things: how much slower resistant cells grow (cost of resistance) and how fast all cells die naturally (turnover). Strobl 2021 showed both help adaptive therapy. Above a certain line, patients never fail at all, so we stay below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our main patient with weekly decisions. AT90 means pausing as soon as the tumour drops 10%, which keeps more sensitive cells and works better than AT50. The published AT-PSC rule (treat 13 of every 30 days) fails here at 80 days, so we tuned it; its best version simply treats whenever the tumour is above its starting size.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are the bar the AI has to beat. The best rule that a clinician could follow already almost doubles AT50, but the exact optimum is almost double again.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iteration is not learning by trial and error; it is exact planning that needs a perfect model of the patient. A real clinic never has that, which is why we also train AI agents. But the planner tells us how far the agents are from perfect.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R1, R2 and R4 the dark region is a thin strip just left of 1.2: wait while the tumour regrows, and treat only when the next week would cross the line. For R3 there is also a big dark area at the bottom, where resistant cells are rare: the plan treats early to make the mix more balanced, because its reward punishes a nearly pure tumour. The planner’s numbers match a full simulation to within 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Containment keeps as many sensitive cells as the failure line allows. Those cells are the competitors that slow the resistant ones down, which is why it wins for survival, for drug use and for lasting control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practice step is one weekly decision in the simulator. One million steps is several thousand simulated patients. In this experiment the AI sees the full picture: tumour size and how many cells are sensitive or resistant. Later experiments take that away.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shaded bands around each line show the spread across the ten AIs; they are narrow, so training is stable. During practice the AI still makes some random choices, so these curves sit a little below the final numbers.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the training length and one learning setting on small pilot runs, and changed them for all four goals at once so the comparison stays fair. R1 was unaffected by that change; R3 improved the most.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experiment of the project. Scoring an AI on goals it was not trained for is what reveals the cost of choosing the wrong goal. Our plan also tested a specific hypothesis: that an AI trained to keep the mix (R3) would end up outlasting one trained to survive (R1).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AI row is the median of ten trained copies. The bottom four rows are human rules: even the best one (AT-PSC) scores only 0.46 to 0.59, so every trained AI beats every rule on every goal. The best plans score 1.0 on their own goal and 0.88 to 1.0 on the others, except the R3 plan, which drops to 0.75 to 0.81.</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between goals is statistically clear (Kruskal–Wallis p = 0.00001). R1, R2 and R4 are not different from each other after correcting for multiple comparisons; R3 is about 250 days shorter. R3’s AIs also vary more from copy to copy.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containment in practice. Near the end the drug is on almost every week, because the resistant part is big enough that every week threatens failure. The R3 AI keeps the tumour a little lower early on, which costs it about 260 days in the end.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behind our original hypothesis was that keeping a balanced mix would be a smarter long-term route to survival. In this model it is not: aiming directly at survival also gives a better mix than aiming at the mix.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decisions only in situations that actually happen to a patient, not in impossible ones. Two measures are used: how often the AIs pick different doses, and a statistical distance between their probabilities (KL divergence). A permutation test with 5000 shuffles decides whether a gap is bigger than luck, with a correction for testing six pairs.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R1, R2 and R4 lines all jump from never treating to always treating at about 1.14 to 1.15 times the starting size. R3 lines are spread out and start treating earlier (1.08). Right panels: the R3 row and column are darkest, meaning R3 differs most from everyone. The R1 and R4 blocks look like the diagonal blocks, meaning they are as similar as copies of the same goal.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E2: the AIs reproduce the shape of the best plans quite well, but their strip sits a little to the left of the orange line. Treating slightly earlier is a safety margin the AIs learned on their own.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goal does change the learned strategy, mostly in the details. The one big change is R3. And the pair R1 and R4, survival and lasting control, comes out as one strategy here and in almost every later test.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worry behind this experiment: maybe R3 only does badly because a 50:50 mix is a silly target. If a 5% or 10% target worked much better, the problem would be the target, not the idea of rewarding a mix.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AIs 1507, 1524, 1512 and 1503 days for targets 5%, 10%, 25% and 50%; the best plans 1625 to 1631 days. Average resistant share 9.2 to 9.5% for every target. In E6b, on a patient who never fails, the best plan held each target almost exactly (4.9%, 9.7%, 24.3%, 48.5%).</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R3’s poor results. The problem is not the choice of target: a stable two-cell mix is simply not reachable in a tumour that is going to progress. The reward then reduces to “treat early, then contain”, which costs survival.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range is a box of cost of resistance from 0 to 0.4 and turnover from 0 to 0.04, all below the line where patients would never fail. This is the classic “does it generalise?” test.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y-axis is on a log scale, so equal gaps mean equal ratios. On every one of the 20 patients the green R3 dot is the lowest AI. The best plans for these patients have a median of 3613 days, and the best human rule about 1600.</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AIs reach 57 to 77% of each new patient’s best plan, lower than on the training patient, because the new patients live much longer and leave more room. Specialists trained on our patient scored R1 2772, R2 2837, R3 2273, R4 2828 days.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mimics a clinic where the model was fitted to a patient but the fit is imperfect. Only the speed-type numbers were changed; starting size and capacity stayed fixed. The best plan here is the one computed for the original patient, applied unchanged to the perturbed one.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plan does well on most perturbed patients, but in about a quarter of them it fails within a few months. That is because it keeps the tumour right at the failure line; if the patient grows a little faster than planned, the line is crossed before the next weekly decision.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lesson: a plan computed from a model should never be used without a margin of safety. The AIs give up about 15% of survival in the perfect model in exchange for much better reliability when the model is wrong.</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Gallagher et al. reported that AIs trained with frequent check-ups break when checked less often. We wanted to see if that holds here, for all four goals. Keeping the number of practice decisions fixed is fair in one sense but unfair in another: a daily AI sees seven times fewer simulated days than a weekly one.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right-hand column of each table: AIs trained daily or weekly and then checked monthly fail at 83 days in R1 and R4, worse than any human rule. The bottom row, monthly-trained AIs, holds up across all columns. The daily row is starred: those AIs did not reach our 0.7 bar, and the R3 one fell back to always treating (452 days).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replicates the asymmetry Gallagher et al. reported. For a clinic, the lesson is simple: an AI trained with frequent scans must not be used with infrequent ones. Among AIs used at their own training rhythm, R3 still comes last.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growth-stopping drug is called cytostatic; it matches how hormone therapy acts in prostate cancer (Ma 2026). The fixed-share killer is called log-kill. The AIs were never retrained: this tests what happens when the model they learned from is wrong about the drug.</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and R4 AIs behave like R1 here: 1726 and 1751 days on the standard drug, 1126 each with the growth-stopping drug, and 1658 and 1752 with log-kill. On the 20 new patients, generalists kept the same order with every drug: R3 lowest (about 2020 to 2075 days), the others 2540 to 2800.</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growth-stopping drug there is little room for any schedule: the drug can only pause the sensitive cells, not shrink them, so full dose, AT50 and AT90 all tie at 919 days and the best possible plan reaches only 1113. The AIs at 1126 even edge slightly past the planner, which is possible because the planner works on a grid.</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cost of resistance is common in biology: the machinery that makes a cell resistant uses energy, so it grows more slowly. Adaptive therapy is expected to work even better with such a cost. The real question is whether our conclusions about the goals change.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lasts about 1.7 times longer than on our main patient, because slower resistant cells take longer to take over. Five of the ten R3 AIs fell below the 0.7 bar and were excluded; longer patients mean fewer practice patients in the same training budget, which hits the hardest goal first.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analysis as E5. Only the five R3 AIs that trained are included, which is why the R3 block is narrower. As before, five of six goal pairs differ beyond luck, and R1 versus R4 does not.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side by side with the E5 maps: the shapes are nearly identical. A cost of resistance changes how long the patient lives, but not what kind of strategy each goal leads to.</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 check: with 5× or 10× weight on lasting control, the plan stops treating once a week of survival would score negatively, so the patient fails sooner. That is a loophole in the reward, not a better strategy. When we also made failure cost as much as in R2, the plan went straight back to containment.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clinically realistic setting: in prostate cancer, PSA tracks total tumour size but says nothing about how many cells are resistant. It is also the input Gallagher’s AI used before adding memory.</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panel is the key: the black line shows that a rule using only tumour size can get within 4% of the full-information best plan, as long as the threshold is right. The AIs, which also see only size, end up far below it, close to where AT50 sits.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internal judge is the critic: the part of the AI that estimates how good a situation is. Seeing only size, it averages over tumours with very different futures (mostly sensitive versus mostly resistant), so its advice is misleading. This is called critic aliasing, and E11b tests the fix.</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technical terms this is an asymmetric actor–critic: the actor (decision-maker) and critic (judge) get different inputs. It is fair to use here because in a simulator the full state is always known during training. Everything else is identical to E11: 10 AIs per goal, the same training length and the same scoring.</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right panel, each goal has three columns. The middle one is E11 (failed). The right one is this experiment: higher than the left one, which is the full-information AI from E3. The grey lines are the full-information best plan (2038) and the best size-only rule (1945).</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E4: the R3 row used to be 0.67 to 0.76; now it is 0.80 to 0.88. The worst cost of picking the wrong goal falls from 0.18 to 0.035. The dots on the right are also much tighter, so the ten copies agree closely.</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 from different goals now disagree on only 4 to 14% of decisions, against 13 to 33% with full information. Five of six goal pairs still differ beyond luck; R1 and R4 still do not. We also checked each goal’s full-information AI against its size-only AI: they differ in every case.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results of the project. The fix for size-only learning was cheap, and the resulting AIs are both closer to what a clinic could use and better. It also changes how we read Part 2: much of the difference between goals depended on the AI seeing the cell mix.</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the only change from E11b. We used a simple sliding window of past readings rather than a more complex recurrent network, so the AI design stays the same. The specific question: if the AI can infer the mix, does R3’s distinct early-treatment behaviour come back?</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left panel the memory column (right-most in each group) is lower and more spread out than the +critic column. In the right panel, only the full-information R3 AIs treat a lot early (0.62); with memory, R3 sits at 0.58 like everyone else. Three of ten memory R3 AIs did reach 0.62.</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ten R3 memory AIs fell below the 0.7 bar. The largest cost of the wrong goal is now 0.105, between the full-information level (0.18) and the size-only level (0.035). R2 has become the lowest in days, even below R3.</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memory AIs see a history, we compare them on the same set of real patient charts. The high disagreement between copies means each training run settles on a somewhat different strategy. That makes any single memory AI less predictable.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3 matters: if R2-trained AIs were genuinely better at R2’s goal, they would score higher on it than R1-trained AIs. They do not. So R2’s different behaviour is a learning quirk: its reward is nearly flat (a week of drug costs about as much as a week of life is worth), so the AI gets stuck in a drug-saving local optimum. Was this just too little training? E11d checks.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memory AI has 16 inputs instead of 1, so it is reasonable to expect it needs more practice. If the R2 and R3 quirks from E11c disappeared with more training, they were just under-training. If they stayed, they are real features of how these goals are learned.</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curves flatten by about 2 million steps, so more training would add little. The order of the goals, R1 and R4 on top, then R3, then R2, is already fixed by 0.5 million steps. R2 and R3 AIs remain widely spread across copies even at 3 million.</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cost of picking the wrong goal is 0.133 here (0.105 at 1 million). R2-trained AIs still use about 21% less drug and survive about 15% less, and R1-trained AIs still score higher on R2’s own goal.</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disagreement between copies of the same goal is 0.157 at 3 million steps, the same as at 1 million. So the variability is a property of having a 16-input memory, not a sign of under-training.</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Taken together, Part 4 says: what the AI can observe changes how much the goal matters. Full information: a large goal effect. Size only with a good judge: almost none. Size history: some, but driven by learning quirks rather than better serving each goal. Only the memory AIs got 3× training here; the follow-up A2 gives the others the same budget.</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Strobl 2021 showed that cell turnover helps adaptive therapy, because the drug then actually shrinks the resistant population a little over time. This patient closes the gap “only tested on patients without turnover” that we listed as a limitation after the first round.</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patient the best human rule, AT-PSC, reaches about 2080 days, so the AIs beat it by roughly 30%. The R3 row is again the weakest across the board.</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as a ratio to the luck level, R1 versus R4 is 1.04, essentially identical. R3 differs from the others by 3.7 to 4.7 times the luck level.</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have three reference patients with very different biology (no cost and no turnover, a cost of resistance, and turnover), and all three give the same picture. Before training we wrote down that R3 seeds might fail on this patient; that prediction held.</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deferred item from the first round. If the size-only AIs only looked better because the full-information ones were under-trained, extra training for everyone would reverse the result. That is the risk this experiment checks.</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four goals stay spread apart, with R3 lowest. On the right, the four lines run almost on top of each other and finish higher than any line on the left.</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more training the full-information goals actually drift further apart: R1 versus R3 went from 3.8 to 6.1 times the luck level. Training on R3 still costs about 15% on other goals.</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goal beats its full-information counterpart at equal training (Mann–Whitney p = 0.0002 to 0.0004). Even R3, trained only on size, reaches 1927 days.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scores in point 1 are measured on R1, the survival goal. The ordering held for every goal with p at or below 0.0004. This experiment turned the Part 4 result from “suggestive” into the strongest finding of the project.</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score in the project is a fraction of the best plan, so if the best plan were imprecise, every score would be too. A reviewer’s natural question is “your AIs trained badly, or your ceiling is wrong?”. This check answers the second half.</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range is the gap between the best plan and no treatment for each goal; it is the denominator of every score. The planner needed between 4 and 14 rounds of improvement to settle for each goal on the fine grid.</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experiment, but it protects every number in the project. If the AIs look 15% below the best plan, that gap is real and not an artefact of a coarse grid.</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 of strategies that nobody beats on both measures is called the Pareto frontier. This experiment was prompted by the R2 memory AIs in E11c and E11d: they survive less but use less drug, which could be a sensible choice rather than a failure.</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Shapes show how the AI sees: circle = full information, square = size + better judge, triangle = size history. Colours show the goal. Stars are best plans. The stepped grey line connects the strategies that nobody beats.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3 changes how we described R2 in E11c and E11d. It is still not better at its own goal than a survival-trained AI, but it is not wasteful either: it sits on the frontier of drug versus survival. Whether that trade is worth it is a clinical choice, not a technical one.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smooth reward gives the AI feedback every week instead of only near the target, which usually makes learning easier. The penalty for failure and the size of the weekly reward were kept the same as R3 so the comparison is fair. 10 AIs for the smooth mix, 5 per target for the smooth target.</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coexistence reward, smooth or not, leaves the AI below survival-trained AIs. The smooth targets show a pattern: the closer the target is to the roughly 9% share that containment produces anyway, the cheaper it is. A 5% target costs only about 3%.</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backs up E6: the trouble with coexistence is structural, because a tumour that will progress cannot be held at a fixed mix. Rewording the reward cannot change that.</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quick analysis on existing strategies, with no new training. It acts as a gate: D4, a more expensive experiment that penalises switching, is only worth running if switching turns out to be frequent.</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 here include all three ways of seeing: full information, size with the better judge, and size history at 3 million steps. They all switch at about the same rate as the best plans, because they learned the same pulsing containment pattern.</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real clinic, every switch may mean a visit, a prescription change or a patient decision, so very busy schedules could be impractical. D4 measures how much benefit you give up for a calmer schedule.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 line comes from Gallagher et al., but it is a modelling choice; clinical definitions of progression vary. The failure line sets the whole control problem, because containment works by riding just under it.</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jump to 7812 days at 1.3 times reflects how much more room a higher line gives the containment strategy before the resistant population alone can cross it. Human rules gain only a little from the extra room.</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3 also suggests something clinically relevant: how much tumour growth is tolerated before switching strategy matters a lot for containment. But that is a question about the patient, not about which goal to give the AI.</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patient box as the held-out patients in E7, and the kind of map Gallagher et al. drew. Only best plans are computed here; training AIs at 25 patients would be very expensive, and A1 already covers one corner of the map with AIs.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orange box in the first panel marks the A1 patient, where we also trained AIs. All 25 patients fail within the 30-year cap, so every best plan is valid. In the first panel only one patient shows any difference between R1 and R4, and it is 0.3% of situations.</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broadest check in the project. It turns the claim “R1 equals R4, and R3 comes last” from something seen on two or three patients into something that holds over the whole range of patients we consider realistic.</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round deliberately used only on/off doses, as in Gallagher. A half dose is a natural clinical option. Everything else about the AI is unchanged: it now picks one of three doses instead of two, with the same settings and training length.</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2/3 dose is special: it exactly balances sensitive-cell growth against the drug, so sensitive cells stay flat (middle panel) and keep competing with the resistant ones. As a constant dose it already lasts twice as long as full dose. A half dose alone is too weak and the tumour grows.</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two doses, R1 and R4 had identical best plans at 2038 days. With three, R4 jumps to 2143 while R1 stays at 2038, because R1 does not use the new option. The next slides show whether the AIs learn the same thing.</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 is still the weakest goal, but the gap to R1 shrinks to about 90 days because R1 gains almost nothing from the half dose. Training on R3 still costs up to 15% elsewhere.</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three doses, the comparisons use the full distribution over doses, and disagreement means picking a different most-likely dose. R1 versus R2 differs most, about 11 times the luck level, because R2 uses the half dose heavily and R1 never does.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one place where survival and lasting control seemed to split turned out to be a detail of how the original R1 reward was written, not a real difference between the goals. With two doses the detail never mattered, because the only options were all or nothing.</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sets 2, 3 and 5 levels are nested: each contains the one before, so the best plan can only improve as levels are added. The {0, 2/3, 1} set is not nested, so it was solved by the planner only and not trained.</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are relative to each set’s own best plan, so a lower score at 5 levels means the AI is further from what is possible with 5 levels, even if its days are similar. The 2/3 set beats 5 levels for R2 because 2/3 is exactly the dose that freezes sensitive growth.</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clinic, this suggests offering one well-chosen intermediate dose rather than many. Training an AI on the {0, 2/3, 1} set is one of our recommended next steps.</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 is modelled as dose to the power h, with h = 0.5 (saturating, 71% at half dose), h = 1 (linear, 50%) and h = 2 (threshold-like, 25%). This is a sensitivity check, not a calibrated model of a specific drug, so it was done with the planner only.</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can end up with fewer days than with on/off dosing when the half dose is weak, because R2 also values saving drug and trades some survival for it. The direction of the half-dose benefit for R4 is the same for every shape; only the size changes.</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real drug would need its own dose–response curve measured before graded dosing could be planned. The qualitative result, that an intermediate dose helps containment, is robust; the exact number of extra days is not.</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experiment ran because B3 found switching on 54% of weeks, above the 25% gate. It was done with the planner only; teaching an AI to avoid switches would need it to see last week’s dose, which is a recommended next step.</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lines are the three-dose versions for R1 and R4. With three doses, R4 starts higher (35 switches a year, 2143 days) and still keeps 88% at 7 switches a year. R2 is the most sensitive, because its goal already balances drug against time very finely.</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human rule, AT-PSC, switches about 6 times a year and lasts 1135 days. A calmer optimal plan at 9 switches a year lasts 1755 days, so the advantage of planning survives even when the schedule is made simple enough for a clinic.</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round we argued that durability can only differ from survival if something makes a large sensitive population costly. Mutation does exactly that: more sensitive cells means more new resistant ones. This is the project’s “FE1”; in the code it is called E1 of the follow-up round. Higher rates make every patient fail very quickly (897 days at 10 per 100,000).</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40 AIs trained, with scores of 0.84 to 0.90 on their own goal. The largest cost of picking the wrong goal is 9%, lower than without mutation, because every strategy fails sooner and there is less room to differ.</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six goal pairs differ as before. The best-plan difference between R1 and R4 at this mutation rate is real but small: a 0.8 percentage-point difference in drug use and a few days of survival, which is below what ten trained AIs can resolve.</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route we predicted to make durability different from survival does exist, but at a mutation rate that still lets patients live for years it is weak. A stronger split would need a mechanism that punishes large sensitive populations more strongly, such as drug toxicity.</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plan claimed that partial sensitivity would let the drug reverse resistant growth. Working it through showed that is only true when cells also die naturally: without turnover, the drug slows resistant cells but never shrinks them. That is why we also ran the turnover patient. This is the project’s follow-up “E2”.</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turnover patient at ε of 0.4 or more, a full dose shrinks resistant cells near the failure line, so the tumour can be held forever. At that point every goal reaches the 30-year limit and there is nothing left to compare.</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of the R3 checks. Across E6, B2, C1 and FE2, coexistence never wins while the patient can still progress. Making it possible to hold a mix also makes the patient controllable, at which point no goal is needed to choose between.</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points summarise the whole project. Point 1 comes from E2, E5, E3c, A1, C1 and B4, with D1 and FE1 as the only small exceptions. Point 2 from E4, E6 to E10, A1, B2, C1 and FE2. Point 3 from E1, E3, E4 and E8. Point 4 from E11 to E11d and A2.</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hypotheses that the simulations support, not recommendations. Each would need testing against real patient data, for example the prostate-cancer datasets used to fit these models, before anyone could consider it clinically.</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smaller caveats: the best plan is computed on a grid (A3 showed this is precise to under 0.4%), and we used one learning method, PPO, throughout. Longer patients were harder to train at a fixed budget, which mainly affected R3.</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Noisy readings are the most relevant next step because the follow-up round made the observation, not the goal, the strongest lever in the study. A toxicity goal (Gevertz 2026 proposed one) would add a third state to the model.</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one takeaway: in this tumour model, survival, drug-saving and lasting-control goals all lead an AI to the same containment strategy; aiming for a balanced mix of cells is the one costly mistake; and once the AI only sees what a clinician sees, the choice of goal hardly matters, provided it is trained with a better judge.</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130"/>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D2B44"/>
                </a:solidFill>
                <a:latin typeface="Rubik" pitchFamily="34" charset="0"/>
                <a:ea typeface="Rubik" pitchFamily="34" charset="-122"/>
                <a:cs typeface="Rubik"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33870"/>
            <a:ext cx="10566400" cy="4211330"/>
          </a:xfrm>
          <a:prstGeom prst="rect">
            <a:avLst/>
          </a:prstGeom>
          <a:noFill/>
          <a:ln/>
        </p:spPr>
        <p:txBody>
          <a:bodyPr wrap="square" lIns="0" tIns="0" rIns="0" bIns="0" rtlCol="0" anchor="t"/>
          <a:lstStyle>
            <a:lvl1pPr marL="0" indent="0" algn="l">
              <a:lnSpc>
                <a:spcPct val="140000"/>
              </a:lnSpc>
              <a:buNone/>
              <a:defRPr lang="en-US" sz="1600" dirty="0">
                <a:solidFill>
                  <a:srgbClr val="3F4A5C"/>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130"/>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D2B44"/>
                </a:solidFill>
                <a:latin typeface="Rubik" pitchFamily="34" charset="0"/>
                <a:ea typeface="Rubik" pitchFamily="34" charset="-122"/>
                <a:cs typeface="Rubik"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33870"/>
            <a:ext cx="10566400" cy="4211330"/>
          </a:xfrm>
          <a:prstGeom prst="rect">
            <a:avLst/>
          </a:prstGeom>
          <a:noFill/>
          <a:ln/>
        </p:spPr>
        <p:txBody>
          <a:bodyPr wrap="square" lIns="0" tIns="0" rIns="0" bIns="0" rtlCol="0" anchor="t"/>
          <a:lstStyle>
            <a:lvl1pPr marL="0" indent="0" algn="l">
              <a:lnSpc>
                <a:spcPct val="140000"/>
              </a:lnSpc>
              <a:buNone/>
              <a:defRPr lang="en-US" sz="1600" dirty="0">
                <a:solidFill>
                  <a:srgbClr val="3F4A5C"/>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B4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2B48F"/>
                </a:solidFill>
                <a:latin typeface="Nunito Sans" pitchFamily="34" charset="0"/>
                <a:ea typeface="Nunito Sans" pitchFamily="34" charset="-122"/>
                <a:cs typeface="Nunito Sans" pitchFamily="34" charset="-120"/>
              </a:rPr>
              <a:t>AI IN MEDICINE · COURSE PROJECT</a:t>
            </a:r>
            <a:endParaRPr lang="en-US" sz="1300" dirty="0"/>
          </a:p>
        </p:txBody>
      </p:sp>
      <p:sp>
        <p:nvSpPr>
          <p:cNvPr id="3" name="Text 1"/>
          <p:cNvSpPr>
            <a:spLocks noGrp="1"/>
          </p:cNvSpPr>
          <p:nvPr>
            <p:ph type="title"/>
          </p:nvPr>
        </p:nvSpPr>
        <p:spPr>
          <a:xfrm>
            <a:off x="812800" y="2290763"/>
            <a:ext cx="10883392" cy="141224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4F1EA"/>
                </a:solidFill>
                <a:latin typeface="Rubik" pitchFamily="34" charset="0"/>
                <a:ea typeface="Rubik" pitchFamily="34" charset="-122"/>
                <a:cs typeface="Rubik" pitchFamily="34" charset="-120"/>
              </a:rPr>
              <a:t>Teaching an AI to schedule cancer drugs</a:t>
            </a:r>
            <a:endParaRPr lang="en-US" sz="5200" dirty="0"/>
          </a:p>
        </p:txBody>
      </p:sp>
      <p:pic>
        <p:nvPicPr>
          <p:cNvPr id="4" name="Image 0" descr="line"/>
          <p:cNvPicPr>
            <a:picLocks noChangeAspect="1"/>
          </p:cNvPicPr>
          <p:nvPr/>
        </p:nvPicPr>
        <p:blipFill>
          <a:blip r:embed="rId3"/>
          <a:srcRect/>
          <a:stretch/>
        </p:blipFill>
        <p:spPr>
          <a:xfrm>
            <a:off x="812800" y="3931603"/>
            <a:ext cx="1016000" cy="38100"/>
          </a:xfrm>
          <a:prstGeom prst="rect">
            <a:avLst/>
          </a:prstGeom>
        </p:spPr>
      </p:pic>
      <p:sp>
        <p:nvSpPr>
          <p:cNvPr id="5" name="Text 2"/>
          <p:cNvSpPr/>
          <p:nvPr/>
        </p:nvSpPr>
        <p:spPr>
          <a:xfrm>
            <a:off x="812800" y="4223703"/>
            <a:ext cx="10883392" cy="351155"/>
          </a:xfrm>
          <a:prstGeom prst="rect">
            <a:avLst/>
          </a:prstGeom>
          <a:noFill/>
          <a:ln/>
        </p:spPr>
        <p:txBody>
          <a:bodyPr wrap="square" lIns="0" tIns="0" rIns="0" bIns="0" rtlCol="0" anchor="t">
            <a:normAutofit/>
          </a:bodyPr>
          <a:lstStyle/>
          <a:p>
            <a:pPr marL="0" indent="0" algn="l">
              <a:lnSpc>
                <a:spcPts val="2565"/>
              </a:lnSpc>
              <a:buNone/>
            </a:pPr>
            <a:r>
              <a:rPr lang="en-US" sz="1900" dirty="0">
                <a:solidFill>
                  <a:srgbClr val="C5CEDC"/>
                </a:solidFill>
                <a:latin typeface="Nunito Sans" pitchFamily="34" charset="0"/>
                <a:ea typeface="Nunito Sans" pitchFamily="34" charset="-122"/>
                <a:cs typeface="Nunito Sans" pitchFamily="34" charset="-120"/>
              </a:rPr>
              <a:t>Every experiment we ran: what we did, what we saw, and what it means</a:t>
            </a:r>
            <a:endParaRPr lang="en-US" sz="1900" dirty="0"/>
          </a:p>
        </p:txBody>
      </p:sp>
      <p:sp>
        <p:nvSpPr>
          <p:cNvPr id="6" name="Text 3"/>
          <p:cNvSpPr/>
          <p:nvPr/>
        </p:nvSpPr>
        <p:spPr>
          <a:xfrm>
            <a:off x="812800" y="57962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5CEDC"/>
                </a:solidFill>
                <a:latin typeface="Nunito Sans" pitchFamily="34" charset="0"/>
                <a:ea typeface="Nunito Sans" pitchFamily="34" charset="-122"/>
                <a:cs typeface="Nunito Sans" pitchFamily="34" charset="-120"/>
              </a:rPr>
              <a:t>30 experiments · 585 trained AI agents · explained in plain language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INTRODUCTION</a:t>
            </a:r>
            <a:endParaRPr lang="en-US" sz="1300" dirty="0"/>
          </a:p>
        </p:txBody>
      </p:sp>
      <p:sp>
        <p:nvSpPr>
          <p:cNvPr id="3" name="Text 1"/>
          <p:cNvSpPr>
            <a:spLocks noGrp="1"/>
          </p:cNvSpPr>
          <p:nvPr>
            <p:ph type="title"/>
          </p:nvPr>
        </p:nvSpPr>
        <p:spPr>
          <a:xfrm>
            <a:off x="812800" y="112014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Why cancer drugs stop working</a:t>
            </a:r>
            <a:endParaRPr lang="en-US" sz="3200" dirty="0"/>
          </a:p>
        </p:txBody>
      </p:sp>
      <p:sp>
        <p:nvSpPr>
          <p:cNvPr id="4" name="Shape 2"/>
          <p:cNvSpPr/>
          <p:nvPr/>
        </p:nvSpPr>
        <p:spPr>
          <a:xfrm>
            <a:off x="815975" y="1895475"/>
            <a:ext cx="3109383" cy="1959610"/>
          </a:xfrm>
          <a:prstGeom prst="roundRect">
            <a:avLst>
              <a:gd name="adj" fmla="val 6319"/>
            </a:avLst>
          </a:prstGeom>
          <a:solidFill>
            <a:srgbClr val="FFFFFF"/>
          </a:solidFill>
          <a:ln w="6350">
            <a:solidFill>
              <a:srgbClr val="E4E0D6"/>
            </a:solidFill>
            <a:prstDash val="solid"/>
          </a:ln>
        </p:spPr>
      </p:sp>
      <p:pic>
        <p:nvPicPr>
          <p:cNvPr id="5" name="Image 0" descr="ellipse"/>
          <p:cNvPicPr>
            <a:picLocks noChangeAspect="1"/>
          </p:cNvPicPr>
          <p:nvPr/>
        </p:nvPicPr>
        <p:blipFill>
          <a:blip r:embed="rId3"/>
          <a:srcRect/>
          <a:stretch/>
        </p:blipFill>
        <p:spPr>
          <a:xfrm>
            <a:off x="1046480" y="2125980"/>
            <a:ext cx="254000" cy="254000"/>
          </a:xfrm>
          <a:prstGeom prst="rect">
            <a:avLst/>
          </a:prstGeom>
        </p:spPr>
      </p:pic>
      <p:pic>
        <p:nvPicPr>
          <p:cNvPr id="6" name="Image 1" descr="ellipse"/>
          <p:cNvPicPr>
            <a:picLocks noChangeAspect="1"/>
          </p:cNvPicPr>
          <p:nvPr/>
        </p:nvPicPr>
        <p:blipFill>
          <a:blip r:embed="rId3"/>
          <a:srcRect/>
          <a:stretch/>
        </p:blipFill>
        <p:spPr>
          <a:xfrm>
            <a:off x="1363980" y="2125980"/>
            <a:ext cx="254000" cy="254000"/>
          </a:xfrm>
          <a:prstGeom prst="rect">
            <a:avLst/>
          </a:prstGeom>
        </p:spPr>
      </p:pic>
      <p:pic>
        <p:nvPicPr>
          <p:cNvPr id="7" name="Image 2" descr="ellipse"/>
          <p:cNvPicPr>
            <a:picLocks noChangeAspect="1"/>
          </p:cNvPicPr>
          <p:nvPr/>
        </p:nvPicPr>
        <p:blipFill>
          <a:blip r:embed="rId3"/>
          <a:srcRect/>
          <a:stretch/>
        </p:blipFill>
        <p:spPr>
          <a:xfrm>
            <a:off x="1681480" y="2125980"/>
            <a:ext cx="254000" cy="254000"/>
          </a:xfrm>
          <a:prstGeom prst="rect">
            <a:avLst/>
          </a:prstGeom>
        </p:spPr>
      </p:pic>
      <p:pic>
        <p:nvPicPr>
          <p:cNvPr id="8" name="Image 3" descr="ellipse"/>
          <p:cNvPicPr>
            <a:picLocks noChangeAspect="1"/>
          </p:cNvPicPr>
          <p:nvPr/>
        </p:nvPicPr>
        <p:blipFill>
          <a:blip r:embed="rId3"/>
          <a:srcRect/>
          <a:stretch/>
        </p:blipFill>
        <p:spPr>
          <a:xfrm>
            <a:off x="1998980" y="2125980"/>
            <a:ext cx="254000" cy="254000"/>
          </a:xfrm>
          <a:prstGeom prst="rect">
            <a:avLst/>
          </a:prstGeom>
        </p:spPr>
      </p:pic>
      <p:pic>
        <p:nvPicPr>
          <p:cNvPr id="9" name="Image 4" descr="ellipse"/>
          <p:cNvPicPr>
            <a:picLocks noChangeAspect="1"/>
          </p:cNvPicPr>
          <p:nvPr/>
        </p:nvPicPr>
        <p:blipFill>
          <a:blip r:embed="rId3"/>
          <a:srcRect/>
          <a:stretch/>
        </p:blipFill>
        <p:spPr>
          <a:xfrm>
            <a:off x="2316480" y="2125980"/>
            <a:ext cx="254000" cy="254000"/>
          </a:xfrm>
          <a:prstGeom prst="rect">
            <a:avLst/>
          </a:prstGeom>
        </p:spPr>
      </p:pic>
      <p:pic>
        <p:nvPicPr>
          <p:cNvPr id="10" name="Image 5" descr="ellipse"/>
          <p:cNvPicPr>
            <a:picLocks noChangeAspect="1"/>
          </p:cNvPicPr>
          <p:nvPr/>
        </p:nvPicPr>
        <p:blipFill>
          <a:blip r:embed="rId3"/>
          <a:srcRect/>
          <a:stretch/>
        </p:blipFill>
        <p:spPr>
          <a:xfrm>
            <a:off x="2633980" y="2125980"/>
            <a:ext cx="254000" cy="254000"/>
          </a:xfrm>
          <a:prstGeom prst="rect">
            <a:avLst/>
          </a:prstGeom>
        </p:spPr>
      </p:pic>
      <p:pic>
        <p:nvPicPr>
          <p:cNvPr id="11" name="Image 6" descr="ellipse"/>
          <p:cNvPicPr>
            <a:picLocks noChangeAspect="1"/>
          </p:cNvPicPr>
          <p:nvPr/>
        </p:nvPicPr>
        <p:blipFill>
          <a:blip r:embed="rId4"/>
          <a:srcRect/>
          <a:stretch/>
        </p:blipFill>
        <p:spPr>
          <a:xfrm>
            <a:off x="2951480" y="2125980"/>
            <a:ext cx="254000" cy="254000"/>
          </a:xfrm>
          <a:prstGeom prst="rect">
            <a:avLst/>
          </a:prstGeom>
        </p:spPr>
      </p:pic>
      <p:sp>
        <p:nvSpPr>
          <p:cNvPr id="12" name="Text 3"/>
          <p:cNvSpPr/>
          <p:nvPr/>
        </p:nvSpPr>
        <p:spPr>
          <a:xfrm>
            <a:off x="1046480" y="2506980"/>
            <a:ext cx="27278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1. A tumour is a mix</a:t>
            </a:r>
            <a:endParaRPr lang="en-US" sz="1600" dirty="0"/>
          </a:p>
        </p:txBody>
      </p:sp>
      <p:sp>
        <p:nvSpPr>
          <p:cNvPr id="13" name="Text 4"/>
          <p:cNvSpPr/>
          <p:nvPr/>
        </p:nvSpPr>
        <p:spPr>
          <a:xfrm>
            <a:off x="1046480" y="2877820"/>
            <a:ext cx="272782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Most cells are drug-sensitive (blue). A few are resistant (orange).</a:t>
            </a:r>
            <a:endParaRPr lang="en-US" sz="1400" dirty="0"/>
          </a:p>
        </p:txBody>
      </p:sp>
      <p:pic>
        <p:nvPicPr>
          <p:cNvPr id="14" name="Image 7" descr="arrow-right"/>
          <p:cNvPicPr>
            <a:picLocks noChangeAspect="1"/>
          </p:cNvPicPr>
          <p:nvPr/>
        </p:nvPicPr>
        <p:blipFill>
          <a:blip r:embed="rId5"/>
          <a:srcRect/>
          <a:stretch/>
        </p:blipFill>
        <p:spPr>
          <a:xfrm>
            <a:off x="4080933" y="2799080"/>
            <a:ext cx="304800" cy="152400"/>
          </a:xfrm>
          <a:prstGeom prst="rect">
            <a:avLst/>
          </a:prstGeom>
        </p:spPr>
      </p:pic>
      <p:sp>
        <p:nvSpPr>
          <p:cNvPr id="15" name="Shape 5"/>
          <p:cNvSpPr/>
          <p:nvPr/>
        </p:nvSpPr>
        <p:spPr>
          <a:xfrm>
            <a:off x="4541308" y="2019935"/>
            <a:ext cx="3109383" cy="1710690"/>
          </a:xfrm>
          <a:prstGeom prst="roundRect">
            <a:avLst>
              <a:gd name="adj" fmla="val 7238"/>
            </a:avLst>
          </a:prstGeom>
          <a:solidFill>
            <a:srgbClr val="FFFFFF"/>
          </a:solidFill>
          <a:ln w="6350">
            <a:solidFill>
              <a:srgbClr val="E4E0D6"/>
            </a:solidFill>
            <a:prstDash val="solid"/>
          </a:ln>
        </p:spPr>
      </p:sp>
      <p:pic>
        <p:nvPicPr>
          <p:cNvPr id="16" name="Image 8" descr="ellipse"/>
          <p:cNvPicPr>
            <a:picLocks noChangeAspect="1"/>
          </p:cNvPicPr>
          <p:nvPr/>
        </p:nvPicPr>
        <p:blipFill>
          <a:blip r:embed="rId3"/>
          <a:srcRect/>
          <a:stretch/>
        </p:blipFill>
        <p:spPr>
          <a:xfrm>
            <a:off x="4771813" y="2250440"/>
            <a:ext cx="254000" cy="254000"/>
          </a:xfrm>
          <a:prstGeom prst="rect">
            <a:avLst/>
          </a:prstGeom>
        </p:spPr>
      </p:pic>
      <p:pic>
        <p:nvPicPr>
          <p:cNvPr id="17" name="Image 9" descr="ellipse"/>
          <p:cNvPicPr>
            <a:picLocks noChangeAspect="1"/>
          </p:cNvPicPr>
          <p:nvPr/>
        </p:nvPicPr>
        <p:blipFill>
          <a:blip r:embed="rId4"/>
          <a:srcRect/>
          <a:stretch/>
        </p:blipFill>
        <p:spPr>
          <a:xfrm>
            <a:off x="5089313" y="2250440"/>
            <a:ext cx="254000" cy="254000"/>
          </a:xfrm>
          <a:prstGeom prst="rect">
            <a:avLst/>
          </a:prstGeom>
        </p:spPr>
      </p:pic>
      <p:sp>
        <p:nvSpPr>
          <p:cNvPr id="18" name="Text 6"/>
          <p:cNvSpPr/>
          <p:nvPr/>
        </p:nvSpPr>
        <p:spPr>
          <a:xfrm>
            <a:off x="4771813" y="2631440"/>
            <a:ext cx="272782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2. Full dose kills the blue</a:t>
            </a:r>
            <a:endParaRPr lang="en-US" sz="1600" dirty="0"/>
          </a:p>
        </p:txBody>
      </p:sp>
      <p:sp>
        <p:nvSpPr>
          <p:cNvPr id="19" name="Text 7"/>
          <p:cNvSpPr/>
          <p:nvPr/>
        </p:nvSpPr>
        <p:spPr>
          <a:xfrm>
            <a:off x="4771813" y="3002280"/>
            <a:ext cx="272782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The tumour shrinks, so at first the treatment looks like it works.</a:t>
            </a:r>
            <a:endParaRPr lang="en-US" sz="1400" dirty="0"/>
          </a:p>
        </p:txBody>
      </p:sp>
      <p:pic>
        <p:nvPicPr>
          <p:cNvPr id="20" name="Image 10" descr="arrow-right"/>
          <p:cNvPicPr>
            <a:picLocks noChangeAspect="1"/>
          </p:cNvPicPr>
          <p:nvPr/>
        </p:nvPicPr>
        <p:blipFill>
          <a:blip r:embed="rId5"/>
          <a:srcRect/>
          <a:stretch/>
        </p:blipFill>
        <p:spPr>
          <a:xfrm>
            <a:off x="7806267" y="2799080"/>
            <a:ext cx="304800" cy="152400"/>
          </a:xfrm>
          <a:prstGeom prst="rect">
            <a:avLst/>
          </a:prstGeom>
        </p:spPr>
      </p:pic>
      <p:sp>
        <p:nvSpPr>
          <p:cNvPr id="21" name="Shape 8"/>
          <p:cNvSpPr/>
          <p:nvPr/>
        </p:nvSpPr>
        <p:spPr>
          <a:xfrm>
            <a:off x="8266642" y="1895475"/>
            <a:ext cx="3109383" cy="1959610"/>
          </a:xfrm>
          <a:prstGeom prst="roundRect">
            <a:avLst>
              <a:gd name="adj" fmla="val 6319"/>
            </a:avLst>
          </a:prstGeom>
          <a:solidFill>
            <a:srgbClr val="FFFFFF"/>
          </a:solidFill>
          <a:ln w="6350">
            <a:solidFill>
              <a:srgbClr val="E4E0D6"/>
            </a:solidFill>
            <a:prstDash val="solid"/>
          </a:ln>
        </p:spPr>
      </p:sp>
      <p:pic>
        <p:nvPicPr>
          <p:cNvPr id="22" name="Image 11" descr="ellipse"/>
          <p:cNvPicPr>
            <a:picLocks noChangeAspect="1"/>
          </p:cNvPicPr>
          <p:nvPr/>
        </p:nvPicPr>
        <p:blipFill>
          <a:blip r:embed="rId4"/>
          <a:srcRect/>
          <a:stretch/>
        </p:blipFill>
        <p:spPr>
          <a:xfrm>
            <a:off x="8497146" y="2125980"/>
            <a:ext cx="254000" cy="254000"/>
          </a:xfrm>
          <a:prstGeom prst="rect">
            <a:avLst/>
          </a:prstGeom>
        </p:spPr>
      </p:pic>
      <p:pic>
        <p:nvPicPr>
          <p:cNvPr id="23" name="Image 12" descr="ellipse"/>
          <p:cNvPicPr>
            <a:picLocks noChangeAspect="1"/>
          </p:cNvPicPr>
          <p:nvPr/>
        </p:nvPicPr>
        <p:blipFill>
          <a:blip r:embed="rId4"/>
          <a:srcRect/>
          <a:stretch/>
        </p:blipFill>
        <p:spPr>
          <a:xfrm>
            <a:off x="8814646" y="2125980"/>
            <a:ext cx="254000" cy="254000"/>
          </a:xfrm>
          <a:prstGeom prst="rect">
            <a:avLst/>
          </a:prstGeom>
        </p:spPr>
      </p:pic>
      <p:pic>
        <p:nvPicPr>
          <p:cNvPr id="24" name="Image 13" descr="ellipse"/>
          <p:cNvPicPr>
            <a:picLocks noChangeAspect="1"/>
          </p:cNvPicPr>
          <p:nvPr/>
        </p:nvPicPr>
        <p:blipFill>
          <a:blip r:embed="rId4"/>
          <a:srcRect/>
          <a:stretch/>
        </p:blipFill>
        <p:spPr>
          <a:xfrm>
            <a:off x="9132146" y="2125980"/>
            <a:ext cx="254000" cy="254000"/>
          </a:xfrm>
          <a:prstGeom prst="rect">
            <a:avLst/>
          </a:prstGeom>
        </p:spPr>
      </p:pic>
      <p:pic>
        <p:nvPicPr>
          <p:cNvPr id="25" name="Image 14" descr="ellipse"/>
          <p:cNvPicPr>
            <a:picLocks noChangeAspect="1"/>
          </p:cNvPicPr>
          <p:nvPr/>
        </p:nvPicPr>
        <p:blipFill>
          <a:blip r:embed="rId4"/>
          <a:srcRect/>
          <a:stretch/>
        </p:blipFill>
        <p:spPr>
          <a:xfrm>
            <a:off x="9449646" y="2125980"/>
            <a:ext cx="254000" cy="254000"/>
          </a:xfrm>
          <a:prstGeom prst="rect">
            <a:avLst/>
          </a:prstGeom>
        </p:spPr>
      </p:pic>
      <p:pic>
        <p:nvPicPr>
          <p:cNvPr id="26" name="Image 15" descr="ellipse"/>
          <p:cNvPicPr>
            <a:picLocks noChangeAspect="1"/>
          </p:cNvPicPr>
          <p:nvPr/>
        </p:nvPicPr>
        <p:blipFill>
          <a:blip r:embed="rId4"/>
          <a:srcRect/>
          <a:stretch/>
        </p:blipFill>
        <p:spPr>
          <a:xfrm>
            <a:off x="9767146" y="2125980"/>
            <a:ext cx="254000" cy="254000"/>
          </a:xfrm>
          <a:prstGeom prst="rect">
            <a:avLst/>
          </a:prstGeom>
        </p:spPr>
      </p:pic>
      <p:pic>
        <p:nvPicPr>
          <p:cNvPr id="27" name="Image 16" descr="ellipse"/>
          <p:cNvPicPr>
            <a:picLocks noChangeAspect="1"/>
          </p:cNvPicPr>
          <p:nvPr/>
        </p:nvPicPr>
        <p:blipFill>
          <a:blip r:embed="rId4"/>
          <a:srcRect/>
          <a:stretch/>
        </p:blipFill>
        <p:spPr>
          <a:xfrm>
            <a:off x="10084646" y="2125980"/>
            <a:ext cx="254000" cy="254000"/>
          </a:xfrm>
          <a:prstGeom prst="rect">
            <a:avLst/>
          </a:prstGeom>
        </p:spPr>
      </p:pic>
      <p:pic>
        <p:nvPicPr>
          <p:cNvPr id="28" name="Image 17" descr="ellipse"/>
          <p:cNvPicPr>
            <a:picLocks noChangeAspect="1"/>
          </p:cNvPicPr>
          <p:nvPr/>
        </p:nvPicPr>
        <p:blipFill>
          <a:blip r:embed="rId4"/>
          <a:srcRect/>
          <a:stretch/>
        </p:blipFill>
        <p:spPr>
          <a:xfrm>
            <a:off x="10402146" y="2125980"/>
            <a:ext cx="254000" cy="254000"/>
          </a:xfrm>
          <a:prstGeom prst="rect">
            <a:avLst/>
          </a:prstGeom>
        </p:spPr>
      </p:pic>
      <p:sp>
        <p:nvSpPr>
          <p:cNvPr id="29" name="Text 9"/>
          <p:cNvSpPr/>
          <p:nvPr/>
        </p:nvSpPr>
        <p:spPr>
          <a:xfrm>
            <a:off x="8497146" y="2506980"/>
            <a:ext cx="27278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3. The orange take over</a:t>
            </a:r>
            <a:endParaRPr lang="en-US" sz="1600" dirty="0"/>
          </a:p>
        </p:txBody>
      </p:sp>
      <p:sp>
        <p:nvSpPr>
          <p:cNvPr id="30" name="Text 10"/>
          <p:cNvSpPr/>
          <p:nvPr/>
        </p:nvSpPr>
        <p:spPr>
          <a:xfrm>
            <a:off x="8497146" y="2877820"/>
            <a:ext cx="272782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With no competitors left, resistant cells regrow and the drug stops working.</a:t>
            </a:r>
            <a:endParaRPr lang="en-US" sz="1400" dirty="0"/>
          </a:p>
        </p:txBody>
      </p:sp>
      <p:sp>
        <p:nvSpPr>
          <p:cNvPr id="31" name="Text 11"/>
          <p:cNvSpPr/>
          <p:nvPr/>
        </p:nvSpPr>
        <p:spPr>
          <a:xfrm>
            <a:off x="812800" y="4163060"/>
            <a:ext cx="10566400" cy="622300"/>
          </a:xfrm>
          <a:prstGeom prst="roundRect">
            <a:avLst>
              <a:gd name="adj" fmla="val 16327"/>
            </a:avLst>
          </a:prstGeom>
          <a:solidFill>
            <a:srgbClr val="1D2B44"/>
          </a:solidFill>
          <a:ln/>
        </p:spPr>
        <p:txBody>
          <a:bodyPr wrap="square" lIns="224242" tIns="148042" rIns="0" bIns="122642" rtlCol="0" anchor="t">
            <a:normAutofit/>
          </a:bodyPr>
          <a:lstStyle/>
          <a:p>
            <a:pPr marL="0" indent="0" algn="l">
              <a:lnSpc>
                <a:spcPts val="2100"/>
              </a:lnSpc>
              <a:buNone/>
            </a:pPr>
            <a:r>
              <a:rPr lang="en-US" sz="1500" dirty="0">
                <a:solidFill>
                  <a:srgbClr val="F4F1EA"/>
                </a:solidFill>
                <a:latin typeface="Nunito Sans" pitchFamily="34" charset="0"/>
                <a:ea typeface="Nunito Sans" pitchFamily="34" charset="-122"/>
                <a:cs typeface="Nunito Sans" pitchFamily="34" charset="-120"/>
              </a:rPr>
              <a:t>In our virtual patient, giving the full dose all the time fails after </a:t>
            </a:r>
            <a:r>
              <a:rPr lang="en-US" sz="1500" b="1" dirty="0">
                <a:solidFill>
                  <a:srgbClr val="F4F1EA"/>
                </a:solidFill>
                <a:latin typeface="Nunito Sans" pitchFamily="34" charset="0"/>
                <a:ea typeface="Nunito Sans" pitchFamily="34" charset="-122"/>
                <a:cs typeface="Nunito Sans" pitchFamily="34" charset="-120"/>
              </a:rPr>
              <a:t>452 days</a:t>
            </a:r>
            <a:r>
              <a:rPr lang="en-US" sz="1500" dirty="0">
                <a:solidFill>
                  <a:srgbClr val="F4F1EA"/>
                </a:solidFill>
                <a:latin typeface="Nunito Sans" pitchFamily="34" charset="0"/>
                <a:ea typeface="Nunito Sans" pitchFamily="34" charset="-122"/>
                <a:cs typeface="Nunito Sans" pitchFamily="34" charset="-120"/>
              </a:rPr>
              <a: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INTRODUCTION</a:t>
            </a:r>
            <a:endParaRPr lang="en-US" sz="1300" dirty="0"/>
          </a:p>
        </p:txBody>
      </p:sp>
      <p:sp>
        <p:nvSpPr>
          <p:cNvPr id="3" name="Text 1"/>
          <p:cNvSpPr>
            <a:spLocks noGrp="1"/>
          </p:cNvSpPr>
          <p:nvPr>
            <p:ph type="title"/>
          </p:nvPr>
        </p:nvSpPr>
        <p:spPr>
          <a:xfrm>
            <a:off x="812800" y="112013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Adaptive therapy: treat less to stay in control</a:t>
            </a:r>
            <a:endParaRPr lang="en-US" sz="3200" dirty="0"/>
          </a:p>
        </p:txBody>
      </p:sp>
      <p:sp>
        <p:nvSpPr>
          <p:cNvPr id="4" name="Shape 2"/>
          <p:cNvSpPr/>
          <p:nvPr/>
        </p:nvSpPr>
        <p:spPr>
          <a:xfrm>
            <a:off x="812800" y="1892300"/>
            <a:ext cx="3302000" cy="2077720"/>
          </a:xfrm>
          <a:prstGeom prst="roundRect">
            <a:avLst>
              <a:gd name="adj" fmla="val 6112"/>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BIG IDEA</a:t>
            </a:r>
            <a:endParaRPr lang="en-US" sz="1200" dirty="0"/>
          </a:p>
        </p:txBody>
      </p:sp>
      <p:sp>
        <p:nvSpPr>
          <p:cNvPr id="6" name="Text 4"/>
          <p:cNvSpPr/>
          <p:nvPr/>
        </p:nvSpPr>
        <p:spPr>
          <a:xfrm>
            <a:off x="1066800" y="2461261"/>
            <a:ext cx="2877820" cy="1280160"/>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F4F1EA"/>
                </a:solidFill>
                <a:latin typeface="Rubik" pitchFamily="34" charset="0"/>
                <a:ea typeface="Rubik" pitchFamily="34" charset="-122"/>
                <a:cs typeface="Rubik" pitchFamily="34" charset="-120"/>
              </a:rPr>
              <a:t>Keep some sensitive cells alive on purpose, so they hold the resistant cells back.</a:t>
            </a:r>
            <a:endParaRPr lang="en-US" sz="19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Sensitive and resistant cells compete for the same space and food.</a:t>
            </a:r>
            <a:endParaRPr lang="en-US" sz="1500" dirty="0"/>
          </a:p>
        </p:txBody>
      </p:sp>
      <p:sp>
        <p:nvSpPr>
          <p:cNvPr id="9" name="Text 7"/>
          <p:cNvSpPr/>
          <p:nvPr/>
        </p:nvSpPr>
        <p:spPr>
          <a:xfrm>
            <a:off x="4419600" y="2390139"/>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9"/>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Give the drug when the tumour gets too big; pause when it is under control.</a:t>
            </a:r>
            <a:endParaRPr lang="en-US" sz="1500" dirty="0"/>
          </a:p>
        </p:txBody>
      </p:sp>
      <p:sp>
        <p:nvSpPr>
          <p:cNvPr id="11" name="Text 9"/>
          <p:cNvSpPr/>
          <p:nvPr/>
        </p:nvSpPr>
        <p:spPr>
          <a:xfrm>
            <a:off x="4419600" y="288798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8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 prostate-cancer trial used a simple rule called AT50: treat until the tumour halves, then pause until it is back (Zhang 2017).</a:t>
            </a:r>
            <a:endParaRPr lang="en-US" sz="1500" dirty="0"/>
          </a:p>
        </p:txBody>
      </p:sp>
      <p:sp>
        <p:nvSpPr>
          <p:cNvPr id="13" name="Text 11"/>
          <p:cNvSpPr/>
          <p:nvPr/>
        </p:nvSpPr>
        <p:spPr>
          <a:xfrm>
            <a:off x="4419600" y="359918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80"/>
            <a:ext cx="67236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F4A5C"/>
                </a:solidFill>
                <a:latin typeface="Nunito Sans" pitchFamily="34" charset="0"/>
                <a:ea typeface="Nunito Sans" pitchFamily="34" charset="-122"/>
                <a:cs typeface="Nunito Sans" pitchFamily="34" charset="-120"/>
              </a:rPr>
              <a:t>Open question:</a:t>
            </a:r>
            <a:r>
              <a:rPr lang="en-US" sz="1500" dirty="0">
                <a:solidFill>
                  <a:srgbClr val="3F4A5C"/>
                </a:solidFill>
                <a:latin typeface="Nunito Sans" pitchFamily="34" charset="0"/>
                <a:ea typeface="Nunito Sans" pitchFamily="34" charset="-122"/>
                <a:cs typeface="Nunito Sans" pitchFamily="34" charset="-120"/>
              </a:rPr>
              <a:t> exactly when should we treat? That is where AI comes 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INTRODUCTION</a:t>
            </a:r>
            <a:endParaRPr lang="en-US" sz="1300" dirty="0"/>
          </a:p>
        </p:txBody>
      </p:sp>
      <p:sp>
        <p:nvSpPr>
          <p:cNvPr id="3" name="Text 1"/>
          <p:cNvSpPr>
            <a:spLocks noGrp="1"/>
          </p:cNvSpPr>
          <p:nvPr>
            <p:ph type="title"/>
          </p:nvPr>
        </p:nvSpPr>
        <p:spPr>
          <a:xfrm>
            <a:off x="812800" y="112013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How an AI learns a treatment schedule</a:t>
            </a:r>
            <a:endParaRPr lang="en-US" sz="3200" dirty="0"/>
          </a:p>
        </p:txBody>
      </p:sp>
      <p:sp>
        <p:nvSpPr>
          <p:cNvPr id="4" name="Shape 2"/>
          <p:cNvSpPr/>
          <p:nvPr/>
        </p:nvSpPr>
        <p:spPr>
          <a:xfrm>
            <a:off x="812800" y="1992630"/>
            <a:ext cx="3142827" cy="998220"/>
          </a:xfrm>
          <a:prstGeom prst="roundRect">
            <a:avLst>
              <a:gd name="adj" fmla="val 12723"/>
            </a:avLst>
          </a:prstGeom>
          <a:solidFill>
            <a:srgbClr val="1D2B44"/>
          </a:solidFill>
          <a:ln/>
        </p:spPr>
      </p:sp>
      <p:sp>
        <p:nvSpPr>
          <p:cNvPr id="5" name="Text 3"/>
          <p:cNvSpPr/>
          <p:nvPr/>
        </p:nvSpPr>
        <p:spPr>
          <a:xfrm>
            <a:off x="1016000" y="2195830"/>
            <a:ext cx="281852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4F1EA"/>
                </a:solidFill>
                <a:latin typeface="Rubik" pitchFamily="34" charset="0"/>
                <a:ea typeface="Rubik" pitchFamily="34" charset="-122"/>
                <a:cs typeface="Rubik" pitchFamily="34" charset="-120"/>
              </a:rPr>
              <a:t>1. Look</a:t>
            </a:r>
            <a:endParaRPr lang="en-US" sz="1600" dirty="0"/>
          </a:p>
        </p:txBody>
      </p:sp>
      <p:sp>
        <p:nvSpPr>
          <p:cNvPr id="6" name="Text 4"/>
          <p:cNvSpPr/>
          <p:nvPr/>
        </p:nvSpPr>
        <p:spPr>
          <a:xfrm>
            <a:off x="1016000" y="2556511"/>
            <a:ext cx="281852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CEDC"/>
                </a:solidFill>
                <a:latin typeface="Nunito Sans" pitchFamily="34" charset="0"/>
                <a:ea typeface="Nunito Sans" pitchFamily="34" charset="-122"/>
                <a:cs typeface="Nunito Sans" pitchFamily="34" charset="-120"/>
              </a:rPr>
              <a:t>The AI sees the tumour this week</a:t>
            </a:r>
            <a:endParaRPr lang="en-US" sz="1300" dirty="0"/>
          </a:p>
        </p:txBody>
      </p:sp>
      <p:pic>
        <p:nvPicPr>
          <p:cNvPr id="7" name="Image 0" descr="arrow-right"/>
          <p:cNvPicPr>
            <a:picLocks noChangeAspect="1"/>
          </p:cNvPicPr>
          <p:nvPr/>
        </p:nvPicPr>
        <p:blipFill>
          <a:blip r:embed="rId3"/>
          <a:srcRect/>
          <a:stretch/>
        </p:blipFill>
        <p:spPr>
          <a:xfrm>
            <a:off x="4082627" y="2415539"/>
            <a:ext cx="304800" cy="152400"/>
          </a:xfrm>
          <a:prstGeom prst="rect">
            <a:avLst/>
          </a:prstGeom>
        </p:spPr>
      </p:pic>
      <p:sp>
        <p:nvSpPr>
          <p:cNvPr id="8" name="Shape 5"/>
          <p:cNvSpPr/>
          <p:nvPr/>
        </p:nvSpPr>
        <p:spPr>
          <a:xfrm>
            <a:off x="4514427" y="1992630"/>
            <a:ext cx="3142827" cy="998220"/>
          </a:xfrm>
          <a:prstGeom prst="roundRect">
            <a:avLst>
              <a:gd name="adj" fmla="val 12723"/>
            </a:avLst>
          </a:prstGeom>
          <a:solidFill>
            <a:srgbClr val="2B6CB0"/>
          </a:solidFill>
          <a:ln/>
        </p:spPr>
      </p:sp>
      <p:sp>
        <p:nvSpPr>
          <p:cNvPr id="9" name="Text 6"/>
          <p:cNvSpPr/>
          <p:nvPr/>
        </p:nvSpPr>
        <p:spPr>
          <a:xfrm>
            <a:off x="4717627" y="2195830"/>
            <a:ext cx="281852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AF8F3"/>
                </a:solidFill>
                <a:latin typeface="Rubik" pitchFamily="34" charset="0"/>
                <a:ea typeface="Rubik" pitchFamily="34" charset="-122"/>
                <a:cs typeface="Rubik" pitchFamily="34" charset="-120"/>
              </a:rPr>
              <a:t>2. Decide</a:t>
            </a:r>
            <a:endParaRPr lang="en-US" sz="1600" dirty="0"/>
          </a:p>
        </p:txBody>
      </p:sp>
      <p:sp>
        <p:nvSpPr>
          <p:cNvPr id="10" name="Text 7"/>
          <p:cNvSpPr/>
          <p:nvPr/>
        </p:nvSpPr>
        <p:spPr>
          <a:xfrm>
            <a:off x="4717627" y="2556511"/>
            <a:ext cx="281852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8F3"/>
                </a:solidFill>
                <a:latin typeface="Nunito Sans" pitchFamily="34" charset="0"/>
                <a:ea typeface="Nunito Sans" pitchFamily="34" charset="-122"/>
                <a:cs typeface="Nunito Sans" pitchFamily="34" charset="-120"/>
              </a:rPr>
              <a:t>Drug on or off for the next week</a:t>
            </a:r>
            <a:endParaRPr lang="en-US" sz="1300" dirty="0"/>
          </a:p>
        </p:txBody>
      </p:sp>
      <p:pic>
        <p:nvPicPr>
          <p:cNvPr id="11" name="Image 1" descr="arrow-right"/>
          <p:cNvPicPr>
            <a:picLocks noChangeAspect="1"/>
          </p:cNvPicPr>
          <p:nvPr/>
        </p:nvPicPr>
        <p:blipFill>
          <a:blip r:embed="rId3"/>
          <a:srcRect/>
          <a:stretch/>
        </p:blipFill>
        <p:spPr>
          <a:xfrm>
            <a:off x="7784254" y="2415539"/>
            <a:ext cx="304800" cy="152400"/>
          </a:xfrm>
          <a:prstGeom prst="rect">
            <a:avLst/>
          </a:prstGeom>
        </p:spPr>
      </p:pic>
      <p:sp>
        <p:nvSpPr>
          <p:cNvPr id="12" name="Shape 8"/>
          <p:cNvSpPr/>
          <p:nvPr/>
        </p:nvSpPr>
        <p:spPr>
          <a:xfrm>
            <a:off x="8222404" y="1873250"/>
            <a:ext cx="3150447" cy="1236980"/>
          </a:xfrm>
          <a:prstGeom prst="roundRect">
            <a:avLst>
              <a:gd name="adj" fmla="val 9754"/>
            </a:avLst>
          </a:prstGeom>
          <a:solidFill>
            <a:srgbClr val="FFFFFF"/>
          </a:solidFill>
          <a:ln w="12700">
            <a:solidFill>
              <a:srgbClr val="2B6CB0"/>
            </a:solidFill>
            <a:prstDash val="solid"/>
          </a:ln>
        </p:spPr>
      </p:sp>
      <p:sp>
        <p:nvSpPr>
          <p:cNvPr id="13" name="Text 9"/>
          <p:cNvSpPr/>
          <p:nvPr/>
        </p:nvSpPr>
        <p:spPr>
          <a:xfrm>
            <a:off x="8429413" y="2080261"/>
            <a:ext cx="281852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2B44"/>
                </a:solidFill>
                <a:latin typeface="Rubik" pitchFamily="34" charset="0"/>
                <a:ea typeface="Rubik" pitchFamily="34" charset="-122"/>
                <a:cs typeface="Rubik" pitchFamily="34" charset="-120"/>
              </a:rPr>
              <a:t>3. Get a reward</a:t>
            </a:r>
            <a:endParaRPr lang="en-US" sz="1600" dirty="0"/>
          </a:p>
        </p:txBody>
      </p:sp>
      <p:sp>
        <p:nvSpPr>
          <p:cNvPr id="14" name="Text 10"/>
          <p:cNvSpPr/>
          <p:nvPr/>
        </p:nvSpPr>
        <p:spPr>
          <a:xfrm>
            <a:off x="8429413" y="2440939"/>
            <a:ext cx="281852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The simulator moves a week ahead and scores the result</a:t>
            </a:r>
            <a:endParaRPr lang="en-US" sz="1300" dirty="0"/>
          </a:p>
        </p:txBody>
      </p:sp>
      <p:sp>
        <p:nvSpPr>
          <p:cNvPr id="15" name="Text 11"/>
          <p:cNvSpPr/>
          <p:nvPr/>
        </p:nvSpPr>
        <p:spPr>
          <a:xfrm>
            <a:off x="812800" y="3395980"/>
            <a:ext cx="10566400" cy="838200"/>
          </a:xfrm>
          <a:prstGeom prst="roundRect">
            <a:avLst>
              <a:gd name="adj" fmla="val 9091"/>
            </a:avLst>
          </a:prstGeom>
          <a:solidFill>
            <a:srgbClr val="EAF0F7"/>
          </a:solidFill>
          <a:ln/>
        </p:spPr>
        <p:txBody>
          <a:bodyPr wrap="square" lIns="180882" tIns="130082" rIns="0" bIns="104682" rtlCol="0" anchor="t">
            <a:normAutofit/>
          </a:bodyPr>
          <a:lstStyle/>
          <a:p>
            <a:pPr marL="0" indent="0" algn="l">
              <a:lnSpc>
                <a:spcPts val="2100"/>
              </a:lnSpc>
              <a:buNone/>
            </a:pPr>
            <a:r>
              <a:rPr lang="en-US" sz="1500" dirty="0">
                <a:solidFill>
                  <a:srgbClr val="1D2B44"/>
                </a:solidFill>
                <a:latin typeface="Nunito Sans" pitchFamily="34" charset="0"/>
                <a:ea typeface="Nunito Sans" pitchFamily="34" charset="-122"/>
                <a:cs typeface="Nunito Sans" pitchFamily="34" charset="-120"/>
              </a:rPr>
              <a:t>Repeat about </a:t>
            </a:r>
            <a:r>
              <a:rPr lang="en-US" sz="1500" b="1" dirty="0">
                <a:solidFill>
                  <a:srgbClr val="1D2B44"/>
                </a:solidFill>
                <a:latin typeface="Nunito Sans" pitchFamily="34" charset="0"/>
                <a:ea typeface="Nunito Sans" pitchFamily="34" charset="-122"/>
                <a:cs typeface="Nunito Sans" pitchFamily="34" charset="-120"/>
              </a:rPr>
              <a:t>a million times</a:t>
            </a:r>
            <a:r>
              <a:rPr lang="en-US" sz="1500" dirty="0">
                <a:solidFill>
                  <a:srgbClr val="1D2B44"/>
                </a:solidFill>
                <a:latin typeface="Nunito Sans" pitchFamily="34" charset="0"/>
                <a:ea typeface="Nunito Sans" pitchFamily="34" charset="-122"/>
                <a:cs typeface="Nunito Sans" pitchFamily="34" charset="-120"/>
              </a:rPr>
              <a:t> and the AI learns which choices earn the most reward. This is called reinforcement learning.</a:t>
            </a:r>
            <a:endParaRPr lang="en-US" sz="1500" dirty="0"/>
          </a:p>
        </p:txBody>
      </p:sp>
      <p:sp>
        <p:nvSpPr>
          <p:cNvPr id="16" name="Text 12"/>
          <p:cNvSpPr/>
          <p:nvPr/>
        </p:nvSpPr>
        <p:spPr>
          <a:xfrm>
            <a:off x="812800" y="4513580"/>
            <a:ext cx="533704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The reward is the goal.</a:t>
            </a:r>
            <a:r>
              <a:rPr lang="en-US" sz="1400" dirty="0">
                <a:solidFill>
                  <a:srgbClr val="3F4A5C"/>
                </a:solidFill>
                <a:latin typeface="Nunito Sans" pitchFamily="34" charset="0"/>
                <a:ea typeface="Nunito Sans" pitchFamily="34" charset="-122"/>
                <a:cs typeface="Nunito Sans" pitchFamily="34" charset="-120"/>
              </a:rPr>
              <a:t> Change it and the AI learns something different.</a:t>
            </a:r>
            <a:endParaRPr lang="en-US" sz="1400" dirty="0"/>
          </a:p>
        </p:txBody>
      </p:sp>
      <p:sp>
        <p:nvSpPr>
          <p:cNvPr id="17" name="Text 13"/>
          <p:cNvSpPr/>
          <p:nvPr/>
        </p:nvSpPr>
        <p:spPr>
          <a:xfrm>
            <a:off x="6197600" y="4513580"/>
            <a:ext cx="533704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10 copies per goal.</a:t>
            </a:r>
            <a:r>
              <a:rPr lang="en-US" sz="1400" dirty="0">
                <a:solidFill>
                  <a:srgbClr val="3F4A5C"/>
                </a:solidFill>
                <a:latin typeface="Nunito Sans" pitchFamily="34" charset="0"/>
                <a:ea typeface="Nunito Sans" pitchFamily="34" charset="-122"/>
                <a:cs typeface="Nunito Sans" pitchFamily="34" charset="-120"/>
              </a:rPr>
              <a:t> We train ten separate AIs to make sure results are not luck.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INTRODUCTION · OUR QUESTION</a:t>
            </a:r>
            <a:endParaRPr lang="en-US" sz="1300" dirty="0"/>
          </a:p>
        </p:txBody>
      </p:sp>
      <p:sp>
        <p:nvSpPr>
          <p:cNvPr id="3" name="Text 1"/>
          <p:cNvSpPr>
            <a:spLocks noGrp="1"/>
          </p:cNvSpPr>
          <p:nvPr>
            <p:ph type="title"/>
          </p:nvPr>
        </p:nvSpPr>
        <p:spPr>
          <a:xfrm>
            <a:off x="812800" y="112013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Which goal should the AI be given?</a:t>
            </a:r>
            <a:endParaRPr lang="en-US" sz="3200" dirty="0"/>
          </a:p>
        </p:txBody>
      </p:sp>
      <p:sp>
        <p:nvSpPr>
          <p:cNvPr id="4" name="Shape 2"/>
          <p:cNvSpPr/>
          <p:nvPr/>
        </p:nvSpPr>
        <p:spPr>
          <a:xfrm>
            <a:off x="812800" y="1866900"/>
            <a:ext cx="10566400" cy="2181860"/>
          </a:xfrm>
          <a:prstGeom prst="rect">
            <a:avLst/>
          </a:prstGeom>
          <a:solidFill>
            <a:srgbClr val="FFFFFF"/>
          </a:solidFill>
          <a:ln/>
        </p:spPr>
      </p:sp>
      <p:sp>
        <p:nvSpPr>
          <p:cNvPr id="5" name="Shape 3"/>
          <p:cNvSpPr/>
          <p:nvPr/>
        </p:nvSpPr>
        <p:spPr>
          <a:xfrm>
            <a:off x="11376025" y="1866900"/>
            <a:ext cx="0" cy="2181860"/>
          </a:xfrm>
          <a:prstGeom prst="line">
            <a:avLst/>
          </a:prstGeom>
          <a:noFill/>
          <a:ln w="6350">
            <a:solidFill>
              <a:srgbClr val="E4E0D6"/>
            </a:solidFill>
            <a:prstDash val="solid"/>
          </a:ln>
        </p:spPr>
      </p:sp>
      <p:sp>
        <p:nvSpPr>
          <p:cNvPr id="6" name="Shape 4"/>
          <p:cNvSpPr/>
          <p:nvPr/>
        </p:nvSpPr>
        <p:spPr>
          <a:xfrm>
            <a:off x="812800" y="4045585"/>
            <a:ext cx="10566400" cy="0"/>
          </a:xfrm>
          <a:prstGeom prst="line">
            <a:avLst/>
          </a:prstGeom>
          <a:noFill/>
          <a:ln w="6350">
            <a:solidFill>
              <a:srgbClr val="E4E0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77060"/>
          <a:ext cx="10551159" cy="2166620"/>
        </p:xfrm>
        <a:graphic>
          <a:graphicData uri="http://schemas.openxmlformats.org/drawingml/2006/table">
            <a:tbl>
              <a:tblPr/>
              <a:tblGrid>
                <a:gridCol w="2532278">
                  <a:extLst>
                    <a:ext uri="{9D8B030D-6E8A-4147-A177-3AD203B41FA5}">
                      <a16:colId xmlns:a16="http://schemas.microsoft.com/office/drawing/2014/main" val="20000"/>
                    </a:ext>
                  </a:extLst>
                </a:gridCol>
                <a:gridCol w="5697626">
                  <a:extLst>
                    <a:ext uri="{9D8B030D-6E8A-4147-A177-3AD203B41FA5}">
                      <a16:colId xmlns:a16="http://schemas.microsoft.com/office/drawing/2014/main" val="20001"/>
                    </a:ext>
                  </a:extLst>
                </a:gridCol>
                <a:gridCol w="2321255">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4F1EA"/>
                          </a:solidFill>
                          <a:latin typeface="Nunito Sans" pitchFamily="34" charset="0"/>
                          <a:ea typeface="Nunito Sans" pitchFamily="34" charset="-122"/>
                          <a:cs typeface="Nunito Sans" pitchFamily="34" charset="-120"/>
                        </a:rPr>
                        <a:t>Goal</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nSpc>
                          <a:spcPts val="1960"/>
                        </a:lnSpc>
                        <a:buNone/>
                      </a:pPr>
                      <a:r>
                        <a:rPr lang="en-US" sz="1400" b="1" dirty="0">
                          <a:solidFill>
                            <a:srgbClr val="F4F1EA"/>
                          </a:solidFill>
                          <a:latin typeface="Nunito Sans" pitchFamily="34" charset="0"/>
                          <a:ea typeface="Nunito Sans" pitchFamily="34" charset="-122"/>
                          <a:cs typeface="Nunito Sans" pitchFamily="34" charset="-120"/>
                        </a:rPr>
                        <a:t>In plain words</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nSpc>
                          <a:spcPts val="1960"/>
                        </a:lnSpc>
                        <a:buNone/>
                      </a:pPr>
                      <a:r>
                        <a:rPr lang="en-US" sz="1400" b="1" dirty="0">
                          <a:solidFill>
                            <a:srgbClr val="F4F1EA"/>
                          </a:solidFill>
                          <a:latin typeface="Nunito Sans" pitchFamily="34" charset="0"/>
                          <a:ea typeface="Nunito Sans" pitchFamily="34" charset="-122"/>
                          <a:cs typeface="Nunito Sans" pitchFamily="34" charset="-120"/>
                        </a:rPr>
                        <a:t>Taken from</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R1 Survival</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Stay alive longer; small bonus for drug-free weeks</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Gallagher 2023</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R2 Less drug</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Use as little drug as possible, for as short a time as possible</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Gluzman 2020</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R3 Keep the mix</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Keep sensitive and resistant cells in a balanced mix</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Giles &amp; Newton 2026</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63246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R4 Lasting control</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Leave a tumour that stays mostly sensitive, even after a long drug break</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Yao 2024</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bl>
          </a:graphicData>
        </a:graphic>
      </p:graphicFrame>
      <p:sp>
        <p:nvSpPr>
          <p:cNvPr id="8" name="Text 5"/>
          <p:cNvSpPr/>
          <p:nvPr/>
        </p:nvSpPr>
        <p:spPr>
          <a:xfrm>
            <a:off x="812800" y="4328161"/>
            <a:ext cx="10566400" cy="571500"/>
          </a:xfrm>
          <a:prstGeom prst="roundRect">
            <a:avLst>
              <a:gd name="adj" fmla="val 13333"/>
            </a:avLst>
          </a:prstGeom>
          <a:solidFill>
            <a:srgbClr val="EAF0F7"/>
          </a:solidFill>
          <a:ln/>
        </p:spPr>
        <p:txBody>
          <a:bodyPr wrap="square" lIns="180882" tIns="130082" rIns="0" bIns="104682" rtlCol="0" anchor="t">
            <a:normAutofit/>
          </a:bodyPr>
          <a:lstStyle/>
          <a:p>
            <a:pPr marL="0" indent="0" algn="l">
              <a:lnSpc>
                <a:spcPts val="2100"/>
              </a:lnSpc>
              <a:buNone/>
            </a:pPr>
            <a:r>
              <a:rPr lang="en-US" sz="1500" dirty="0">
                <a:solidFill>
                  <a:srgbClr val="1D2B44"/>
                </a:solidFill>
                <a:latin typeface="Nunito Sans" pitchFamily="34" charset="0"/>
                <a:ea typeface="Nunito Sans" pitchFamily="34" charset="-122"/>
                <a:cs typeface="Nunito Sans" pitchFamily="34" charset="-120"/>
              </a:rPr>
              <a:t>Each paper used a different goal </a:t>
            </a:r>
            <a:r>
              <a:rPr lang="en-US" sz="1500" i="1" dirty="0">
                <a:solidFill>
                  <a:srgbClr val="1D2B44"/>
                </a:solidFill>
                <a:latin typeface="Nunito Sans" pitchFamily="34" charset="0"/>
                <a:ea typeface="Nunito Sans" pitchFamily="34" charset="-122"/>
                <a:cs typeface="Nunito Sans" pitchFamily="34" charset="-120"/>
              </a:rPr>
              <a:t>and</a:t>
            </a:r>
            <a:r>
              <a:rPr lang="en-US" sz="1500" dirty="0">
                <a:solidFill>
                  <a:srgbClr val="1D2B44"/>
                </a:solidFill>
                <a:latin typeface="Nunito Sans" pitchFamily="34" charset="0"/>
                <a:ea typeface="Nunito Sans" pitchFamily="34" charset="-122"/>
                <a:cs typeface="Nunito Sans" pitchFamily="34" charset="-120"/>
              </a:rPr>
              <a:t> a different simulator. We put all four in </a:t>
            </a:r>
            <a:r>
              <a:rPr lang="en-US" sz="1500" b="1" dirty="0">
                <a:solidFill>
                  <a:srgbClr val="1D2B44"/>
                </a:solidFill>
                <a:latin typeface="Nunito Sans" pitchFamily="34" charset="0"/>
                <a:ea typeface="Nunito Sans" pitchFamily="34" charset="-122"/>
                <a:cs typeface="Nunito Sans" pitchFamily="34" charset="-120"/>
              </a:rPr>
              <a:t>one</a:t>
            </a:r>
            <a:r>
              <a:rPr lang="en-US" sz="1500" dirty="0">
                <a:solidFill>
                  <a:srgbClr val="1D2B44"/>
                </a:solidFill>
                <a:latin typeface="Nunito Sans" pitchFamily="34" charset="0"/>
                <a:ea typeface="Nunito Sans" pitchFamily="34" charset="-122"/>
                <a:cs typeface="Nunito Sans" pitchFamily="34" charset="-120"/>
              </a:rPr>
              <a:t> simulator, so only the goal changes.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INTRODUCTION · THE SIMULATOR</a:t>
            </a:r>
            <a:endParaRPr lang="en-US" sz="1300" dirty="0"/>
          </a:p>
        </p:txBody>
      </p:sp>
      <p:sp>
        <p:nvSpPr>
          <p:cNvPr id="3" name="Text 1"/>
          <p:cNvSpPr>
            <a:spLocks noGrp="1"/>
          </p:cNvSpPr>
          <p:nvPr>
            <p:ph type="title"/>
          </p:nvPr>
        </p:nvSpPr>
        <p:spPr>
          <a:xfrm>
            <a:off x="812800" y="112013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Our virtual patient</a:t>
            </a:r>
            <a:endParaRPr lang="en-US" sz="3200" dirty="0"/>
          </a:p>
        </p:txBody>
      </p:sp>
      <p:sp>
        <p:nvSpPr>
          <p:cNvPr id="4" name="Text 2"/>
          <p:cNvSpPr/>
          <p:nvPr/>
        </p:nvSpPr>
        <p:spPr>
          <a:xfrm>
            <a:off x="8128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5" name="Text 3"/>
          <p:cNvSpPr/>
          <p:nvPr/>
        </p:nvSpPr>
        <p:spPr>
          <a:xfrm>
            <a:off x="1244600" y="1892300"/>
            <a:ext cx="62003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Two groups of cells grow and compete for the same space (a standard model by Strobl, 2021).</a:t>
            </a:r>
            <a:endParaRPr lang="en-US" sz="1500" dirty="0"/>
          </a:p>
        </p:txBody>
      </p:sp>
      <p:sp>
        <p:nvSpPr>
          <p:cNvPr id="6" name="Text 4"/>
          <p:cNvSpPr/>
          <p:nvPr/>
        </p:nvSpPr>
        <p:spPr>
          <a:xfrm>
            <a:off x="8128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7" name="Text 5"/>
          <p:cNvSpPr/>
          <p:nvPr/>
        </p:nvSpPr>
        <p:spPr>
          <a:xfrm>
            <a:off x="1244600" y="2603500"/>
            <a:ext cx="6324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drug kills sensitive cells that are dividing. Resistant cells ignore it.</a:t>
            </a:r>
            <a:endParaRPr lang="en-US" sz="1500" dirty="0"/>
          </a:p>
        </p:txBody>
      </p:sp>
      <p:sp>
        <p:nvSpPr>
          <p:cNvPr id="8" name="Text 6"/>
          <p:cNvSpPr/>
          <p:nvPr/>
        </p:nvSpPr>
        <p:spPr>
          <a:xfrm>
            <a:off x="812800" y="3101339"/>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9" name="Text 7"/>
          <p:cNvSpPr/>
          <p:nvPr/>
        </p:nvSpPr>
        <p:spPr>
          <a:xfrm>
            <a:off x="1244600" y="3101339"/>
            <a:ext cx="620039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Every week, a decision: drug on or drug off.</a:t>
            </a:r>
            <a:endParaRPr lang="en-US" sz="1500" dirty="0"/>
          </a:p>
        </p:txBody>
      </p:sp>
      <p:sp>
        <p:nvSpPr>
          <p:cNvPr id="10" name="Text 8"/>
          <p:cNvSpPr/>
          <p:nvPr/>
        </p:nvSpPr>
        <p:spPr>
          <a:xfrm>
            <a:off x="812800" y="3599179"/>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1" name="Text 9"/>
          <p:cNvSpPr/>
          <p:nvPr/>
        </p:nvSpPr>
        <p:spPr>
          <a:xfrm>
            <a:off x="1244600" y="3599179"/>
            <a:ext cx="6324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Treatment has </a:t>
            </a:r>
            <a:r>
              <a:rPr lang="en-US" sz="1500" b="1" dirty="0">
                <a:solidFill>
                  <a:srgbClr val="3F4A5C"/>
                </a:solidFill>
                <a:latin typeface="Nunito Sans" pitchFamily="34" charset="0"/>
                <a:ea typeface="Nunito Sans" pitchFamily="34" charset="-122"/>
                <a:cs typeface="Nunito Sans" pitchFamily="34" charset="-120"/>
              </a:rPr>
              <a:t>failed</a:t>
            </a:r>
            <a:r>
              <a:rPr lang="en-US" sz="1500" dirty="0">
                <a:solidFill>
                  <a:srgbClr val="3F4A5C"/>
                </a:solidFill>
                <a:latin typeface="Nunito Sans" pitchFamily="34" charset="0"/>
                <a:ea typeface="Nunito Sans" pitchFamily="34" charset="-122"/>
                <a:cs typeface="Nunito Sans" pitchFamily="34" charset="-120"/>
              </a:rPr>
              <a:t> once the tumour is 20% bigger than at the start.</a:t>
            </a:r>
            <a:endParaRPr lang="en-US" sz="1500" dirty="0"/>
          </a:p>
        </p:txBody>
      </p:sp>
      <p:sp>
        <p:nvSpPr>
          <p:cNvPr id="12" name="Shape 10"/>
          <p:cNvSpPr/>
          <p:nvPr/>
        </p:nvSpPr>
        <p:spPr>
          <a:xfrm>
            <a:off x="7572375" y="1895475"/>
            <a:ext cx="3803650" cy="2726690"/>
          </a:xfrm>
          <a:prstGeom prst="roundRect">
            <a:avLst>
              <a:gd name="adj" fmla="val 4541"/>
            </a:avLst>
          </a:prstGeom>
          <a:solidFill>
            <a:srgbClr val="FFFFFF"/>
          </a:solidFill>
          <a:ln w="6350">
            <a:solidFill>
              <a:srgbClr val="E4E0D6"/>
            </a:solidFill>
            <a:prstDash val="solid"/>
          </a:ln>
        </p:spPr>
      </p:sp>
      <p:sp>
        <p:nvSpPr>
          <p:cNvPr id="13" name="Text 11"/>
          <p:cNvSpPr/>
          <p:nvPr/>
        </p:nvSpPr>
        <p:spPr>
          <a:xfrm>
            <a:off x="7828280" y="2151379"/>
            <a:ext cx="339059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Nunito Sans" pitchFamily="34" charset="0"/>
                <a:ea typeface="Nunito Sans" pitchFamily="34" charset="-122"/>
                <a:cs typeface="Nunito Sans" pitchFamily="34" charset="-120"/>
              </a:rPr>
              <a:t>THE MAIN PATIENT</a:t>
            </a:r>
            <a:endParaRPr lang="en-US" sz="1200" dirty="0"/>
          </a:p>
        </p:txBody>
      </p:sp>
      <p:sp>
        <p:nvSpPr>
          <p:cNvPr id="14" name="Text 12"/>
          <p:cNvSpPr/>
          <p:nvPr/>
        </p:nvSpPr>
        <p:spPr>
          <a:xfrm>
            <a:off x="7828280" y="2491739"/>
            <a:ext cx="339059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Start:</a:t>
            </a:r>
            <a:r>
              <a:rPr lang="en-US" sz="1400" dirty="0">
                <a:solidFill>
                  <a:srgbClr val="3F4A5C"/>
                </a:solidFill>
                <a:latin typeface="Nunito Sans" pitchFamily="34" charset="0"/>
                <a:ea typeface="Nunito Sans" pitchFamily="34" charset="-122"/>
                <a:cs typeface="Nunito Sans" pitchFamily="34" charset="-120"/>
              </a:rPr>
              <a:t> 99.9% sensitive, 0.1% resistant</a:t>
            </a:r>
            <a:endParaRPr lang="en-US" sz="1400" dirty="0"/>
          </a:p>
        </p:txBody>
      </p:sp>
      <p:sp>
        <p:nvSpPr>
          <p:cNvPr id="15" name="Text 13"/>
          <p:cNvSpPr/>
          <p:nvPr/>
        </p:nvSpPr>
        <p:spPr>
          <a:xfrm>
            <a:off x="7828280" y="2867661"/>
            <a:ext cx="339059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Failure line:</a:t>
            </a:r>
            <a:r>
              <a:rPr lang="en-US" sz="1400" dirty="0">
                <a:solidFill>
                  <a:srgbClr val="3F4A5C"/>
                </a:solidFill>
                <a:latin typeface="Nunito Sans" pitchFamily="34" charset="0"/>
                <a:ea typeface="Nunito Sans" pitchFamily="34" charset="-122"/>
                <a:cs typeface="Nunito Sans" pitchFamily="34" charset="-120"/>
              </a:rPr>
              <a:t> 1.2 × starting size</a:t>
            </a:r>
            <a:endParaRPr lang="en-US" sz="1400" dirty="0"/>
          </a:p>
        </p:txBody>
      </p:sp>
      <p:sp>
        <p:nvSpPr>
          <p:cNvPr id="16" name="Text 14"/>
          <p:cNvSpPr/>
          <p:nvPr/>
        </p:nvSpPr>
        <p:spPr>
          <a:xfrm>
            <a:off x="7828280" y="3243579"/>
            <a:ext cx="3390595"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Resistant cells:</a:t>
            </a:r>
            <a:r>
              <a:rPr lang="en-US" sz="1400" dirty="0">
                <a:solidFill>
                  <a:srgbClr val="3F4A5C"/>
                </a:solidFill>
                <a:latin typeface="Nunito Sans" pitchFamily="34" charset="0"/>
                <a:ea typeface="Nunito Sans" pitchFamily="34" charset="-122"/>
                <a:cs typeface="Nunito Sans" pitchFamily="34" charset="-120"/>
              </a:rPr>
              <a:t> grow as fast as sensitive ones</a:t>
            </a:r>
            <a:endParaRPr lang="en-US" sz="1400" dirty="0"/>
          </a:p>
        </p:txBody>
      </p:sp>
      <p:sp>
        <p:nvSpPr>
          <p:cNvPr id="17" name="Text 15"/>
          <p:cNvSpPr/>
          <p:nvPr/>
        </p:nvSpPr>
        <p:spPr>
          <a:xfrm>
            <a:off x="7828280" y="3868421"/>
            <a:ext cx="3390595"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Source:</a:t>
            </a:r>
            <a:r>
              <a:rPr lang="en-US" sz="1400" dirty="0">
                <a:solidFill>
                  <a:srgbClr val="3F4A5C"/>
                </a:solidFill>
                <a:latin typeface="Nunito Sans" pitchFamily="34" charset="0"/>
                <a:ea typeface="Nunito Sans" pitchFamily="34" charset="-122"/>
                <a:cs typeface="Nunito Sans" pitchFamily="34" charset="-120"/>
              </a:rPr>
              <a:t> the same patient as Gallagher et al. 2023</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INTRODUCTION · KEY WORDS</a:t>
            </a:r>
            <a:endParaRPr lang="en-US" sz="1300" dirty="0"/>
          </a:p>
        </p:txBody>
      </p:sp>
      <p:sp>
        <p:nvSpPr>
          <p:cNvPr id="3" name="Text 1"/>
          <p:cNvSpPr>
            <a:spLocks noGrp="1"/>
          </p:cNvSpPr>
          <p:nvPr>
            <p:ph type="title"/>
          </p:nvPr>
        </p:nvSpPr>
        <p:spPr>
          <a:xfrm>
            <a:off x="812800" y="112013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Six words used on almost every slide</a:t>
            </a:r>
            <a:endParaRPr lang="en-US" sz="3200" dirty="0"/>
          </a:p>
        </p:txBody>
      </p:sp>
      <p:sp>
        <p:nvSpPr>
          <p:cNvPr id="4" name="Shape 2"/>
          <p:cNvSpPr/>
          <p:nvPr/>
        </p:nvSpPr>
        <p:spPr>
          <a:xfrm>
            <a:off x="812800" y="1866900"/>
            <a:ext cx="10566400" cy="2606675"/>
          </a:xfrm>
          <a:prstGeom prst="rect">
            <a:avLst/>
          </a:prstGeom>
          <a:solidFill>
            <a:srgbClr val="FFFFFF"/>
          </a:solidFill>
          <a:ln/>
        </p:spPr>
      </p:sp>
      <p:sp>
        <p:nvSpPr>
          <p:cNvPr id="5" name="Shape 3"/>
          <p:cNvSpPr/>
          <p:nvPr/>
        </p:nvSpPr>
        <p:spPr>
          <a:xfrm>
            <a:off x="11376025" y="1866900"/>
            <a:ext cx="0" cy="2606675"/>
          </a:xfrm>
          <a:prstGeom prst="line">
            <a:avLst/>
          </a:prstGeom>
          <a:noFill/>
          <a:ln w="6350">
            <a:solidFill>
              <a:srgbClr val="E4E0D6"/>
            </a:solidFill>
            <a:prstDash val="solid"/>
          </a:ln>
        </p:spPr>
      </p:sp>
      <p:sp>
        <p:nvSpPr>
          <p:cNvPr id="6" name="Shape 4"/>
          <p:cNvSpPr/>
          <p:nvPr/>
        </p:nvSpPr>
        <p:spPr>
          <a:xfrm>
            <a:off x="812800" y="4470400"/>
            <a:ext cx="10566400" cy="0"/>
          </a:xfrm>
          <a:prstGeom prst="line">
            <a:avLst/>
          </a:prstGeom>
          <a:noFill/>
          <a:ln w="6350">
            <a:solidFill>
              <a:srgbClr val="E4E0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77060"/>
          <a:ext cx="10551160" cy="2591435"/>
        </p:xfrm>
        <a:graphic>
          <a:graphicData uri="http://schemas.openxmlformats.org/drawingml/2006/table">
            <a:tbl>
              <a:tblPr/>
              <a:tblGrid>
                <a:gridCol w="3165348">
                  <a:extLst>
                    <a:ext uri="{9D8B030D-6E8A-4147-A177-3AD203B41FA5}">
                      <a16:colId xmlns:a16="http://schemas.microsoft.com/office/drawing/2014/main" val="20000"/>
                    </a:ext>
                  </a:extLst>
                </a:gridCol>
                <a:gridCol w="7385812">
                  <a:extLst>
                    <a:ext uri="{9D8B030D-6E8A-4147-A177-3AD203B41FA5}">
                      <a16:colId xmlns:a16="http://schemas.microsoft.com/office/drawing/2014/main" val="20001"/>
                    </a:ext>
                  </a:extLst>
                </a:gridCol>
              </a:tblGrid>
              <a:tr h="370205">
                <a:tc>
                  <a:txBody>
                    <a:bodyPr/>
                    <a:lstStyle/>
                    <a:p>
                      <a:pPr marL="0" indent="0">
                        <a:lnSpc>
                          <a:spcPts val="1890"/>
                        </a:lnSpc>
                        <a:buNone/>
                      </a:pPr>
                      <a:r>
                        <a:rPr lang="en-US" sz="1350" b="1" dirty="0">
                          <a:solidFill>
                            <a:srgbClr val="F4F1EA"/>
                          </a:solidFill>
                          <a:latin typeface="Nunito Sans" pitchFamily="34" charset="0"/>
                          <a:ea typeface="Nunito Sans" pitchFamily="34" charset="-122"/>
                          <a:cs typeface="Nunito Sans" pitchFamily="34" charset="-120"/>
                        </a:rPr>
                        <a:t>Word</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nSpc>
                          <a:spcPts val="1890"/>
                        </a:lnSpc>
                        <a:buNone/>
                      </a:pPr>
                      <a:r>
                        <a:rPr lang="en-US" sz="1350" b="1" dirty="0">
                          <a:solidFill>
                            <a:srgbClr val="F4F1EA"/>
                          </a:solidFill>
                          <a:latin typeface="Nunito Sans" pitchFamily="34" charset="0"/>
                          <a:ea typeface="Nunito Sans" pitchFamily="34" charset="-122"/>
                          <a:cs typeface="Nunito Sans" pitchFamily="34" charset="-120"/>
                        </a:rPr>
                        <a:t>What it means here</a:t>
                      </a:r>
                      <a:endParaRPr lang="en-US" sz="1350" dirty="0">
                        <a:latin typeface="Nunito Sans" charset="0"/>
                        <a:ea typeface="Nunito Sans" charset="0"/>
                        <a:cs typeface="Nunito Sans" charset="0"/>
                      </a:endParaRPr>
                    </a:p>
                  </a:txBody>
                  <a:tcPr marL="60007" marR="60007" marT="60007" marB="60007">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70205">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Time to failure (TTP)</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Days until the tumour passes the failure line. Longer is better.</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70205">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Best possible plan</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Worked out exactly by a computer that knows the model (value iteration). Our ceiling.</a:t>
                      </a:r>
                      <a:endParaRPr lang="en-US" sz="1350" dirty="0">
                        <a:latin typeface="Nunito Sans" charset="0"/>
                        <a:ea typeface="Nunito Sans" charset="0"/>
                        <a:cs typeface="Nunito Sans" charset="0"/>
                      </a:endParaRPr>
                    </a:p>
                  </a:txBody>
                  <a:tcPr marL="60007" marR="60007" marT="60007" marB="60007">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70205">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Score</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0 = no better than no treatment; 1 = as good as the best possible plan.</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70205">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AI agent</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A program trained by trial and error. Below 0.7 on its own goal, we say it “did not train”.</a:t>
                      </a:r>
                      <a:endParaRPr lang="en-US" sz="1350" dirty="0">
                        <a:latin typeface="Nunito Sans" charset="0"/>
                        <a:ea typeface="Nunito Sans" charset="0"/>
                        <a:cs typeface="Nunito Sans" charset="0"/>
                      </a:endParaRPr>
                    </a:p>
                  </a:txBody>
                  <a:tcPr marL="60007" marR="60007" marT="60007" marB="60007">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370205">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Human rule</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A fixed schedule: full dose always (MTD), AT50, AT90, or a tuned rule (AT-PSC).</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70205">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Containment</a:t>
                      </a:r>
                      <a:endParaRPr lang="en-US" sz="1350" dirty="0">
                        <a:latin typeface="Nunito Sans" charset="0"/>
                        <a:ea typeface="Nunito Sans" charset="0"/>
                        <a:cs typeface="Nunito Sans" charset="0"/>
                      </a:endParaRPr>
                    </a:p>
                  </a:txBody>
                  <a:tcPr marL="60007" marR="60007" marT="60007" marB="60007">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890"/>
                        </a:lnSpc>
                        <a:buNone/>
                      </a:pPr>
                      <a:r>
                        <a:rPr lang="en-US" sz="1350" dirty="0">
                          <a:solidFill>
                            <a:srgbClr val="1D2B44"/>
                          </a:solidFill>
                          <a:latin typeface="Nunito Sans" pitchFamily="34" charset="0"/>
                          <a:ea typeface="Nunito Sans" pitchFamily="34" charset="-122"/>
                          <a:cs typeface="Nunito Sans" pitchFamily="34" charset="-120"/>
                        </a:rPr>
                        <a:t>Keep the tumour just below the failure line; give drug only when needed.</a:t>
                      </a:r>
                      <a:endParaRPr lang="en-US" sz="1350" dirty="0">
                        <a:latin typeface="Nunito Sans" charset="0"/>
                        <a:ea typeface="Nunito Sans" charset="0"/>
                        <a:cs typeface="Nunito Sans" charset="0"/>
                      </a:endParaRPr>
                    </a:p>
                  </a:txBody>
                  <a:tcPr marL="60007" marR="60007" marT="60007" marB="60007">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INTRODUCTION · ROADMAP</a:t>
            </a:r>
            <a:endParaRPr lang="en-US" sz="1300" dirty="0"/>
          </a:p>
        </p:txBody>
      </p:sp>
      <p:sp>
        <p:nvSpPr>
          <p:cNvPr id="3" name="Text 1"/>
          <p:cNvSpPr>
            <a:spLocks noGrp="1"/>
          </p:cNvSpPr>
          <p:nvPr>
            <p:ph type="title"/>
          </p:nvPr>
        </p:nvSpPr>
        <p:spPr>
          <a:xfrm>
            <a:off x="812800" y="112013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30 experiments in five parts</a:t>
            </a:r>
            <a:endParaRPr lang="en-US" sz="3200" dirty="0"/>
          </a:p>
        </p:txBody>
      </p:sp>
      <p:sp>
        <p:nvSpPr>
          <p:cNvPr id="4" name="Shape 2"/>
          <p:cNvSpPr/>
          <p:nvPr/>
        </p:nvSpPr>
        <p:spPr>
          <a:xfrm>
            <a:off x="812800" y="2161540"/>
            <a:ext cx="1940560" cy="0"/>
          </a:xfrm>
          <a:prstGeom prst="line">
            <a:avLst/>
          </a:prstGeom>
          <a:noFill/>
          <a:ln w="25400">
            <a:solidFill>
              <a:srgbClr val="1D2B44"/>
            </a:solidFill>
            <a:prstDash val="solid"/>
          </a:ln>
        </p:spPr>
      </p:sp>
      <p:sp>
        <p:nvSpPr>
          <p:cNvPr id="5" name="Text 3"/>
          <p:cNvSpPr/>
          <p:nvPr/>
        </p:nvSpPr>
        <p:spPr>
          <a:xfrm>
            <a:off x="812800" y="1866900"/>
            <a:ext cx="199877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1 · Check</a:t>
            </a:r>
            <a:endParaRPr lang="en-US" sz="1300" dirty="0"/>
          </a:p>
        </p:txBody>
      </p:sp>
      <p:sp>
        <p:nvSpPr>
          <p:cNvPr id="6" name="Text 4"/>
          <p:cNvSpPr/>
          <p:nvPr/>
        </p:nvSpPr>
        <p:spPr>
          <a:xfrm>
            <a:off x="812800" y="225043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E0</a:t>
            </a:r>
            <a:r>
              <a:rPr lang="en-US" sz="1200" dirty="0">
                <a:solidFill>
                  <a:srgbClr val="3F4A5C"/>
                </a:solidFill>
                <a:latin typeface="Nunito Sans" pitchFamily="34" charset="0"/>
                <a:ea typeface="Nunito Sans" pitchFamily="34" charset="-122"/>
                <a:cs typeface="Nunito Sans" pitchFamily="34" charset="-120"/>
              </a:rPr>
              <a:t> match the paper</a:t>
            </a:r>
            <a:endParaRPr lang="en-US" sz="1200" dirty="0"/>
          </a:p>
        </p:txBody>
      </p:sp>
      <p:sp>
        <p:nvSpPr>
          <p:cNvPr id="7" name="Text 5"/>
          <p:cNvSpPr/>
          <p:nvPr/>
        </p:nvSpPr>
        <p:spPr>
          <a:xfrm>
            <a:off x="812800" y="253237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E1</a:t>
            </a:r>
            <a:r>
              <a:rPr lang="en-US" sz="1200" dirty="0">
                <a:solidFill>
                  <a:srgbClr val="3F4A5C"/>
                </a:solidFill>
                <a:latin typeface="Nunito Sans" pitchFamily="34" charset="0"/>
                <a:ea typeface="Nunito Sans" pitchFamily="34" charset="-122"/>
                <a:cs typeface="Nunito Sans" pitchFamily="34" charset="-120"/>
              </a:rPr>
              <a:t> human rules</a:t>
            </a:r>
            <a:endParaRPr lang="en-US" sz="1200" dirty="0"/>
          </a:p>
        </p:txBody>
      </p:sp>
      <p:sp>
        <p:nvSpPr>
          <p:cNvPr id="8" name="Text 6"/>
          <p:cNvSpPr/>
          <p:nvPr/>
        </p:nvSpPr>
        <p:spPr>
          <a:xfrm>
            <a:off x="812800" y="2814321"/>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E2</a:t>
            </a:r>
            <a:r>
              <a:rPr lang="en-US" sz="1200" dirty="0">
                <a:solidFill>
                  <a:srgbClr val="3F4A5C"/>
                </a:solidFill>
                <a:latin typeface="Nunito Sans" pitchFamily="34" charset="0"/>
                <a:ea typeface="Nunito Sans" pitchFamily="34" charset="-122"/>
                <a:cs typeface="Nunito Sans" pitchFamily="34" charset="-120"/>
              </a:rPr>
              <a:t> best possible plan</a:t>
            </a:r>
            <a:endParaRPr lang="en-US" sz="1200" dirty="0"/>
          </a:p>
        </p:txBody>
      </p:sp>
      <p:sp>
        <p:nvSpPr>
          <p:cNvPr id="9" name="Shape 7"/>
          <p:cNvSpPr/>
          <p:nvPr/>
        </p:nvSpPr>
        <p:spPr>
          <a:xfrm>
            <a:off x="2905760" y="2161540"/>
            <a:ext cx="1940560" cy="0"/>
          </a:xfrm>
          <a:prstGeom prst="line">
            <a:avLst/>
          </a:prstGeom>
          <a:noFill/>
          <a:ln w="25400">
            <a:solidFill>
              <a:srgbClr val="1D2B44"/>
            </a:solidFill>
            <a:prstDash val="solid"/>
          </a:ln>
        </p:spPr>
      </p:sp>
      <p:sp>
        <p:nvSpPr>
          <p:cNvPr id="10" name="Text 8"/>
          <p:cNvSpPr/>
          <p:nvPr/>
        </p:nvSpPr>
        <p:spPr>
          <a:xfrm>
            <a:off x="2905760" y="1866900"/>
            <a:ext cx="199877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2 · Compare</a:t>
            </a:r>
            <a:endParaRPr lang="en-US" sz="1300" dirty="0"/>
          </a:p>
        </p:txBody>
      </p:sp>
      <p:sp>
        <p:nvSpPr>
          <p:cNvPr id="11" name="Text 9"/>
          <p:cNvSpPr/>
          <p:nvPr/>
        </p:nvSpPr>
        <p:spPr>
          <a:xfrm>
            <a:off x="2905760" y="225043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E3</a:t>
            </a:r>
            <a:r>
              <a:rPr lang="en-US" sz="1200" dirty="0">
                <a:solidFill>
                  <a:srgbClr val="3F4A5C"/>
                </a:solidFill>
                <a:latin typeface="Nunito Sans" pitchFamily="34" charset="0"/>
                <a:ea typeface="Nunito Sans" pitchFamily="34" charset="-122"/>
                <a:cs typeface="Nunito Sans" pitchFamily="34" charset="-120"/>
              </a:rPr>
              <a:t> train the AI</a:t>
            </a:r>
            <a:endParaRPr lang="en-US" sz="1200" dirty="0"/>
          </a:p>
        </p:txBody>
      </p:sp>
      <p:sp>
        <p:nvSpPr>
          <p:cNvPr id="12" name="Text 10"/>
          <p:cNvSpPr/>
          <p:nvPr/>
        </p:nvSpPr>
        <p:spPr>
          <a:xfrm>
            <a:off x="2905760" y="253237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E4</a:t>
            </a:r>
            <a:r>
              <a:rPr lang="en-US" sz="1200" dirty="0">
                <a:solidFill>
                  <a:srgbClr val="3F4A5C"/>
                </a:solidFill>
                <a:latin typeface="Nunito Sans" pitchFamily="34" charset="0"/>
                <a:ea typeface="Nunito Sans" pitchFamily="34" charset="-122"/>
                <a:cs typeface="Nunito Sans" pitchFamily="34" charset="-120"/>
              </a:rPr>
              <a:t> score on every goal</a:t>
            </a:r>
            <a:endParaRPr lang="en-US" sz="1200" dirty="0"/>
          </a:p>
        </p:txBody>
      </p:sp>
      <p:sp>
        <p:nvSpPr>
          <p:cNvPr id="13" name="Text 11"/>
          <p:cNvSpPr/>
          <p:nvPr/>
        </p:nvSpPr>
        <p:spPr>
          <a:xfrm>
            <a:off x="2905760" y="2814321"/>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E5</a:t>
            </a:r>
            <a:r>
              <a:rPr lang="en-US" sz="1200" dirty="0">
                <a:solidFill>
                  <a:srgbClr val="3F4A5C"/>
                </a:solidFill>
                <a:latin typeface="Nunito Sans" pitchFamily="34" charset="0"/>
                <a:ea typeface="Nunito Sans" pitchFamily="34" charset="-122"/>
                <a:cs typeface="Nunito Sans" pitchFamily="34" charset="-120"/>
              </a:rPr>
              <a:t> do strategies differ?</a:t>
            </a:r>
            <a:endParaRPr lang="en-US" sz="1200" dirty="0"/>
          </a:p>
        </p:txBody>
      </p:sp>
      <p:sp>
        <p:nvSpPr>
          <p:cNvPr id="14" name="Shape 12"/>
          <p:cNvSpPr/>
          <p:nvPr/>
        </p:nvSpPr>
        <p:spPr>
          <a:xfrm>
            <a:off x="4998720" y="2161540"/>
            <a:ext cx="1940560" cy="0"/>
          </a:xfrm>
          <a:prstGeom prst="line">
            <a:avLst/>
          </a:prstGeom>
          <a:noFill/>
          <a:ln w="25400">
            <a:solidFill>
              <a:srgbClr val="1D2B44"/>
            </a:solidFill>
            <a:prstDash val="solid"/>
          </a:ln>
        </p:spPr>
      </p:sp>
      <p:sp>
        <p:nvSpPr>
          <p:cNvPr id="15" name="Text 13"/>
          <p:cNvSpPr/>
          <p:nvPr/>
        </p:nvSpPr>
        <p:spPr>
          <a:xfrm>
            <a:off x="4998720" y="1866900"/>
            <a:ext cx="199877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3 · Stress test</a:t>
            </a:r>
            <a:endParaRPr lang="en-US" sz="1300" dirty="0"/>
          </a:p>
        </p:txBody>
      </p:sp>
      <p:sp>
        <p:nvSpPr>
          <p:cNvPr id="16" name="Text 14"/>
          <p:cNvSpPr/>
          <p:nvPr/>
        </p:nvSpPr>
        <p:spPr>
          <a:xfrm>
            <a:off x="4998720" y="225043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E6</a:t>
            </a:r>
            <a:r>
              <a:rPr lang="en-US" sz="1200" dirty="0">
                <a:solidFill>
                  <a:srgbClr val="3F4A5C"/>
                </a:solidFill>
                <a:latin typeface="Nunito Sans" pitchFamily="34" charset="0"/>
                <a:ea typeface="Nunito Sans" pitchFamily="34" charset="-122"/>
                <a:cs typeface="Nunito Sans" pitchFamily="34" charset="-120"/>
              </a:rPr>
              <a:t> mix target</a:t>
            </a:r>
            <a:endParaRPr lang="en-US" sz="1200" dirty="0"/>
          </a:p>
        </p:txBody>
      </p:sp>
      <p:sp>
        <p:nvSpPr>
          <p:cNvPr id="17" name="Text 15"/>
          <p:cNvSpPr/>
          <p:nvPr/>
        </p:nvSpPr>
        <p:spPr>
          <a:xfrm>
            <a:off x="4998720" y="253237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E7</a:t>
            </a:r>
            <a:r>
              <a:rPr lang="en-US" sz="1200" dirty="0">
                <a:solidFill>
                  <a:srgbClr val="3F4A5C"/>
                </a:solidFill>
                <a:latin typeface="Nunito Sans" pitchFamily="34" charset="0"/>
                <a:ea typeface="Nunito Sans" pitchFamily="34" charset="-122"/>
                <a:cs typeface="Nunito Sans" pitchFamily="34" charset="-120"/>
              </a:rPr>
              <a:t> new patients</a:t>
            </a:r>
            <a:endParaRPr lang="en-US" sz="1200" dirty="0"/>
          </a:p>
        </p:txBody>
      </p:sp>
      <p:sp>
        <p:nvSpPr>
          <p:cNvPr id="18" name="Text 16"/>
          <p:cNvSpPr/>
          <p:nvPr/>
        </p:nvSpPr>
        <p:spPr>
          <a:xfrm>
            <a:off x="4998720" y="2814321"/>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E8</a:t>
            </a:r>
            <a:r>
              <a:rPr lang="en-US" sz="1200" dirty="0">
                <a:solidFill>
                  <a:srgbClr val="3F4A5C"/>
                </a:solidFill>
                <a:latin typeface="Nunito Sans" pitchFamily="34" charset="0"/>
                <a:ea typeface="Nunito Sans" pitchFamily="34" charset="-122"/>
                <a:cs typeface="Nunito Sans" pitchFamily="34" charset="-120"/>
              </a:rPr>
              <a:t> wrong numbers</a:t>
            </a:r>
            <a:endParaRPr lang="en-US" sz="1200" dirty="0"/>
          </a:p>
        </p:txBody>
      </p:sp>
      <p:sp>
        <p:nvSpPr>
          <p:cNvPr id="19" name="Text 17"/>
          <p:cNvSpPr/>
          <p:nvPr/>
        </p:nvSpPr>
        <p:spPr>
          <a:xfrm>
            <a:off x="4998720" y="3096261"/>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E9</a:t>
            </a:r>
            <a:r>
              <a:rPr lang="en-US" sz="1200" dirty="0">
                <a:solidFill>
                  <a:srgbClr val="3F4A5C"/>
                </a:solidFill>
                <a:latin typeface="Nunito Sans" pitchFamily="34" charset="0"/>
                <a:ea typeface="Nunito Sans" pitchFamily="34" charset="-122"/>
                <a:cs typeface="Nunito Sans" pitchFamily="34" charset="-120"/>
              </a:rPr>
              <a:t> fewer check-ups</a:t>
            </a:r>
            <a:endParaRPr lang="en-US" sz="1200" dirty="0"/>
          </a:p>
        </p:txBody>
      </p:sp>
      <p:sp>
        <p:nvSpPr>
          <p:cNvPr id="20" name="Text 18"/>
          <p:cNvSpPr/>
          <p:nvPr/>
        </p:nvSpPr>
        <p:spPr>
          <a:xfrm>
            <a:off x="4998720" y="3378200"/>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E10</a:t>
            </a:r>
            <a:r>
              <a:rPr lang="en-US" sz="1200" dirty="0">
                <a:solidFill>
                  <a:srgbClr val="3F4A5C"/>
                </a:solidFill>
                <a:latin typeface="Nunito Sans" pitchFamily="34" charset="0"/>
                <a:ea typeface="Nunito Sans" pitchFamily="34" charset="-122"/>
                <a:cs typeface="Nunito Sans" pitchFamily="34" charset="-120"/>
              </a:rPr>
              <a:t> other drugs</a:t>
            </a:r>
            <a:endParaRPr lang="en-US" sz="1200" dirty="0"/>
          </a:p>
        </p:txBody>
      </p:sp>
      <p:sp>
        <p:nvSpPr>
          <p:cNvPr id="21" name="Text 19"/>
          <p:cNvSpPr/>
          <p:nvPr/>
        </p:nvSpPr>
        <p:spPr>
          <a:xfrm>
            <a:off x="4998720" y="366013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E3c</a:t>
            </a:r>
            <a:r>
              <a:rPr lang="en-US" sz="1200" dirty="0">
                <a:solidFill>
                  <a:srgbClr val="3F4A5C"/>
                </a:solidFill>
                <a:latin typeface="Nunito Sans" pitchFamily="34" charset="0"/>
                <a:ea typeface="Nunito Sans" pitchFamily="34" charset="-122"/>
                <a:cs typeface="Nunito Sans" pitchFamily="34" charset="-120"/>
              </a:rPr>
              <a:t> slower resistant cells</a:t>
            </a:r>
            <a:endParaRPr lang="en-US" sz="1200" dirty="0"/>
          </a:p>
        </p:txBody>
      </p:sp>
      <p:sp>
        <p:nvSpPr>
          <p:cNvPr id="22" name="Shape 20"/>
          <p:cNvSpPr/>
          <p:nvPr/>
        </p:nvSpPr>
        <p:spPr>
          <a:xfrm>
            <a:off x="7091680" y="2161540"/>
            <a:ext cx="1940560" cy="0"/>
          </a:xfrm>
          <a:prstGeom prst="line">
            <a:avLst/>
          </a:prstGeom>
          <a:noFill/>
          <a:ln w="25400">
            <a:solidFill>
              <a:srgbClr val="1D2B44"/>
            </a:solidFill>
            <a:prstDash val="solid"/>
          </a:ln>
        </p:spPr>
      </p:sp>
      <p:sp>
        <p:nvSpPr>
          <p:cNvPr id="23" name="Text 21"/>
          <p:cNvSpPr/>
          <p:nvPr/>
        </p:nvSpPr>
        <p:spPr>
          <a:xfrm>
            <a:off x="7091680" y="1866900"/>
            <a:ext cx="199877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4 · What AI sees</a:t>
            </a:r>
            <a:endParaRPr lang="en-US" sz="1300" dirty="0"/>
          </a:p>
        </p:txBody>
      </p:sp>
      <p:sp>
        <p:nvSpPr>
          <p:cNvPr id="24" name="Text 22"/>
          <p:cNvSpPr/>
          <p:nvPr/>
        </p:nvSpPr>
        <p:spPr>
          <a:xfrm>
            <a:off x="7091680" y="225043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E11</a:t>
            </a:r>
            <a:r>
              <a:rPr lang="en-US" sz="1200" dirty="0">
                <a:solidFill>
                  <a:srgbClr val="3F4A5C"/>
                </a:solidFill>
                <a:latin typeface="Nunito Sans" pitchFamily="34" charset="0"/>
                <a:ea typeface="Nunito Sans" pitchFamily="34" charset="-122"/>
                <a:cs typeface="Nunito Sans" pitchFamily="34" charset="-120"/>
              </a:rPr>
              <a:t> size only</a:t>
            </a:r>
            <a:endParaRPr lang="en-US" sz="1200" dirty="0"/>
          </a:p>
        </p:txBody>
      </p:sp>
      <p:sp>
        <p:nvSpPr>
          <p:cNvPr id="25" name="Text 23"/>
          <p:cNvSpPr/>
          <p:nvPr/>
        </p:nvSpPr>
        <p:spPr>
          <a:xfrm>
            <a:off x="7091680" y="253237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E11b</a:t>
            </a:r>
            <a:r>
              <a:rPr lang="en-US" sz="1200" dirty="0">
                <a:solidFill>
                  <a:srgbClr val="3F4A5C"/>
                </a:solidFill>
                <a:latin typeface="Nunito Sans" pitchFamily="34" charset="0"/>
                <a:ea typeface="Nunito Sans" pitchFamily="34" charset="-122"/>
                <a:cs typeface="Nunito Sans" pitchFamily="34" charset="-120"/>
              </a:rPr>
              <a:t> better teacher</a:t>
            </a:r>
            <a:endParaRPr lang="en-US" sz="1200" dirty="0"/>
          </a:p>
        </p:txBody>
      </p:sp>
      <p:sp>
        <p:nvSpPr>
          <p:cNvPr id="26" name="Text 24"/>
          <p:cNvSpPr/>
          <p:nvPr/>
        </p:nvSpPr>
        <p:spPr>
          <a:xfrm>
            <a:off x="7091680" y="2814321"/>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E11c</a:t>
            </a:r>
            <a:r>
              <a:rPr lang="en-US" sz="1200" dirty="0">
                <a:solidFill>
                  <a:srgbClr val="3F4A5C"/>
                </a:solidFill>
                <a:latin typeface="Nunito Sans" pitchFamily="34" charset="0"/>
                <a:ea typeface="Nunito Sans" pitchFamily="34" charset="-122"/>
                <a:cs typeface="Nunito Sans" pitchFamily="34" charset="-120"/>
              </a:rPr>
              <a:t> memory</a:t>
            </a:r>
            <a:endParaRPr lang="en-US" sz="1200" dirty="0"/>
          </a:p>
        </p:txBody>
      </p:sp>
      <p:sp>
        <p:nvSpPr>
          <p:cNvPr id="27" name="Text 25"/>
          <p:cNvSpPr/>
          <p:nvPr/>
        </p:nvSpPr>
        <p:spPr>
          <a:xfrm>
            <a:off x="7091680" y="3096261"/>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E11d</a:t>
            </a:r>
            <a:r>
              <a:rPr lang="en-US" sz="1200" dirty="0">
                <a:solidFill>
                  <a:srgbClr val="3F4A5C"/>
                </a:solidFill>
                <a:latin typeface="Nunito Sans" pitchFamily="34" charset="0"/>
                <a:ea typeface="Nunito Sans" pitchFamily="34" charset="-122"/>
                <a:cs typeface="Nunito Sans" pitchFamily="34" charset="-120"/>
              </a:rPr>
              <a:t> longer training</a:t>
            </a:r>
            <a:endParaRPr lang="en-US" sz="1200" dirty="0"/>
          </a:p>
        </p:txBody>
      </p:sp>
      <p:sp>
        <p:nvSpPr>
          <p:cNvPr id="28" name="Shape 26"/>
          <p:cNvSpPr/>
          <p:nvPr/>
        </p:nvSpPr>
        <p:spPr>
          <a:xfrm>
            <a:off x="9184640" y="1866900"/>
            <a:ext cx="2194560" cy="1971040"/>
          </a:xfrm>
          <a:prstGeom prst="roundRect">
            <a:avLst>
              <a:gd name="adj" fmla="val 4510"/>
            </a:avLst>
          </a:prstGeom>
          <a:solidFill>
            <a:srgbClr val="EAF0F7"/>
          </a:solidFill>
          <a:ln/>
        </p:spPr>
      </p:sp>
      <p:sp>
        <p:nvSpPr>
          <p:cNvPr id="29" name="Shape 27"/>
          <p:cNvSpPr/>
          <p:nvPr/>
        </p:nvSpPr>
        <p:spPr>
          <a:xfrm>
            <a:off x="9311640" y="2288540"/>
            <a:ext cx="1940560" cy="0"/>
          </a:xfrm>
          <a:prstGeom prst="line">
            <a:avLst/>
          </a:prstGeom>
          <a:noFill/>
          <a:ln w="25400">
            <a:solidFill>
              <a:srgbClr val="2B6CB0"/>
            </a:solidFill>
            <a:prstDash val="solid"/>
          </a:ln>
        </p:spPr>
      </p:sp>
      <p:sp>
        <p:nvSpPr>
          <p:cNvPr id="30" name="Text 28"/>
          <p:cNvSpPr/>
          <p:nvPr/>
        </p:nvSpPr>
        <p:spPr>
          <a:xfrm>
            <a:off x="9311640" y="1993900"/>
            <a:ext cx="199877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5 · Follow-ups</a:t>
            </a:r>
            <a:endParaRPr lang="en-US" sz="1300" dirty="0"/>
          </a:p>
        </p:txBody>
      </p:sp>
      <p:sp>
        <p:nvSpPr>
          <p:cNvPr id="31" name="Text 29"/>
          <p:cNvSpPr/>
          <p:nvPr/>
        </p:nvSpPr>
        <p:spPr>
          <a:xfrm>
            <a:off x="9311640" y="237743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A1–A3</a:t>
            </a:r>
            <a:r>
              <a:rPr lang="en-US" sz="1200" dirty="0">
                <a:solidFill>
                  <a:srgbClr val="3F4A5C"/>
                </a:solidFill>
                <a:latin typeface="Nunito Sans" pitchFamily="34" charset="0"/>
                <a:ea typeface="Nunito Sans" pitchFamily="34" charset="-122"/>
                <a:cs typeface="Nunito Sans" pitchFamily="34" charset="-120"/>
              </a:rPr>
              <a:t> fairness checks</a:t>
            </a:r>
            <a:endParaRPr lang="en-US" sz="1200" dirty="0"/>
          </a:p>
        </p:txBody>
      </p:sp>
      <p:sp>
        <p:nvSpPr>
          <p:cNvPr id="32" name="Text 30"/>
          <p:cNvSpPr/>
          <p:nvPr/>
        </p:nvSpPr>
        <p:spPr>
          <a:xfrm>
            <a:off x="9311640" y="2659379"/>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B1–B4</a:t>
            </a:r>
            <a:r>
              <a:rPr lang="en-US" sz="1200" dirty="0">
                <a:solidFill>
                  <a:srgbClr val="3F4A5C"/>
                </a:solidFill>
                <a:latin typeface="Nunito Sans" pitchFamily="34" charset="0"/>
                <a:ea typeface="Nunito Sans" pitchFamily="34" charset="-122"/>
                <a:cs typeface="Nunito Sans" pitchFamily="34" charset="-120"/>
              </a:rPr>
              <a:t> extra analyses</a:t>
            </a:r>
            <a:endParaRPr lang="en-US" sz="1200" dirty="0"/>
          </a:p>
        </p:txBody>
      </p:sp>
      <p:sp>
        <p:nvSpPr>
          <p:cNvPr id="33" name="Text 31"/>
          <p:cNvSpPr/>
          <p:nvPr/>
        </p:nvSpPr>
        <p:spPr>
          <a:xfrm>
            <a:off x="9311640" y="2941321"/>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C1</a:t>
            </a:r>
            <a:r>
              <a:rPr lang="en-US" sz="1200" dirty="0">
                <a:solidFill>
                  <a:srgbClr val="3F4A5C"/>
                </a:solidFill>
                <a:latin typeface="Nunito Sans" pitchFamily="34" charset="0"/>
                <a:ea typeface="Nunito Sans" pitchFamily="34" charset="-122"/>
                <a:cs typeface="Nunito Sans" pitchFamily="34" charset="-120"/>
              </a:rPr>
              <a:t> patient map</a:t>
            </a:r>
            <a:endParaRPr lang="en-US" sz="1200" dirty="0"/>
          </a:p>
        </p:txBody>
      </p:sp>
      <p:sp>
        <p:nvSpPr>
          <p:cNvPr id="34" name="Text 32"/>
          <p:cNvSpPr/>
          <p:nvPr/>
        </p:nvSpPr>
        <p:spPr>
          <a:xfrm>
            <a:off x="9311640" y="3223261"/>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D1–D4</a:t>
            </a:r>
            <a:r>
              <a:rPr lang="en-US" sz="1200" dirty="0">
                <a:solidFill>
                  <a:srgbClr val="3F4A5C"/>
                </a:solidFill>
                <a:latin typeface="Nunito Sans" pitchFamily="34" charset="0"/>
                <a:ea typeface="Nunito Sans" pitchFamily="34" charset="-122"/>
                <a:cs typeface="Nunito Sans" pitchFamily="34" charset="-120"/>
              </a:rPr>
              <a:t> dose levels</a:t>
            </a:r>
            <a:endParaRPr lang="en-US" sz="1200" dirty="0"/>
          </a:p>
        </p:txBody>
      </p:sp>
      <p:sp>
        <p:nvSpPr>
          <p:cNvPr id="35" name="Text 33"/>
          <p:cNvSpPr/>
          <p:nvPr/>
        </p:nvSpPr>
        <p:spPr>
          <a:xfrm>
            <a:off x="9311640" y="3505200"/>
            <a:ext cx="1998777"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F4A5C"/>
                </a:solidFill>
                <a:latin typeface="Nunito Sans" pitchFamily="34" charset="0"/>
                <a:ea typeface="Nunito Sans" pitchFamily="34" charset="-122"/>
                <a:cs typeface="Nunito Sans" pitchFamily="34" charset="-120"/>
              </a:rPr>
              <a:t>FE1–FE2</a:t>
            </a:r>
            <a:r>
              <a:rPr lang="en-US" sz="1200" dirty="0">
                <a:solidFill>
                  <a:srgbClr val="3F4A5C"/>
                </a:solidFill>
                <a:latin typeface="Nunito Sans" pitchFamily="34" charset="0"/>
                <a:ea typeface="Nunito Sans" pitchFamily="34" charset="-122"/>
                <a:cs typeface="Nunito Sans" pitchFamily="34" charset="-120"/>
              </a:rPr>
              <a:t> biology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2B44"/>
        </a:solidFill>
        <a:effectLst/>
      </p:bgPr>
    </p:bg>
    <p:spTree>
      <p:nvGrpSpPr>
        <p:cNvPr id="1" name=""/>
        <p:cNvGrpSpPr/>
        <p:nvPr/>
      </p:nvGrpSpPr>
      <p:grpSpPr>
        <a:xfrm>
          <a:off x="0" y="0"/>
          <a:ext cx="0" cy="0"/>
          <a:chOff x="0" y="0"/>
          <a:chExt cx="0" cy="0"/>
        </a:xfrm>
      </p:grpSpPr>
      <p:sp>
        <p:nvSpPr>
          <p:cNvPr id="2" name="Text 0"/>
          <p:cNvSpPr/>
          <p:nvPr/>
        </p:nvSpPr>
        <p:spPr>
          <a:xfrm>
            <a:off x="812800" y="2115288"/>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48F"/>
                </a:solidFill>
                <a:latin typeface="Nunito Sans" pitchFamily="34" charset="0"/>
                <a:ea typeface="Nunito Sans" pitchFamily="34" charset="-122"/>
                <a:cs typeface="Nunito Sans" pitchFamily="34" charset="-120"/>
              </a:rPr>
              <a:t>PART 1 · E0, E1, E2</a:t>
            </a:r>
            <a:endParaRPr lang="en-US" sz="1400" dirty="0"/>
          </a:p>
        </p:txBody>
      </p:sp>
      <p:sp>
        <p:nvSpPr>
          <p:cNvPr id="3" name="Text 1"/>
          <p:cNvSpPr>
            <a:spLocks noGrp="1"/>
          </p:cNvSpPr>
          <p:nvPr>
            <p:ph type="title"/>
          </p:nvPr>
        </p:nvSpPr>
        <p:spPr>
          <a:xfrm>
            <a:off x="812800" y="2592809"/>
            <a:ext cx="10883392" cy="1342178"/>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4F1EA"/>
                </a:solidFill>
                <a:latin typeface="Rubik" pitchFamily="34" charset="0"/>
                <a:ea typeface="Rubik" pitchFamily="34" charset="-122"/>
                <a:cs typeface="Rubik" pitchFamily="34" charset="-120"/>
              </a:rPr>
              <a:t>Building and checking the simulator</a:t>
            </a:r>
            <a:endParaRPr lang="en-US" sz="4800" dirty="0"/>
          </a:p>
        </p:txBody>
      </p:sp>
      <p:sp>
        <p:nvSpPr>
          <p:cNvPr id="4" name="Text 2"/>
          <p:cNvSpPr/>
          <p:nvPr/>
        </p:nvSpPr>
        <p:spPr>
          <a:xfrm>
            <a:off x="812800" y="4138191"/>
            <a:ext cx="10883392"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5CEDC"/>
                </a:solidFill>
                <a:latin typeface="Nunito Sans" pitchFamily="34" charset="0"/>
                <a:ea typeface="Nunito Sans" pitchFamily="34" charset="-122"/>
                <a:cs typeface="Nunito Sans" pitchFamily="34" charset="-120"/>
              </a:rPr>
              <a:t>Does our virtual patient behave like the published one? How good are human rules, and what is the best possible plan?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E0 · METHOD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Does our simulator match the published study?</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58"/>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Before trusting any result, does our virtual patient behave like the one in the paper?</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built the simulator from the equations and patient numbers in Gallagher et al. 2023.</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ran the two schedules the paper reports: full dose all the time, and AT50.</a:t>
            </a:r>
            <a:endParaRPr lang="en-US" sz="1500" dirty="0"/>
          </a:p>
        </p:txBody>
      </p:sp>
      <p:sp>
        <p:nvSpPr>
          <p:cNvPr id="11" name="Text 9"/>
          <p:cNvSpPr/>
          <p:nvPr/>
        </p:nvSpPr>
        <p:spPr>
          <a:xfrm>
            <a:off x="4419600" y="33147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3147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compared the days until failure with the paper’s numbers.</a:t>
            </a:r>
            <a:endParaRPr lang="en-US" sz="1500" dirty="0"/>
          </a:p>
        </p:txBody>
      </p:sp>
      <p:sp>
        <p:nvSpPr>
          <p:cNvPr id="13" name="Text 11"/>
          <p:cNvSpPr/>
          <p:nvPr/>
        </p:nvSpPr>
        <p:spPr>
          <a:xfrm>
            <a:off x="4419600" y="3812542"/>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812542"/>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checked our maths against a slower, high-precision solver.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E0 · RESULTS</a:t>
            </a:r>
            <a:endParaRPr lang="en-US" sz="1300" dirty="0"/>
          </a:p>
        </p:txBody>
      </p:sp>
      <p:sp>
        <p:nvSpPr>
          <p:cNvPr id="3" name="Text 1"/>
          <p:cNvSpPr>
            <a:spLocks noGrp="1"/>
          </p:cNvSpPr>
          <p:nvPr>
            <p:ph type="title"/>
          </p:nvPr>
        </p:nvSpPr>
        <p:spPr>
          <a:xfrm>
            <a:off x="812800" y="1120142"/>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Both schedules match the paper</a:t>
            </a:r>
            <a:endParaRPr lang="en-US" sz="2800" dirty="0"/>
          </a:p>
        </p:txBody>
      </p:sp>
      <p:sp>
        <p:nvSpPr>
          <p:cNvPr id="4" name="Shape 2"/>
          <p:cNvSpPr/>
          <p:nvPr/>
        </p:nvSpPr>
        <p:spPr>
          <a:xfrm>
            <a:off x="815975" y="1710054"/>
            <a:ext cx="10560050" cy="3655060"/>
          </a:xfrm>
          <a:prstGeom prst="roundRect">
            <a:avLst>
              <a:gd name="adj" fmla="val 2693"/>
            </a:avLst>
          </a:prstGeom>
          <a:solidFill>
            <a:srgbClr val="FFFFFF"/>
          </a:solidFill>
          <a:ln w="6350">
            <a:solidFill>
              <a:srgbClr val="E4E0D6"/>
            </a:solidFill>
            <a:prstDash val="solid"/>
          </a:ln>
        </p:spPr>
      </p:sp>
      <p:pic>
        <p:nvPicPr>
          <p:cNvPr id="5" name="Image 0" descr="Tumour over time under full dose (fails at 452 days) and under AT50 (fails at 663 days). Sensitive cells in blue, resistant in orange, drug-on periods as black bars, failure line dashed at 1.2."/>
          <p:cNvPicPr>
            <a:picLocks noChangeAspect="1"/>
          </p:cNvPicPr>
          <p:nvPr/>
        </p:nvPicPr>
        <p:blipFill>
          <a:blip r:embed="rId3"/>
          <a:srcRect t="-13" b="-13"/>
          <a:stretch/>
        </p:blipFill>
        <p:spPr>
          <a:xfrm>
            <a:off x="1816100" y="1813558"/>
            <a:ext cx="8559800" cy="3448050"/>
          </a:xfrm>
          <a:prstGeom prst="rect">
            <a:avLst/>
          </a:prstGeom>
        </p:spPr>
      </p:pic>
      <p:sp>
        <p:nvSpPr>
          <p:cNvPr id="6" name="Text 3"/>
          <p:cNvSpPr/>
          <p:nvPr/>
        </p:nvSpPr>
        <p:spPr>
          <a:xfrm>
            <a:off x="812800" y="5546092"/>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blue = sensitive cells, orange = resistant cells, black bars = drug on, dashed line = failure. Full dose fails at day 452 (paper: 450–451); AT50 at day 663 (paper: 662).</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E0 · WHAT WE FOUND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Our simulator is a faithful copy</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6"/>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It matches.</a:t>
            </a:r>
            <a:r>
              <a:rPr lang="en-US" sz="1450" dirty="0">
                <a:solidFill>
                  <a:srgbClr val="3F4A5C"/>
                </a:solidFill>
                <a:latin typeface="Nunito Sans" pitchFamily="34" charset="0"/>
                <a:ea typeface="Nunito Sans" pitchFamily="34" charset="-122"/>
                <a:cs typeface="Nunito Sans" pitchFamily="34" charset="-120"/>
              </a:rPr>
              <a:t> Full dose fails at 452 days and AT50 at 663 days, the same as the paper.</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6"/>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Pausing works.</a:t>
            </a:r>
            <a:r>
              <a:rPr lang="en-US" sz="1450" dirty="0">
                <a:solidFill>
                  <a:srgbClr val="3F4A5C"/>
                </a:solidFill>
                <a:latin typeface="Nunito Sans" pitchFamily="34" charset="0"/>
                <a:ea typeface="Nunito Sans" pitchFamily="34" charset="-122"/>
                <a:cs typeface="Nunito Sans" pitchFamily="34" charset="-120"/>
              </a:rPr>
              <a:t> AT50’s drug breaks let sensitive cells regrow and buy about 210 extra days.</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6"/>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One number in our plan was wrong.</a:t>
            </a:r>
            <a:r>
              <a:rPr lang="en-US" sz="1450" dirty="0">
                <a:solidFill>
                  <a:srgbClr val="3F4A5C"/>
                </a:solidFill>
                <a:latin typeface="Nunito Sans" pitchFamily="34" charset="0"/>
                <a:ea typeface="Nunito Sans" pitchFamily="34" charset="-122"/>
                <a:cs typeface="Nunito Sans" pitchFamily="34" charset="-120"/>
              </a:rPr>
              <a:t> The starting share of resistant cells is 0.1%, not 1%; with 1% nothing matched.</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6"/>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maths is accurate.</a:t>
            </a:r>
            <a:r>
              <a:rPr lang="en-US" sz="1450" dirty="0">
                <a:solidFill>
                  <a:srgbClr val="3F4A5C"/>
                </a:solidFill>
                <a:latin typeface="Nunito Sans" pitchFamily="34" charset="0"/>
                <a:ea typeface="Nunito Sans" pitchFamily="34" charset="-122"/>
                <a:cs typeface="Nunito Sans" pitchFamily="34" charset="-120"/>
              </a:rPr>
              <a:t> It agrees with a high-precision solver to within 0.01 days.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 · METHOD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How good are simple human rules?</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58"/>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How long do common rules last, and how much room is left for something better?</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tested 8 fixed rules, from “no treatment” and “full dose always” to on/off cycles.</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AT-x: treat until the tumour falls to x% of its start, then pause until it is back.</a:t>
            </a:r>
            <a:endParaRPr lang="en-US" sz="1500" dirty="0"/>
          </a:p>
        </p:txBody>
      </p:sp>
      <p:sp>
        <p:nvSpPr>
          <p:cNvPr id="11" name="Text 9"/>
          <p:cNvSpPr/>
          <p:nvPr/>
        </p:nvSpPr>
        <p:spPr>
          <a:xfrm>
            <a:off x="4419600" y="3101342"/>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42"/>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tuned a cycle rule (AT-PSC) to give it its best chance on this patient.</a:t>
            </a:r>
            <a:endParaRPr lang="en-US" sz="1500" dirty="0"/>
          </a:p>
        </p:txBody>
      </p:sp>
      <p:sp>
        <p:nvSpPr>
          <p:cNvPr id="13" name="Text 11"/>
          <p:cNvSpPr/>
          <p:nvPr/>
        </p:nvSpPr>
        <p:spPr>
          <a:xfrm>
            <a:off x="4419600" y="3599179"/>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79"/>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repeated this over a map of many patients and compared with the best possible plan.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 · RESULTS</a:t>
            </a:r>
            <a:endParaRPr lang="en-US" sz="1300" dirty="0"/>
          </a:p>
        </p:txBody>
      </p:sp>
      <p:sp>
        <p:nvSpPr>
          <p:cNvPr id="3" name="Text 1"/>
          <p:cNvSpPr>
            <a:spLocks noGrp="1"/>
          </p:cNvSpPr>
          <p:nvPr>
            <p:ph type="title"/>
          </p:nvPr>
        </p:nvSpPr>
        <p:spPr>
          <a:xfrm>
            <a:off x="812800" y="1120142"/>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Pausing helps, and tuning helps more</a:t>
            </a:r>
            <a:endParaRPr lang="en-US" sz="2800" dirty="0"/>
          </a:p>
        </p:txBody>
      </p:sp>
      <p:sp>
        <p:nvSpPr>
          <p:cNvPr id="4" name="Shape 2"/>
          <p:cNvSpPr/>
          <p:nvPr/>
        </p:nvSpPr>
        <p:spPr>
          <a:xfrm>
            <a:off x="812800" y="1706879"/>
            <a:ext cx="3302000" cy="3583940"/>
          </a:xfrm>
          <a:prstGeom prst="rect">
            <a:avLst/>
          </a:prstGeom>
          <a:solidFill>
            <a:srgbClr val="FFFFFF"/>
          </a:solidFill>
          <a:ln/>
        </p:spPr>
      </p:sp>
      <p:sp>
        <p:nvSpPr>
          <p:cNvPr id="5" name="Shape 3"/>
          <p:cNvSpPr/>
          <p:nvPr/>
        </p:nvSpPr>
        <p:spPr>
          <a:xfrm>
            <a:off x="4111625" y="1706879"/>
            <a:ext cx="0" cy="3583940"/>
          </a:xfrm>
          <a:prstGeom prst="line">
            <a:avLst/>
          </a:prstGeom>
          <a:noFill/>
          <a:ln w="6350">
            <a:solidFill>
              <a:srgbClr val="E4E0D6"/>
            </a:solidFill>
            <a:prstDash val="solid"/>
          </a:ln>
        </p:spPr>
      </p:sp>
      <p:sp>
        <p:nvSpPr>
          <p:cNvPr id="6" name="Shape 4"/>
          <p:cNvSpPr/>
          <p:nvPr/>
        </p:nvSpPr>
        <p:spPr>
          <a:xfrm>
            <a:off x="812800" y="5287644"/>
            <a:ext cx="3302000" cy="0"/>
          </a:xfrm>
          <a:prstGeom prst="line">
            <a:avLst/>
          </a:prstGeom>
          <a:noFill/>
          <a:ln w="6350">
            <a:solidFill>
              <a:srgbClr val="E4E0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17039"/>
          <a:ext cx="3286760" cy="3568700"/>
        </p:xfrm>
        <a:graphic>
          <a:graphicData uri="http://schemas.openxmlformats.org/drawingml/2006/table">
            <a:tbl>
              <a:tblPr/>
              <a:tblGrid>
                <a:gridCol w="2037791">
                  <a:extLst>
                    <a:ext uri="{9D8B030D-6E8A-4147-A177-3AD203B41FA5}">
                      <a16:colId xmlns:a16="http://schemas.microsoft.com/office/drawing/2014/main" val="20000"/>
                    </a:ext>
                  </a:extLst>
                </a:gridCol>
                <a:gridCol w="1248969">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F4F1EA"/>
                          </a:solidFill>
                          <a:latin typeface="Nunito Sans" pitchFamily="34" charset="0"/>
                          <a:ea typeface="Nunito Sans" pitchFamily="34" charset="-122"/>
                          <a:cs typeface="Nunito Sans" pitchFamily="34" charset="-120"/>
                        </a:rPr>
                        <a:t>Rule</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Days</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No treatment</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41</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On/off cycles (IT)</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167</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Full dose (MTD)</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452</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AT25</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588</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AT50</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673</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AT75</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798</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AT90</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932</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AT-PSC, tuned</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1135</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8"/>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Best possible plan</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2038</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Shape 5"/>
          <p:cNvSpPr/>
          <p:nvPr/>
        </p:nvSpPr>
        <p:spPr>
          <a:xfrm>
            <a:off x="4295775" y="1710054"/>
            <a:ext cx="7080250" cy="2874010"/>
          </a:xfrm>
          <a:prstGeom prst="roundRect">
            <a:avLst>
              <a:gd name="adj" fmla="val 3425"/>
            </a:avLst>
          </a:prstGeom>
          <a:solidFill>
            <a:srgbClr val="FFFFFF"/>
          </a:solidFill>
          <a:ln w="6350">
            <a:solidFill>
              <a:srgbClr val="E4E0D6"/>
            </a:solidFill>
            <a:prstDash val="solid"/>
          </a:ln>
        </p:spPr>
      </p:sp>
      <p:pic>
        <p:nvPicPr>
          <p:cNvPr id="9" name="Image 0" descr="Two maps over cost of resistance and turnover. Left: the best AT rule lasts 2 to 3.3 times longer than full dose. Right: the best possible plan lasts 2.2 to 6.5 times longer than the best AT rule."/>
          <p:cNvPicPr>
            <a:picLocks noChangeAspect="1"/>
          </p:cNvPicPr>
          <p:nvPr/>
        </p:nvPicPr>
        <p:blipFill>
          <a:blip r:embed="rId3"/>
          <a:srcRect t="-93" b="-93"/>
          <a:stretch/>
        </p:blipFill>
        <p:spPr>
          <a:xfrm>
            <a:off x="4502150" y="1813558"/>
            <a:ext cx="6667500" cy="2667000"/>
          </a:xfrm>
          <a:prstGeom prst="rect">
            <a:avLst/>
          </a:prstGeom>
        </p:spPr>
      </p:pic>
      <p:sp>
        <p:nvSpPr>
          <p:cNvPr id="10" name="Text 6"/>
          <p:cNvSpPr/>
          <p:nvPr/>
        </p:nvSpPr>
        <p:spPr>
          <a:xfrm>
            <a:off x="812800" y="5468621"/>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the maps:</a:t>
            </a:r>
            <a:r>
              <a:rPr lang="en-US" sz="1300" dirty="0">
                <a:solidFill>
                  <a:srgbClr val="3F4A5C"/>
                </a:solidFill>
                <a:latin typeface="Nunito Sans" pitchFamily="34" charset="0"/>
                <a:ea typeface="Nunito Sans" pitchFamily="34" charset="-122"/>
                <a:cs typeface="Nunito Sans" pitchFamily="34" charset="-120"/>
              </a:rPr>
              <a:t> each square is a different patient; the orange dot is ours. Left: best AT rule ÷ full dose (2–3.3×). Right: best possible plan ÷ best AT rule (2.2–6.5×).</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 · WHAT WE FOUND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Human rules help, but leave a lot of room</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6"/>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Pausing beats full dose everywhere:</a:t>
            </a:r>
            <a:r>
              <a:rPr lang="en-US" sz="1450" dirty="0">
                <a:solidFill>
                  <a:srgbClr val="3F4A5C"/>
                </a:solidFill>
                <a:latin typeface="Nunito Sans" pitchFamily="34" charset="0"/>
                <a:ea typeface="Nunito Sans" pitchFamily="34" charset="-122"/>
                <a:cs typeface="Nunito Sans" pitchFamily="34" charset="-120"/>
              </a:rPr>
              <a:t> 2–3.3× longer across all patients.</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6"/>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Treating less is better:</a:t>
            </a:r>
            <a:r>
              <a:rPr lang="en-US" sz="1450" dirty="0">
                <a:solidFill>
                  <a:srgbClr val="3F4A5C"/>
                </a:solidFill>
                <a:latin typeface="Nunito Sans" pitchFamily="34" charset="0"/>
                <a:ea typeface="Nunito Sans" pitchFamily="34" charset="-122"/>
                <a:cs typeface="Nunito Sans" pitchFamily="34" charset="-120"/>
              </a:rPr>
              <a:t> pausing early (AT90, 932 days) beats AT50 (673 days).</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6"/>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best human rule lasts 1135 days.</a:t>
            </a:r>
            <a:r>
              <a:rPr lang="en-US" sz="1450" dirty="0">
                <a:solidFill>
                  <a:srgbClr val="3F4A5C"/>
                </a:solidFill>
                <a:latin typeface="Nunito Sans" pitchFamily="34" charset="0"/>
                <a:ea typeface="Nunito Sans" pitchFamily="34" charset="-122"/>
                <a:cs typeface="Nunito Sans" pitchFamily="34" charset="-120"/>
              </a:rPr>
              <a:t> Tuned, it becomes “treat whenever the tumour is above its starting size”.</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6"/>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best possible plan reaches 2038 days,</a:t>
            </a:r>
            <a:r>
              <a:rPr lang="en-US" sz="1450" dirty="0">
                <a:solidFill>
                  <a:srgbClr val="3F4A5C"/>
                </a:solidFill>
                <a:latin typeface="Nunito Sans" pitchFamily="34" charset="0"/>
                <a:ea typeface="Nunito Sans" pitchFamily="34" charset="-122"/>
                <a:cs typeface="Nunito Sans" pitchFamily="34" charset="-120"/>
              </a:rPr>
              <a:t> so there is a lot of room for a smarter schedule.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E2 · METHOD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is the best possible plan for each goal?</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58"/>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If a computer knows the patient perfectly, what is the best schedule for each goal?</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cut every possible tumour state into a grid of 161 × 241 squares (size × share of resistant cells).</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For every square, a method called value iteration works out the best choice: treat or wait.</a:t>
            </a:r>
            <a:endParaRPr lang="en-US" sz="1500" dirty="0"/>
          </a:p>
        </p:txBody>
      </p:sp>
      <p:sp>
        <p:nvSpPr>
          <p:cNvPr id="11" name="Text 9"/>
          <p:cNvSpPr/>
          <p:nvPr/>
        </p:nvSpPr>
        <p:spPr>
          <a:xfrm>
            <a:off x="4419600" y="33147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3147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did this separately for each goal, using the same simulator.</a:t>
            </a:r>
            <a:endParaRPr lang="en-US" sz="1500" dirty="0"/>
          </a:p>
        </p:txBody>
      </p:sp>
      <p:sp>
        <p:nvSpPr>
          <p:cNvPr id="13" name="Text 11"/>
          <p:cNvSpPr/>
          <p:nvPr/>
        </p:nvSpPr>
        <p:spPr>
          <a:xfrm>
            <a:off x="4419600" y="3812542"/>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812542"/>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Each result is that goal’s ceiling: the “1.0” on our score scale.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E2 · RESULTS</a:t>
            </a:r>
            <a:endParaRPr lang="en-US" sz="1300" dirty="0"/>
          </a:p>
        </p:txBody>
      </p:sp>
      <p:sp>
        <p:nvSpPr>
          <p:cNvPr id="3" name="Text 1"/>
          <p:cNvSpPr>
            <a:spLocks noGrp="1"/>
          </p:cNvSpPr>
          <p:nvPr>
            <p:ph type="title"/>
          </p:nvPr>
        </p:nvSpPr>
        <p:spPr>
          <a:xfrm>
            <a:off x="812800" y="1120142"/>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Three goals pick the same plan; R3 does not</a:t>
            </a:r>
            <a:endParaRPr lang="en-US" sz="2800" dirty="0"/>
          </a:p>
        </p:txBody>
      </p:sp>
      <p:sp>
        <p:nvSpPr>
          <p:cNvPr id="4" name="Shape 2"/>
          <p:cNvSpPr/>
          <p:nvPr/>
        </p:nvSpPr>
        <p:spPr>
          <a:xfrm>
            <a:off x="815975" y="1710060"/>
            <a:ext cx="10560050" cy="2975610"/>
          </a:xfrm>
          <a:prstGeom prst="roundRect">
            <a:avLst>
              <a:gd name="adj" fmla="val 3308"/>
            </a:avLst>
          </a:prstGeom>
          <a:solidFill>
            <a:srgbClr val="FFFFFF"/>
          </a:solidFill>
          <a:ln w="6350">
            <a:solidFill>
              <a:srgbClr val="E4E0D6"/>
            </a:solidFill>
            <a:prstDash val="solid"/>
          </a:ln>
        </p:spPr>
      </p:sp>
      <p:pic>
        <p:nvPicPr>
          <p:cNvPr id="5" name="Image 0" descr="Best-plan maps for R1 to R4. R1, R2 and R4 treat only in a thin strip just below the failure line; R3 also treats over a wide band where resistant cells are rare. Failure times: R1 2038, R2 2030, R3 1625, R4 2038 days."/>
          <p:cNvPicPr>
            <a:picLocks noChangeAspect="1"/>
          </p:cNvPicPr>
          <p:nvPr/>
        </p:nvPicPr>
        <p:blipFill>
          <a:blip r:embed="rId3"/>
          <a:srcRect t="-1" b="-1"/>
          <a:stretch/>
        </p:blipFill>
        <p:spPr>
          <a:xfrm>
            <a:off x="919480" y="1813558"/>
            <a:ext cx="10353040" cy="2768600"/>
          </a:xfrm>
          <a:prstGeom prst="rect">
            <a:avLst/>
          </a:prstGeom>
        </p:spPr>
      </p:pic>
      <p:sp>
        <p:nvSpPr>
          <p:cNvPr id="6" name="Text 3"/>
          <p:cNvSpPr/>
          <p:nvPr/>
        </p:nvSpPr>
        <p:spPr>
          <a:xfrm>
            <a:off x="812800" y="4866642"/>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across = tumour size (1.2 is the failure line), up = share of resistant cells. Dark = treat, light = wait. The orange line is the path the tumour actually takes.</a:t>
            </a:r>
            <a:endParaRPr lang="en-US" sz="1300" dirty="0"/>
          </a:p>
        </p:txBody>
      </p:sp>
      <p:sp>
        <p:nvSpPr>
          <p:cNvPr id="7" name="Text 4"/>
          <p:cNvSpPr/>
          <p:nvPr/>
        </p:nvSpPr>
        <p:spPr>
          <a:xfrm>
            <a:off x="812800" y="5506715"/>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Days to failure:</a:t>
            </a:r>
            <a:r>
              <a:rPr lang="en-US" sz="1300" dirty="0">
                <a:solidFill>
                  <a:srgbClr val="3F4A5C"/>
                </a:solidFill>
                <a:latin typeface="Nunito Sans" pitchFamily="34" charset="0"/>
                <a:ea typeface="Nunito Sans" pitchFamily="34" charset="-122"/>
                <a:cs typeface="Nunito Sans" pitchFamily="34" charset="-120"/>
              </a:rPr>
              <a:t> R1 2038 · R2 2030 · R3 1625 · R4 2038.</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E2 · WHAT WE FOUND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The best plan is “containment”</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R2 and R4 agree:</a:t>
            </a:r>
            <a:r>
              <a:rPr lang="en-US" sz="1450" dirty="0">
                <a:solidFill>
                  <a:srgbClr val="3F4A5C"/>
                </a:solidFill>
                <a:latin typeface="Nunito Sans" pitchFamily="34" charset="0"/>
                <a:ea typeface="Nunito Sans" pitchFamily="34" charset="-122"/>
                <a:cs typeface="Nunito Sans" pitchFamily="34" charset="-120"/>
              </a:rPr>
              <a:t> let the tumour regrow, and treat only when next week would cross the failure line.</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It lasts about 2030–2038 days,</a:t>
            </a:r>
            <a:r>
              <a:rPr lang="en-US" sz="1450" dirty="0">
                <a:solidFill>
                  <a:srgbClr val="3F4A5C"/>
                </a:solidFill>
                <a:latin typeface="Nunito Sans" pitchFamily="34" charset="0"/>
                <a:ea typeface="Nunito Sans" pitchFamily="34" charset="-122"/>
                <a:cs typeface="Nunito Sans" pitchFamily="34" charset="-120"/>
              </a:rPr>
              <a:t> 1.8× the best human rule.</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is the odd one out.</a:t>
            </a:r>
            <a:r>
              <a:rPr lang="en-US" sz="1450" dirty="0">
                <a:solidFill>
                  <a:srgbClr val="3F4A5C"/>
                </a:solidFill>
                <a:latin typeface="Nunito Sans" pitchFamily="34" charset="0"/>
                <a:ea typeface="Nunito Sans" pitchFamily="34" charset="-122"/>
                <a:cs typeface="Nunito Sans" pitchFamily="34" charset="-120"/>
              </a:rPr>
              <a:t> It treats early to balance the mix and fails about 400 days sooner.</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These plans are our yardstick:</a:t>
            </a:r>
            <a:r>
              <a:rPr lang="en-US" sz="1450" dirty="0">
                <a:solidFill>
                  <a:srgbClr val="3F4A5C"/>
                </a:solidFill>
                <a:latin typeface="Nunito Sans" pitchFamily="34" charset="0"/>
                <a:ea typeface="Nunito Sans" pitchFamily="34" charset="-122"/>
                <a:cs typeface="Nunito Sans" pitchFamily="34" charset="-120"/>
              </a:rPr>
              <a:t> every AI is scored against them.</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D2B44"/>
        </a:solidFill>
        <a:effectLst/>
      </p:bgPr>
    </p:bg>
    <p:spTree>
      <p:nvGrpSpPr>
        <p:cNvPr id="1" name=""/>
        <p:cNvGrpSpPr/>
        <p:nvPr/>
      </p:nvGrpSpPr>
      <p:grpSpPr>
        <a:xfrm>
          <a:off x="0" y="0"/>
          <a:ext cx="0" cy="0"/>
          <a:chOff x="0" y="0"/>
          <a:chExt cx="0" cy="0"/>
        </a:xfrm>
      </p:grpSpPr>
      <p:sp>
        <p:nvSpPr>
          <p:cNvPr id="2" name="Text 0"/>
          <p:cNvSpPr/>
          <p:nvPr/>
        </p:nvSpPr>
        <p:spPr>
          <a:xfrm>
            <a:off x="812800" y="2266417"/>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48F"/>
                </a:solidFill>
                <a:latin typeface="Nunito Sans" pitchFamily="34" charset="0"/>
                <a:ea typeface="Nunito Sans" pitchFamily="34" charset="-122"/>
                <a:cs typeface="Nunito Sans" pitchFamily="34" charset="-120"/>
              </a:rPr>
              <a:t>PART 2 · E3, E4, E5</a:t>
            </a:r>
            <a:endParaRPr lang="en-US" sz="1400" dirty="0"/>
          </a:p>
        </p:txBody>
      </p:sp>
      <p:sp>
        <p:nvSpPr>
          <p:cNvPr id="3" name="Text 1"/>
          <p:cNvSpPr>
            <a:spLocks noGrp="1"/>
          </p:cNvSpPr>
          <p:nvPr>
            <p:ph type="title"/>
          </p:nvPr>
        </p:nvSpPr>
        <p:spPr>
          <a:xfrm>
            <a:off x="812800" y="2743944"/>
            <a:ext cx="10883392" cy="1342178"/>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4F1EA"/>
                </a:solidFill>
                <a:latin typeface="Rubik" pitchFamily="34" charset="0"/>
                <a:ea typeface="Rubik" pitchFamily="34" charset="-122"/>
                <a:cs typeface="Rubik" pitchFamily="34" charset="-120"/>
              </a:rPr>
              <a:t>Training the AI and comparing the goals</a:t>
            </a:r>
            <a:endParaRPr lang="en-US" sz="4800" dirty="0"/>
          </a:p>
        </p:txBody>
      </p:sp>
      <p:sp>
        <p:nvSpPr>
          <p:cNvPr id="4" name="Text 2"/>
          <p:cNvSpPr/>
          <p:nvPr/>
        </p:nvSpPr>
        <p:spPr>
          <a:xfrm>
            <a:off x="812800" y="4289313"/>
            <a:ext cx="10883392"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5CEDC"/>
                </a:solidFill>
                <a:latin typeface="Nunito Sans" pitchFamily="34" charset="0"/>
                <a:ea typeface="Nunito Sans" pitchFamily="34" charset="-122"/>
                <a:cs typeface="Nunito Sans" pitchFamily="34" charset="-120"/>
              </a:rPr>
              <a:t>Can the AI learn each goal? Does the goal change what it learns, and what does the wrong goal cost?</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E3 · METHOD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Can the AI learn each of the four goals?</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58"/>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With identical settings, does the AI learn a good schedule for every goal?</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trained 10 AIs per goal: 40 in total.</a:t>
            </a:r>
            <a:endParaRPr lang="en-US" sz="1500" dirty="0"/>
          </a:p>
        </p:txBody>
      </p:sp>
      <p:sp>
        <p:nvSpPr>
          <p:cNvPr id="9" name="Text 7"/>
          <p:cNvSpPr/>
          <p:nvPr/>
        </p:nvSpPr>
        <p:spPr>
          <a:xfrm>
            <a:off x="4419600" y="2390142"/>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42"/>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Every AI got the same network, the same settings and 1 million practice steps.</a:t>
            </a:r>
            <a:endParaRPr lang="en-US" sz="1500" dirty="0"/>
          </a:p>
        </p:txBody>
      </p:sp>
      <p:sp>
        <p:nvSpPr>
          <p:cNvPr id="11" name="Text 9"/>
          <p:cNvSpPr/>
          <p:nvPr/>
        </p:nvSpPr>
        <p:spPr>
          <a:xfrm>
            <a:off x="4419600" y="3101342"/>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42"/>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Only the reward, the goal, was different.</a:t>
            </a:r>
            <a:endParaRPr lang="en-US" sz="1500" dirty="0"/>
          </a:p>
        </p:txBody>
      </p:sp>
      <p:sp>
        <p:nvSpPr>
          <p:cNvPr id="13" name="Text 11"/>
          <p:cNvSpPr/>
          <p:nvPr/>
        </p:nvSpPr>
        <p:spPr>
          <a:xfrm>
            <a:off x="4419600" y="359918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85"/>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tracked survival during practice and scored each final AI against its goal’s best plan.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E3 · RESULTS</a:t>
            </a:r>
            <a:endParaRPr lang="en-US" sz="1300" dirty="0"/>
          </a:p>
        </p:txBody>
      </p:sp>
      <p:sp>
        <p:nvSpPr>
          <p:cNvPr id="3" name="Text 1"/>
          <p:cNvSpPr>
            <a:spLocks noGrp="1"/>
          </p:cNvSpPr>
          <p:nvPr>
            <p:ph type="title"/>
          </p:nvPr>
        </p:nvSpPr>
        <p:spPr>
          <a:xfrm>
            <a:off x="812800" y="1120142"/>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All 40 AIs learned; R3 learned the least</a:t>
            </a:r>
            <a:endParaRPr lang="en-US" sz="2800" dirty="0"/>
          </a:p>
        </p:txBody>
      </p:sp>
      <p:sp>
        <p:nvSpPr>
          <p:cNvPr id="4" name="Shape 2"/>
          <p:cNvSpPr/>
          <p:nvPr/>
        </p:nvSpPr>
        <p:spPr>
          <a:xfrm>
            <a:off x="815975" y="1710060"/>
            <a:ext cx="7192010" cy="3540760"/>
          </a:xfrm>
          <a:prstGeom prst="roundRect">
            <a:avLst>
              <a:gd name="adj" fmla="val 2780"/>
            </a:avLst>
          </a:prstGeom>
          <a:solidFill>
            <a:srgbClr val="FFFFFF"/>
          </a:solidFill>
          <a:ln w="6350">
            <a:solidFill>
              <a:srgbClr val="E4E0D6"/>
            </a:solidFill>
            <a:prstDash val="solid"/>
          </a:ln>
        </p:spPr>
      </p:sp>
      <p:pic>
        <p:nvPicPr>
          <p:cNvPr id="5" name="Image 0" descr="Learning curves: days survived during practice against practice steps for R1 to R4. All rise past the best human rule (1135 days) early; R1 and R4 end near 1700, R2 near 1600, R3 near 1500."/>
          <p:cNvPicPr>
            <a:picLocks noChangeAspect="1"/>
          </p:cNvPicPr>
          <p:nvPr/>
        </p:nvPicPr>
        <p:blipFill>
          <a:blip r:embed="rId3"/>
          <a:srcRect t="-10" b="-10"/>
          <a:stretch/>
        </p:blipFill>
        <p:spPr>
          <a:xfrm>
            <a:off x="919480" y="1813558"/>
            <a:ext cx="6985000" cy="3333750"/>
          </a:xfrm>
          <a:prstGeom prst="rect">
            <a:avLst/>
          </a:prstGeom>
        </p:spPr>
      </p:pic>
      <p:sp>
        <p:nvSpPr>
          <p:cNvPr id="6" name="Shape 3"/>
          <p:cNvSpPr/>
          <p:nvPr/>
        </p:nvSpPr>
        <p:spPr>
          <a:xfrm>
            <a:off x="8188960" y="1706885"/>
            <a:ext cx="3190240" cy="1799590"/>
          </a:xfrm>
          <a:prstGeom prst="rect">
            <a:avLst/>
          </a:prstGeom>
          <a:solidFill>
            <a:srgbClr val="FFFFFF"/>
          </a:solidFill>
          <a:ln/>
        </p:spPr>
      </p:sp>
      <p:sp>
        <p:nvSpPr>
          <p:cNvPr id="7" name="Shape 4"/>
          <p:cNvSpPr/>
          <p:nvPr/>
        </p:nvSpPr>
        <p:spPr>
          <a:xfrm>
            <a:off x="11376025" y="1706885"/>
            <a:ext cx="0" cy="1799590"/>
          </a:xfrm>
          <a:prstGeom prst="line">
            <a:avLst/>
          </a:prstGeom>
          <a:noFill/>
          <a:ln w="6350">
            <a:solidFill>
              <a:srgbClr val="E4E0D6"/>
            </a:solidFill>
            <a:prstDash val="solid"/>
          </a:ln>
        </p:spPr>
      </p:sp>
      <p:sp>
        <p:nvSpPr>
          <p:cNvPr id="8" name="Shape 5"/>
          <p:cNvSpPr/>
          <p:nvPr/>
        </p:nvSpPr>
        <p:spPr>
          <a:xfrm>
            <a:off x="8188960" y="3503300"/>
            <a:ext cx="3190240" cy="0"/>
          </a:xfrm>
          <a:prstGeom prst="line">
            <a:avLst/>
          </a:prstGeom>
          <a:noFill/>
          <a:ln w="6350">
            <a:solidFill>
              <a:srgbClr val="E4E0D6"/>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99120" y="1717045"/>
          <a:ext cx="3175000" cy="1784350"/>
        </p:xfrm>
        <a:graphic>
          <a:graphicData uri="http://schemas.openxmlformats.org/drawingml/2006/table">
            <a:tbl>
              <a:tblPr/>
              <a:tblGrid>
                <a:gridCol w="12700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4F1EA"/>
                          </a:solidFill>
                          <a:latin typeface="Nunito Sans" pitchFamily="34" charset="0"/>
                          <a:ea typeface="Nunito Sans" pitchFamily="34" charset="-122"/>
                          <a:cs typeface="Nunito Sans" pitchFamily="34" charset="-120"/>
                        </a:rPr>
                        <a:t>Goal</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Score</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Trained</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R1</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0.87</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10/10</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R2</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0.85</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10/10</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R3</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0.76</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10/10</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R4</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0.87</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10/10</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bl>
          </a:graphicData>
        </a:graphic>
      </p:graphicFrame>
      <p:sp>
        <p:nvSpPr>
          <p:cNvPr id="10" name="Text 6"/>
          <p:cNvSpPr/>
          <p:nvPr/>
        </p:nvSpPr>
        <p:spPr>
          <a:xfrm>
            <a:off x="812800" y="5431792"/>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each line is the middle of 10 AIs; higher = the patient survived longer in practice. Dashed lines: full dose, best human rule, best possible plan. Score = each AI on its own goal.</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E3 · WHAT WE FOUND</a:t>
            </a:r>
            <a:endParaRPr lang="en-US" sz="1300" dirty="0"/>
          </a:p>
        </p:txBody>
      </p:sp>
      <p:sp>
        <p:nvSpPr>
          <p:cNvPr id="3" name="Text 1"/>
          <p:cNvSpPr>
            <a:spLocks noGrp="1"/>
          </p:cNvSpPr>
          <p:nvPr>
            <p:ph type="title"/>
          </p:nvPr>
        </p:nvSpPr>
        <p:spPr>
          <a:xfrm>
            <a:off x="812800" y="1120142"/>
            <a:ext cx="11379200"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The AI learns every goal and beats every human rule</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All 40 AIs trained.</a:t>
            </a:r>
            <a:r>
              <a:rPr lang="en-US" sz="1450" dirty="0">
                <a:solidFill>
                  <a:srgbClr val="3F4A5C"/>
                </a:solidFill>
                <a:latin typeface="Nunito Sans" pitchFamily="34" charset="0"/>
                <a:ea typeface="Nunito Sans" pitchFamily="34" charset="-122"/>
                <a:cs typeface="Nunito Sans" pitchFamily="34" charset="-120"/>
              </a:rPr>
              <a:t> None fell below our 0.7 bar.</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They reach 85–87% of the best plan</a:t>
            </a:r>
            <a:r>
              <a:rPr lang="en-US" sz="1450" dirty="0">
                <a:solidFill>
                  <a:srgbClr val="3F4A5C"/>
                </a:solidFill>
                <a:latin typeface="Nunito Sans" pitchFamily="34" charset="0"/>
                <a:ea typeface="Nunito Sans" pitchFamily="34" charset="-122"/>
                <a:cs typeface="Nunito Sans" pitchFamily="34" charset="-120"/>
              </a:rPr>
              <a:t> for R1, R2 and R4, and 76% for R3.</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Early on they pass the best human rule</a:t>
            </a:r>
            <a:r>
              <a:rPr lang="en-US" sz="1450" dirty="0">
                <a:solidFill>
                  <a:srgbClr val="3F4A5C"/>
                </a:solidFill>
                <a:latin typeface="Nunito Sans" pitchFamily="34" charset="0"/>
                <a:ea typeface="Nunito Sans" pitchFamily="34" charset="-122"/>
                <a:cs typeface="Nunito Sans" pitchFamily="34" charset="-120"/>
              </a:rPr>
              <a:t> (1135 days), within about 150,000 practice steps.</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is the hardest to learn:</a:t>
            </a:r>
            <a:r>
              <a:rPr lang="en-US" sz="1450" dirty="0">
                <a:solidFill>
                  <a:srgbClr val="3F4A5C"/>
                </a:solidFill>
                <a:latin typeface="Nunito Sans" pitchFamily="34" charset="0"/>
                <a:ea typeface="Nunito Sans" pitchFamily="34" charset="-122"/>
                <a:cs typeface="Nunito Sans" pitchFamily="34" charset="-120"/>
              </a:rPr>
              <a:t> its reward mostly comes from delaying one big penalty far in the future.</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E4 · METHOD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Score every strategy on every goal</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58"/>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Does training on one goal hurt the others? What does the wrong goal cost?</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took the 40 trained AIs, the 4 best plans and 4 human rules.</a:t>
            </a:r>
            <a:endParaRPr lang="en-US" sz="1500" dirty="0"/>
          </a:p>
        </p:txBody>
      </p:sp>
      <p:sp>
        <p:nvSpPr>
          <p:cNvPr id="9" name="Text 7"/>
          <p:cNvSpPr/>
          <p:nvPr/>
        </p:nvSpPr>
        <p:spPr>
          <a:xfrm>
            <a:off x="4419600" y="2390142"/>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42"/>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Each one treated the same virtual patient.</a:t>
            </a:r>
            <a:endParaRPr lang="en-US" sz="1500" dirty="0"/>
          </a:p>
        </p:txBody>
      </p:sp>
      <p:sp>
        <p:nvSpPr>
          <p:cNvPr id="11" name="Text 9"/>
          <p:cNvSpPr/>
          <p:nvPr/>
        </p:nvSpPr>
        <p:spPr>
          <a:xfrm>
            <a:off x="4419600" y="288798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85"/>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scored every strategy on </a:t>
            </a:r>
            <a:r>
              <a:rPr lang="en-US" sz="1500" b="1" dirty="0">
                <a:solidFill>
                  <a:srgbClr val="3F4A5C"/>
                </a:solidFill>
                <a:latin typeface="Nunito Sans" pitchFamily="34" charset="0"/>
                <a:ea typeface="Nunito Sans" pitchFamily="34" charset="-122"/>
                <a:cs typeface="Nunito Sans" pitchFamily="34" charset="-120"/>
              </a:rPr>
              <a:t>all four</a:t>
            </a:r>
            <a:r>
              <a:rPr lang="en-US" sz="1500" dirty="0">
                <a:solidFill>
                  <a:srgbClr val="3F4A5C"/>
                </a:solidFill>
                <a:latin typeface="Nunito Sans" pitchFamily="34" charset="0"/>
                <a:ea typeface="Nunito Sans" pitchFamily="34" charset="-122"/>
                <a:cs typeface="Nunito Sans" pitchFamily="34" charset="-120"/>
              </a:rPr>
              <a:t> goals, not only its own.</a:t>
            </a:r>
            <a:endParaRPr lang="en-US" sz="1500" dirty="0"/>
          </a:p>
        </p:txBody>
      </p:sp>
      <p:sp>
        <p:nvSpPr>
          <p:cNvPr id="13" name="Text 11"/>
          <p:cNvSpPr/>
          <p:nvPr/>
        </p:nvSpPr>
        <p:spPr>
          <a:xfrm>
            <a:off x="4419600" y="338581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15"/>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compared days to failure across goals with statistical tests over the 10 copies.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815975" y="815975"/>
            <a:ext cx="5045710" cy="4779010"/>
          </a:xfrm>
          <a:prstGeom prst="roundRect">
            <a:avLst>
              <a:gd name="adj" fmla="val 2060"/>
            </a:avLst>
          </a:prstGeom>
          <a:solidFill>
            <a:srgbClr val="FFFFFF"/>
          </a:solidFill>
          <a:ln w="6350">
            <a:solidFill>
              <a:srgbClr val="E4E0D6"/>
            </a:solidFill>
            <a:prstDash val="solid"/>
          </a:ln>
        </p:spPr>
      </p:sp>
      <p:pic>
        <p:nvPicPr>
          <p:cNvPr id="3" name="Image 0" descr="Score table: rows are AIs trained on R1 to R4, the best plans and human rules; columns are the goal they are scored on. The R3-trained row scores 0.75, 0.67, 0.76, 0.74; the R1, R2 and R4 rows score 0.83 to 0.87; human rules score 0.14 to 0.59."/>
          <p:cNvPicPr>
            <a:picLocks noChangeAspect="1"/>
          </p:cNvPicPr>
          <p:nvPr/>
        </p:nvPicPr>
        <p:blipFill>
          <a:blip r:embed="rId3"/>
          <a:srcRect t="-26" b="-26"/>
          <a:stretch/>
        </p:blipFill>
        <p:spPr>
          <a:xfrm>
            <a:off x="919480" y="919485"/>
            <a:ext cx="4838700" cy="4572000"/>
          </a:xfrm>
          <a:prstGeom prst="rect">
            <a:avLst/>
          </a:prstGeom>
        </p:spPr>
      </p:pic>
      <p:sp>
        <p:nvSpPr>
          <p:cNvPr id="4" name="Text 1"/>
          <p:cNvSpPr/>
          <p:nvPr/>
        </p:nvSpPr>
        <p:spPr>
          <a:xfrm>
            <a:off x="6220460" y="812800"/>
            <a:ext cx="531350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E4 · RESULTS (1 OF 3)</a:t>
            </a:r>
            <a:endParaRPr lang="en-US" sz="1300" dirty="0"/>
          </a:p>
        </p:txBody>
      </p:sp>
      <p:sp>
        <p:nvSpPr>
          <p:cNvPr id="5" name="Text 2"/>
          <p:cNvSpPr>
            <a:spLocks noGrp="1"/>
          </p:cNvSpPr>
          <p:nvPr>
            <p:ph type="title"/>
          </p:nvPr>
        </p:nvSpPr>
        <p:spPr>
          <a:xfrm>
            <a:off x="6220460" y="1120142"/>
            <a:ext cx="5313502" cy="84328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Training on R3 costs points everywhere else</a:t>
            </a:r>
            <a:endParaRPr lang="en-US" sz="2800" dirty="0"/>
          </a:p>
        </p:txBody>
      </p:sp>
      <p:sp>
        <p:nvSpPr>
          <p:cNvPr id="6" name="Text 3"/>
          <p:cNvSpPr/>
          <p:nvPr/>
        </p:nvSpPr>
        <p:spPr>
          <a:xfrm>
            <a:off x="6220460" y="2141215"/>
            <a:ext cx="597154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Rows</a:t>
            </a:r>
            <a:r>
              <a:rPr lang="en-US" sz="1400" dirty="0">
                <a:solidFill>
                  <a:srgbClr val="3F4A5C"/>
                </a:solidFill>
                <a:latin typeface="Nunito Sans" pitchFamily="34" charset="0"/>
                <a:ea typeface="Nunito Sans" pitchFamily="34" charset="-122"/>
                <a:cs typeface="Nunito Sans" pitchFamily="34" charset="-120"/>
              </a:rPr>
              <a:t> = who is scored. </a:t>
            </a:r>
            <a:r>
              <a:rPr lang="en-US" sz="1400" b="1" dirty="0">
                <a:solidFill>
                  <a:srgbClr val="1D2B44"/>
                </a:solidFill>
                <a:latin typeface="Nunito Sans" pitchFamily="34" charset="0"/>
                <a:ea typeface="Nunito Sans" pitchFamily="34" charset="-122"/>
                <a:cs typeface="Nunito Sans" pitchFamily="34" charset="-120"/>
              </a:rPr>
              <a:t>Columns</a:t>
            </a:r>
            <a:r>
              <a:rPr lang="en-US" sz="1400" dirty="0">
                <a:solidFill>
                  <a:srgbClr val="3F4A5C"/>
                </a:solidFill>
                <a:latin typeface="Nunito Sans" pitchFamily="34" charset="0"/>
                <a:ea typeface="Nunito Sans" pitchFamily="34" charset="-122"/>
                <a:cs typeface="Nunito Sans" pitchFamily="34" charset="-120"/>
              </a:rPr>
              <a:t> = the goal used to score them.</a:t>
            </a:r>
            <a:endParaRPr lang="en-US" sz="1400" dirty="0"/>
          </a:p>
        </p:txBody>
      </p:sp>
      <p:sp>
        <p:nvSpPr>
          <p:cNvPr id="7" name="Text 4"/>
          <p:cNvSpPr/>
          <p:nvPr/>
        </p:nvSpPr>
        <p:spPr>
          <a:xfrm>
            <a:off x="6220460" y="2593342"/>
            <a:ext cx="531350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1.0</a:t>
            </a:r>
            <a:r>
              <a:rPr lang="en-US" sz="1400" dirty="0">
                <a:solidFill>
                  <a:srgbClr val="3F4A5C"/>
                </a:solidFill>
                <a:latin typeface="Nunito Sans" pitchFamily="34" charset="0"/>
                <a:ea typeface="Nunito Sans" pitchFamily="34" charset="-122"/>
                <a:cs typeface="Nunito Sans" pitchFamily="34" charset="-120"/>
              </a:rPr>
              <a:t> = as good as the best plan for that goal; </a:t>
            </a:r>
            <a:r>
              <a:rPr lang="en-US" sz="1400" b="1" dirty="0">
                <a:solidFill>
                  <a:srgbClr val="1D2B44"/>
                </a:solidFill>
                <a:latin typeface="Nunito Sans" pitchFamily="34" charset="0"/>
                <a:ea typeface="Nunito Sans" pitchFamily="34" charset="-122"/>
                <a:cs typeface="Nunito Sans" pitchFamily="34" charset="-120"/>
              </a:rPr>
              <a:t>0</a:t>
            </a:r>
            <a:r>
              <a:rPr lang="en-US" sz="1400" dirty="0">
                <a:solidFill>
                  <a:srgbClr val="3F4A5C"/>
                </a:solidFill>
                <a:latin typeface="Nunito Sans" pitchFamily="34" charset="0"/>
                <a:ea typeface="Nunito Sans" pitchFamily="34" charset="-122"/>
                <a:cs typeface="Nunito Sans" pitchFamily="34" charset="-120"/>
              </a:rPr>
              <a:t> = like no treatment.</a:t>
            </a:r>
            <a:endParaRPr lang="en-US" sz="1400" dirty="0"/>
          </a:p>
        </p:txBody>
      </p:sp>
      <p:sp>
        <p:nvSpPr>
          <p:cNvPr id="8" name="Text 5"/>
          <p:cNvSpPr/>
          <p:nvPr/>
        </p:nvSpPr>
        <p:spPr>
          <a:xfrm>
            <a:off x="6220460" y="3294385"/>
            <a:ext cx="531350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Bold</a:t>
            </a:r>
            <a:r>
              <a:rPr lang="en-US" sz="1400" dirty="0">
                <a:solidFill>
                  <a:srgbClr val="3F4A5C"/>
                </a:solidFill>
                <a:latin typeface="Nunito Sans" pitchFamily="34" charset="0"/>
                <a:ea typeface="Nunito Sans" pitchFamily="34" charset="-122"/>
                <a:cs typeface="Nunito Sans" pitchFamily="34" charset="-120"/>
              </a:rPr>
              <a:t> = each AI on its own goal.</a:t>
            </a:r>
            <a:endParaRPr lang="en-US" sz="1400" dirty="0"/>
          </a:p>
        </p:txBody>
      </p:sp>
      <p:sp>
        <p:nvSpPr>
          <p:cNvPr id="9" name="Text 6"/>
          <p:cNvSpPr/>
          <p:nvPr/>
        </p:nvSpPr>
        <p:spPr>
          <a:xfrm>
            <a:off x="6220460" y="3746500"/>
            <a:ext cx="5158740" cy="751840"/>
          </a:xfrm>
          <a:prstGeom prst="roundRect">
            <a:avLst>
              <a:gd name="adj" fmla="val 10135"/>
            </a:avLst>
          </a:prstGeom>
          <a:solidFill>
            <a:srgbClr val="F6E6DD"/>
          </a:solidFill>
          <a:ln/>
        </p:spPr>
        <p:txBody>
          <a:bodyPr wrap="square" lIns="130082" tIns="104682" rIns="0" bIns="79282"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Read across the </a:t>
            </a:r>
            <a:r>
              <a:rPr lang="en-US" sz="1400" b="1" dirty="0">
                <a:solidFill>
                  <a:srgbClr val="B54A1A"/>
                </a:solidFill>
                <a:latin typeface="Nunito Sans" pitchFamily="34" charset="0"/>
                <a:ea typeface="Nunito Sans" pitchFamily="34" charset="-122"/>
                <a:cs typeface="Nunito Sans" pitchFamily="34" charset="-120"/>
              </a:rPr>
              <a:t>R3 row</a:t>
            </a:r>
            <a:r>
              <a:rPr lang="en-US" sz="1400" dirty="0">
                <a:solidFill>
                  <a:srgbClr val="3F4A5C"/>
                </a:solidFill>
                <a:latin typeface="Nunito Sans" pitchFamily="34" charset="0"/>
                <a:ea typeface="Nunito Sans" pitchFamily="34" charset="-122"/>
                <a:cs typeface="Nunito Sans" pitchFamily="34" charset="-120"/>
              </a:rPr>
              <a:t>: 0.67–0.75 on the other goals, against 0.83–0.87 for the rest.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E4 · RESULTS (2 OF 3)</a:t>
            </a:r>
            <a:endParaRPr lang="en-US" sz="1300" dirty="0"/>
          </a:p>
        </p:txBody>
      </p:sp>
      <p:sp>
        <p:nvSpPr>
          <p:cNvPr id="3" name="Text 1"/>
          <p:cNvSpPr>
            <a:spLocks noGrp="1"/>
          </p:cNvSpPr>
          <p:nvPr>
            <p:ph type="title"/>
          </p:nvPr>
        </p:nvSpPr>
        <p:spPr>
          <a:xfrm>
            <a:off x="812800" y="1120142"/>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R1, R2 and R4 last as long; R3 fails sooner</a:t>
            </a:r>
            <a:endParaRPr lang="en-US" sz="2800" dirty="0"/>
          </a:p>
        </p:txBody>
      </p:sp>
      <p:sp>
        <p:nvSpPr>
          <p:cNvPr id="4" name="Shape 2"/>
          <p:cNvSpPr/>
          <p:nvPr/>
        </p:nvSpPr>
        <p:spPr>
          <a:xfrm>
            <a:off x="815975" y="1710060"/>
            <a:ext cx="10560050" cy="3655060"/>
          </a:xfrm>
          <a:prstGeom prst="roundRect">
            <a:avLst>
              <a:gd name="adj" fmla="val 2693"/>
            </a:avLst>
          </a:prstGeom>
          <a:solidFill>
            <a:srgbClr val="FFFFFF"/>
          </a:solidFill>
          <a:ln w="6350">
            <a:solidFill>
              <a:srgbClr val="E4E0D6"/>
            </a:solidFill>
            <a:prstDash val="solid"/>
          </a:ln>
        </p:spPr>
      </p:sp>
      <p:pic>
        <p:nvPicPr>
          <p:cNvPr id="5" name="Image 0" descr="Days to failure for each of the 10 AIs per goal. R1, R2 and R4 cluster around 1730 to 1750 days; R3 spreads from 1400 to 1600 days. Reference lines: best plan 2038, AT-PSC 1135, AT50 673, full dose 452."/>
          <p:cNvPicPr>
            <a:picLocks noChangeAspect="1"/>
          </p:cNvPicPr>
          <p:nvPr/>
        </p:nvPicPr>
        <p:blipFill>
          <a:blip r:embed="rId3"/>
          <a:srcRect l="-1" r="-1"/>
          <a:stretch/>
        </p:blipFill>
        <p:spPr>
          <a:xfrm>
            <a:off x="1873250" y="1813558"/>
            <a:ext cx="8445500" cy="3448050"/>
          </a:xfrm>
          <a:prstGeom prst="rect">
            <a:avLst/>
          </a:prstGeom>
        </p:spPr>
      </p:pic>
      <p:sp>
        <p:nvSpPr>
          <p:cNvPr id="6" name="Text 3"/>
          <p:cNvSpPr/>
          <p:nvPr/>
        </p:nvSpPr>
        <p:spPr>
          <a:xfrm>
            <a:off x="812800" y="5546092"/>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each dot is one AI; the bar is the middle value. Middles: R1 1744 · R2 1726 · R3 1494 · R4 1751 days. Dashed lines: best plan, best human rule, AT50, full dose.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E4 · RESULTS (3 OF 3)</a:t>
            </a:r>
            <a:endParaRPr lang="en-US" sz="1300" dirty="0"/>
          </a:p>
        </p:txBody>
      </p:sp>
      <p:sp>
        <p:nvSpPr>
          <p:cNvPr id="3" name="Text 1"/>
          <p:cNvSpPr>
            <a:spLocks noGrp="1"/>
          </p:cNvSpPr>
          <p:nvPr>
            <p:ph type="title"/>
          </p:nvPr>
        </p:nvSpPr>
        <p:spPr>
          <a:xfrm>
            <a:off x="812800" y="1120142"/>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What each AI actually does to the tumour</a:t>
            </a:r>
            <a:endParaRPr lang="en-US" sz="2800" dirty="0"/>
          </a:p>
        </p:txBody>
      </p:sp>
      <p:sp>
        <p:nvSpPr>
          <p:cNvPr id="4" name="Shape 2"/>
          <p:cNvSpPr/>
          <p:nvPr/>
        </p:nvSpPr>
        <p:spPr>
          <a:xfrm>
            <a:off x="815975" y="1710060"/>
            <a:ext cx="10560050" cy="3020060"/>
          </a:xfrm>
          <a:prstGeom prst="roundRect">
            <a:avLst>
              <a:gd name="adj" fmla="val 3259"/>
            </a:avLst>
          </a:prstGeom>
          <a:solidFill>
            <a:srgbClr val="FFFFFF"/>
          </a:solidFill>
          <a:ln w="6350">
            <a:solidFill>
              <a:srgbClr val="E4E0D6"/>
            </a:solidFill>
            <a:prstDash val="solid"/>
          </a:ln>
        </p:spPr>
      </p:sp>
      <p:pic>
        <p:nvPicPr>
          <p:cNvPr id="5" name="Image 0" descr="One typical AI per goal: tumour over time with sensitive cells in blue and resistant in orange, drug weeks as black ticks. All hold the tumour just under the 1.2 line; R3 fails at 1484 days, the others at 1728 to 1752."/>
          <p:cNvPicPr>
            <a:picLocks noChangeAspect="1"/>
          </p:cNvPicPr>
          <p:nvPr/>
        </p:nvPicPr>
        <p:blipFill>
          <a:blip r:embed="rId3"/>
          <a:srcRect t="-90" b="-90"/>
          <a:stretch/>
        </p:blipFill>
        <p:spPr>
          <a:xfrm>
            <a:off x="919480" y="1813558"/>
            <a:ext cx="10353040" cy="2813050"/>
          </a:xfrm>
          <a:prstGeom prst="rect">
            <a:avLst/>
          </a:prstGeom>
        </p:spPr>
      </p:pic>
      <p:sp>
        <p:nvSpPr>
          <p:cNvPr id="6" name="Text 3"/>
          <p:cNvSpPr/>
          <p:nvPr/>
        </p:nvSpPr>
        <p:spPr>
          <a:xfrm>
            <a:off x="812800" y="4911092"/>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one typical AI per goal. Blue = sensitive cells, orange = resistant, black ticks = weeks on drug, dashed line = failure.</a:t>
            </a:r>
            <a:endParaRPr lang="en-US" sz="1300" dirty="0"/>
          </a:p>
        </p:txBody>
      </p:sp>
      <p:sp>
        <p:nvSpPr>
          <p:cNvPr id="7" name="Text 4"/>
          <p:cNvSpPr/>
          <p:nvPr/>
        </p:nvSpPr>
        <p:spPr>
          <a:xfrm>
            <a:off x="812800" y="5320035"/>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All four give short weekly pulses to stay under the line. The resistant clone still grows, and failure comes when it alone fills the space.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E4 · WHAT WE FOUND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Choosing R3 is the costly mistake</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Training on R3 loses 12–18%</a:t>
            </a:r>
            <a:r>
              <a:rPr lang="en-US" sz="1450" dirty="0">
                <a:solidFill>
                  <a:srgbClr val="3F4A5C"/>
                </a:solidFill>
                <a:latin typeface="Nunito Sans" pitchFamily="34" charset="0"/>
                <a:ea typeface="Nunito Sans" pitchFamily="34" charset="-122"/>
                <a:cs typeface="Nunito Sans" pitchFamily="34" charset="-120"/>
              </a:rPr>
              <a:t> of the possible score on every other goal.</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R2 and R4 cost each other at most 2%:</a:t>
            </a:r>
            <a:r>
              <a:rPr lang="en-US" sz="1450" dirty="0">
                <a:solidFill>
                  <a:srgbClr val="3F4A5C"/>
                </a:solidFill>
                <a:latin typeface="Nunito Sans" pitchFamily="34" charset="0"/>
                <a:ea typeface="Nunito Sans" pitchFamily="34" charset="-122"/>
                <a:cs typeface="Nunito Sans" pitchFamily="34" charset="-120"/>
              </a:rPr>
              <a:t> they are almost interchangeable.</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Our starting guess was wrong.</a:t>
            </a:r>
            <a:r>
              <a:rPr lang="en-US" sz="1450" dirty="0">
                <a:solidFill>
                  <a:srgbClr val="3F4A5C"/>
                </a:solidFill>
                <a:latin typeface="Nunito Sans" pitchFamily="34" charset="0"/>
                <a:ea typeface="Nunito Sans" pitchFamily="34" charset="-122"/>
                <a:cs typeface="Nunito Sans" pitchFamily="34" charset="-120"/>
              </a:rPr>
              <a:t> An AI aiming to keep the mix does </a:t>
            </a:r>
            <a:r>
              <a:rPr lang="en-US" sz="1450" i="1" dirty="0">
                <a:solidFill>
                  <a:srgbClr val="3F4A5C"/>
                </a:solidFill>
                <a:latin typeface="Nunito Sans" pitchFamily="34" charset="0"/>
                <a:ea typeface="Nunito Sans" pitchFamily="34" charset="-122"/>
                <a:cs typeface="Nunito Sans" pitchFamily="34" charset="-120"/>
              </a:rPr>
              <a:t>not</a:t>
            </a:r>
            <a:r>
              <a:rPr lang="en-US" sz="1450" dirty="0">
                <a:solidFill>
                  <a:srgbClr val="3F4A5C"/>
                </a:solidFill>
                <a:latin typeface="Nunito Sans" pitchFamily="34" charset="0"/>
                <a:ea typeface="Nunito Sans" pitchFamily="34" charset="-122"/>
                <a:cs typeface="Nunito Sans" pitchFamily="34" charset="-120"/>
              </a:rPr>
              <a:t> outlast one aiming to survive.</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It is the reverse:</a:t>
            </a:r>
            <a:r>
              <a:rPr lang="en-US" sz="1450" dirty="0">
                <a:solidFill>
                  <a:srgbClr val="3F4A5C"/>
                </a:solidFill>
                <a:latin typeface="Nunito Sans" pitchFamily="34" charset="0"/>
                <a:ea typeface="Nunito Sans" pitchFamily="34" charset="-122"/>
                <a:cs typeface="Nunito Sans" pitchFamily="34" charset="-120"/>
              </a:rPr>
              <a:t> survival-trained AIs even score higher on R3’s own goal (0.78 vs 0.76).</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E5 · METHOD</a:t>
            </a:r>
            <a:endParaRPr lang="en-US" sz="1300" dirty="0"/>
          </a:p>
        </p:txBody>
      </p:sp>
      <p:sp>
        <p:nvSpPr>
          <p:cNvPr id="3" name="Text 1"/>
          <p:cNvSpPr>
            <a:spLocks noGrp="1"/>
          </p:cNvSpPr>
          <p:nvPr>
            <p:ph type="title"/>
          </p:nvPr>
        </p:nvSpPr>
        <p:spPr>
          <a:xfrm>
            <a:off x="812800" y="1120142"/>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Do different goals produce different strategies?</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58"/>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Even when two AIs last equally long, do they make different decisions?</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For each AI we found its threshold: the tumour size above which it treats.</a:t>
            </a:r>
            <a:endParaRPr lang="en-US" sz="1500" dirty="0"/>
          </a:p>
        </p:txBody>
      </p:sp>
      <p:sp>
        <p:nvSpPr>
          <p:cNvPr id="9" name="Text 7"/>
          <p:cNvSpPr/>
          <p:nvPr/>
        </p:nvSpPr>
        <p:spPr>
          <a:xfrm>
            <a:off x="4419600" y="2390142"/>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42"/>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For every pair of AIs: how often would they choose differently in the same situation?</a:t>
            </a:r>
            <a:endParaRPr lang="en-US" sz="1500" dirty="0"/>
          </a:p>
        </p:txBody>
      </p:sp>
      <p:sp>
        <p:nvSpPr>
          <p:cNvPr id="11" name="Text 9"/>
          <p:cNvSpPr/>
          <p:nvPr/>
        </p:nvSpPr>
        <p:spPr>
          <a:xfrm>
            <a:off x="4419600" y="3101342"/>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42"/>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Copies trained on the same goal also disagree a little: that is the “luck” level.</a:t>
            </a:r>
            <a:endParaRPr lang="en-US" sz="1500" dirty="0"/>
          </a:p>
        </p:txBody>
      </p:sp>
      <p:sp>
        <p:nvSpPr>
          <p:cNvPr id="13" name="Text 11"/>
          <p:cNvSpPr/>
          <p:nvPr/>
        </p:nvSpPr>
        <p:spPr>
          <a:xfrm>
            <a:off x="4419600" y="359918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85"/>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Two goals count as different only if they disagree clearly more than luck.</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E5 · RESULTS (1 OF 2)</a:t>
            </a:r>
            <a:endParaRPr lang="en-US" sz="1300" dirty="0"/>
          </a:p>
        </p:txBody>
      </p:sp>
      <p:sp>
        <p:nvSpPr>
          <p:cNvPr id="3" name="Text 1"/>
          <p:cNvSpPr>
            <a:spLocks noGrp="1"/>
          </p:cNvSpPr>
          <p:nvPr>
            <p:ph type="title"/>
          </p:nvPr>
        </p:nvSpPr>
        <p:spPr>
          <a:xfrm>
            <a:off x="812800" y="1120142"/>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Thresholds, and how much the AIs disagree</a:t>
            </a:r>
            <a:endParaRPr lang="en-US" sz="2800" dirty="0"/>
          </a:p>
        </p:txBody>
      </p:sp>
      <p:sp>
        <p:nvSpPr>
          <p:cNvPr id="4" name="Shape 2"/>
          <p:cNvSpPr/>
          <p:nvPr/>
        </p:nvSpPr>
        <p:spPr>
          <a:xfrm>
            <a:off x="815975" y="1710060"/>
            <a:ext cx="10560050" cy="3382010"/>
          </a:xfrm>
          <a:prstGeom prst="roundRect">
            <a:avLst>
              <a:gd name="adj" fmla="val 2910"/>
            </a:avLst>
          </a:prstGeom>
          <a:solidFill>
            <a:srgbClr val="FFFFFF"/>
          </a:solidFill>
          <a:ln w="6350">
            <a:solidFill>
              <a:srgbClr val="E4E0D6"/>
            </a:solidFill>
            <a:prstDash val="solid"/>
          </a:ln>
        </p:spPr>
      </p:sp>
      <p:pic>
        <p:nvPicPr>
          <p:cNvPr id="5" name="Image 0" descr="Left: chance of treating against tumour size, one line per AI; thresholds R1 1.14, R2 1.15, R3 1.08, R4 1.15. Middle and right: matrices of difference between every pair of AIs, darker meaning more different; the R3 rows and columns are darkest."/>
          <p:cNvPicPr>
            <a:picLocks noChangeAspect="1"/>
          </p:cNvPicPr>
          <p:nvPr/>
        </p:nvPicPr>
        <p:blipFill>
          <a:blip r:embed="rId3"/>
          <a:srcRect t="-45" b="-45"/>
          <a:stretch/>
        </p:blipFill>
        <p:spPr>
          <a:xfrm>
            <a:off x="919480" y="1813558"/>
            <a:ext cx="10353040" cy="3175000"/>
          </a:xfrm>
          <a:prstGeom prst="rect">
            <a:avLst/>
          </a:prstGeom>
        </p:spPr>
      </p:pic>
      <p:sp>
        <p:nvSpPr>
          <p:cNvPr id="6" name="Text 3"/>
          <p:cNvSpPr/>
          <p:nvPr/>
        </p:nvSpPr>
        <p:spPr>
          <a:xfrm>
            <a:off x="812800" y="5273042"/>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Left:</a:t>
            </a:r>
            <a:r>
              <a:rPr lang="en-US" sz="1300" dirty="0">
                <a:solidFill>
                  <a:srgbClr val="3F4A5C"/>
                </a:solidFill>
                <a:latin typeface="Nunito Sans" pitchFamily="34" charset="0"/>
                <a:ea typeface="Nunito Sans" pitchFamily="34" charset="-122"/>
                <a:cs typeface="Nunito Sans" pitchFamily="34" charset="-120"/>
              </a:rPr>
              <a:t> chance of treating vs tumour size, one line per AI. </a:t>
            </a:r>
            <a:r>
              <a:rPr lang="en-US" sz="1300" b="1" dirty="0">
                <a:solidFill>
                  <a:srgbClr val="1D2B44"/>
                </a:solidFill>
                <a:latin typeface="Nunito Sans" pitchFamily="34" charset="0"/>
                <a:ea typeface="Nunito Sans" pitchFamily="34" charset="-122"/>
                <a:cs typeface="Nunito Sans" pitchFamily="34" charset="-120"/>
              </a:rPr>
              <a:t>Middle and right:</a:t>
            </a:r>
            <a:r>
              <a:rPr lang="en-US" sz="1300" dirty="0">
                <a:solidFill>
                  <a:srgbClr val="3F4A5C"/>
                </a:solidFill>
                <a:latin typeface="Nunito Sans" pitchFamily="34" charset="0"/>
                <a:ea typeface="Nunito Sans" pitchFamily="34" charset="-122"/>
                <a:cs typeface="Nunito Sans" pitchFamily="34" charset="-120"/>
              </a:rPr>
              <a:t> every AI against every other; darker = more different. Blocks on the diagonal = copies of the same goal (the luck level).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E5 · RESULTS (2 OF 2)</a:t>
            </a:r>
            <a:endParaRPr lang="en-US" sz="1300" dirty="0"/>
          </a:p>
        </p:txBody>
      </p:sp>
      <p:sp>
        <p:nvSpPr>
          <p:cNvPr id="3" name="Text 1"/>
          <p:cNvSpPr>
            <a:spLocks noGrp="1"/>
          </p:cNvSpPr>
          <p:nvPr>
            <p:ph type="title"/>
          </p:nvPr>
        </p:nvSpPr>
        <p:spPr>
          <a:xfrm>
            <a:off x="812800" y="1120142"/>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Where each AI chooses to treat</a:t>
            </a:r>
            <a:endParaRPr lang="en-US" sz="2800" dirty="0"/>
          </a:p>
        </p:txBody>
      </p:sp>
      <p:sp>
        <p:nvSpPr>
          <p:cNvPr id="4" name="Shape 2"/>
          <p:cNvSpPr/>
          <p:nvPr/>
        </p:nvSpPr>
        <p:spPr>
          <a:xfrm>
            <a:off x="815975" y="1710060"/>
            <a:ext cx="10560050" cy="2969260"/>
          </a:xfrm>
          <a:prstGeom prst="roundRect">
            <a:avLst>
              <a:gd name="adj" fmla="val 3315"/>
            </a:avLst>
          </a:prstGeom>
          <a:solidFill>
            <a:srgbClr val="FFFFFF"/>
          </a:solidFill>
          <a:ln w="6350">
            <a:solidFill>
              <a:srgbClr val="E4E0D6"/>
            </a:solidFill>
            <a:prstDash val="solid"/>
          </a:ln>
        </p:spPr>
      </p:sp>
      <p:pic>
        <p:nvPicPr>
          <p:cNvPr id="5" name="Image 0" descr="Average treat probability maps for R1 to R4 AIs over tumour size and share of resistant cells, with the best plan's boundary in orange. R1, R2 and R4 treat in a thin strip near the failure line; R3 treats over a much wider area."/>
          <p:cNvPicPr>
            <a:picLocks noChangeAspect="1"/>
          </p:cNvPicPr>
          <p:nvPr/>
        </p:nvPicPr>
        <p:blipFill>
          <a:blip r:embed="rId3"/>
          <a:srcRect t="-93" b="-93"/>
          <a:stretch/>
        </p:blipFill>
        <p:spPr>
          <a:xfrm>
            <a:off x="919480" y="1813558"/>
            <a:ext cx="10353040" cy="2762250"/>
          </a:xfrm>
          <a:prstGeom prst="rect">
            <a:avLst/>
          </a:prstGeom>
        </p:spPr>
      </p:pic>
      <p:sp>
        <p:nvSpPr>
          <p:cNvPr id="6" name="Text 3"/>
          <p:cNvSpPr/>
          <p:nvPr/>
        </p:nvSpPr>
        <p:spPr>
          <a:xfrm>
            <a:off x="812800" y="4860292"/>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across = tumour size, up = share of resistant cells. Dark = the AI treats. The orange outline is where the best plan treats.</a:t>
            </a:r>
            <a:endParaRPr lang="en-US" sz="1300" dirty="0"/>
          </a:p>
        </p:txBody>
      </p:sp>
      <p:sp>
        <p:nvSpPr>
          <p:cNvPr id="7" name="Text 4"/>
          <p:cNvSpPr/>
          <p:nvPr/>
        </p:nvSpPr>
        <p:spPr>
          <a:xfrm>
            <a:off x="812800" y="5269235"/>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R1, R2 and R4 learned the thin strip near the failure line. R3 learned a much wider treat area.</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E5 · WHAT WE FOUND</a:t>
            </a:r>
            <a:endParaRPr lang="en-US" sz="1300" dirty="0"/>
          </a:p>
        </p:txBody>
      </p:sp>
      <p:sp>
        <p:nvSpPr>
          <p:cNvPr id="3" name="Text 1"/>
          <p:cNvSpPr>
            <a:spLocks noGrp="1"/>
          </p:cNvSpPr>
          <p:nvPr>
            <p:ph type="title"/>
          </p:nvPr>
        </p:nvSpPr>
        <p:spPr>
          <a:xfrm>
            <a:off x="812800" y="1120142"/>
            <a:ext cx="10883392" cy="9601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Different goals, different strategies, except R1 and R4</a:t>
            </a:r>
            <a:endParaRPr lang="en-US" sz="3200" dirty="0"/>
          </a:p>
        </p:txBody>
      </p:sp>
      <p:sp>
        <p:nvSpPr>
          <p:cNvPr id="4" name="Shape 2"/>
          <p:cNvSpPr/>
          <p:nvPr/>
        </p:nvSpPr>
        <p:spPr>
          <a:xfrm>
            <a:off x="812800" y="2334258"/>
            <a:ext cx="10566400" cy="660400"/>
          </a:xfrm>
          <a:prstGeom prst="roundRect">
            <a:avLst>
              <a:gd name="adj" fmla="val 15385"/>
            </a:avLst>
          </a:prstGeom>
          <a:solidFill>
            <a:srgbClr val="FFFFFF"/>
          </a:solidFill>
          <a:ln/>
        </p:spPr>
      </p:sp>
      <p:sp>
        <p:nvSpPr>
          <p:cNvPr id="5" name="Text 3"/>
          <p:cNvSpPr/>
          <p:nvPr/>
        </p:nvSpPr>
        <p:spPr>
          <a:xfrm>
            <a:off x="1016000" y="24866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5355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5 of 6 pairs of goals</a:t>
            </a:r>
            <a:r>
              <a:rPr lang="en-US" sz="1450" dirty="0">
                <a:solidFill>
                  <a:srgbClr val="3F4A5C"/>
                </a:solidFill>
                <a:latin typeface="Nunito Sans" pitchFamily="34" charset="0"/>
                <a:ea typeface="Nunito Sans" pitchFamily="34" charset="-122"/>
                <a:cs typeface="Nunito Sans" pitchFamily="34" charset="-120"/>
              </a:rPr>
              <a:t> lead to clearly different strategies.</a:t>
            </a:r>
            <a:endParaRPr lang="en-US" sz="1450" dirty="0"/>
          </a:p>
        </p:txBody>
      </p:sp>
      <p:sp>
        <p:nvSpPr>
          <p:cNvPr id="7" name="Shape 5"/>
          <p:cNvSpPr/>
          <p:nvPr/>
        </p:nvSpPr>
        <p:spPr>
          <a:xfrm>
            <a:off x="812800" y="3121670"/>
            <a:ext cx="10566400" cy="660400"/>
          </a:xfrm>
          <a:prstGeom prst="roundRect">
            <a:avLst>
              <a:gd name="adj" fmla="val 15385"/>
            </a:avLst>
          </a:prstGeom>
          <a:solidFill>
            <a:srgbClr val="FFFFFF"/>
          </a:solidFill>
          <a:ln/>
        </p:spPr>
      </p:sp>
      <p:sp>
        <p:nvSpPr>
          <p:cNvPr id="8" name="Text 6"/>
          <p:cNvSpPr/>
          <p:nvPr/>
        </p:nvSpPr>
        <p:spPr>
          <a:xfrm>
            <a:off x="1016000" y="32740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33229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and R4 cannot be told apart</a:t>
            </a:r>
            <a:r>
              <a:rPr lang="en-US" sz="1450" dirty="0">
                <a:solidFill>
                  <a:srgbClr val="3F4A5C"/>
                </a:solidFill>
                <a:latin typeface="Nunito Sans" pitchFamily="34" charset="0"/>
                <a:ea typeface="Nunito Sans" pitchFamily="34" charset="-122"/>
                <a:cs typeface="Nunito Sans" pitchFamily="34" charset="-120"/>
              </a:rPr>
              <a:t> from luck: survival and lasting control are the same strategy.</a:t>
            </a:r>
            <a:endParaRPr lang="en-US" sz="1450" dirty="0"/>
          </a:p>
        </p:txBody>
      </p:sp>
      <p:sp>
        <p:nvSpPr>
          <p:cNvPr id="10" name="Shape 8"/>
          <p:cNvSpPr/>
          <p:nvPr/>
        </p:nvSpPr>
        <p:spPr>
          <a:xfrm>
            <a:off x="812800" y="3909070"/>
            <a:ext cx="10566400" cy="660400"/>
          </a:xfrm>
          <a:prstGeom prst="roundRect">
            <a:avLst>
              <a:gd name="adj" fmla="val 15385"/>
            </a:avLst>
          </a:prstGeom>
          <a:solidFill>
            <a:srgbClr val="FFFFFF"/>
          </a:solidFill>
          <a:ln/>
        </p:spPr>
      </p:sp>
      <p:sp>
        <p:nvSpPr>
          <p:cNvPr id="11" name="Text 9"/>
          <p:cNvSpPr/>
          <p:nvPr/>
        </p:nvSpPr>
        <p:spPr>
          <a:xfrm>
            <a:off x="1016000" y="40614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41103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Same survival, different choices:</a:t>
            </a:r>
            <a:r>
              <a:rPr lang="en-US" sz="1450" dirty="0">
                <a:solidFill>
                  <a:srgbClr val="3F4A5C"/>
                </a:solidFill>
                <a:latin typeface="Nunito Sans" pitchFamily="34" charset="0"/>
                <a:ea typeface="Nunito Sans" pitchFamily="34" charset="-122"/>
                <a:cs typeface="Nunito Sans" pitchFamily="34" charset="-120"/>
              </a:rPr>
              <a:t> R1 and R2 disagree on 13% of decisions (luck: 4.7%).</a:t>
            </a:r>
            <a:endParaRPr lang="en-US" sz="1450" dirty="0"/>
          </a:p>
        </p:txBody>
      </p:sp>
      <p:sp>
        <p:nvSpPr>
          <p:cNvPr id="13" name="Shape 11"/>
          <p:cNvSpPr/>
          <p:nvPr/>
        </p:nvSpPr>
        <p:spPr>
          <a:xfrm>
            <a:off x="812800" y="4696470"/>
            <a:ext cx="10566400" cy="660400"/>
          </a:xfrm>
          <a:prstGeom prst="roundRect">
            <a:avLst>
              <a:gd name="adj" fmla="val 15385"/>
            </a:avLst>
          </a:prstGeom>
          <a:solidFill>
            <a:srgbClr val="FFFFFF"/>
          </a:solidFill>
          <a:ln/>
        </p:spPr>
      </p:sp>
      <p:sp>
        <p:nvSpPr>
          <p:cNvPr id="14" name="Text 12"/>
          <p:cNvSpPr/>
          <p:nvPr/>
        </p:nvSpPr>
        <p:spPr>
          <a:xfrm>
            <a:off x="1016000" y="48488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8977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Every AI treats a bit earlier than the best plan</a:t>
            </a:r>
            <a:r>
              <a:rPr lang="en-US" sz="1450" dirty="0">
                <a:solidFill>
                  <a:srgbClr val="3F4A5C"/>
                </a:solidFill>
                <a:latin typeface="Nunito Sans" pitchFamily="34" charset="0"/>
                <a:ea typeface="Nunito Sans" pitchFamily="34" charset="-122"/>
                <a:cs typeface="Nunito Sans" pitchFamily="34" charset="-120"/>
              </a:rPr>
              <a:t> (1.08–1.15 vs 1.17): a built-in safety margin.</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D2B44"/>
        </a:solidFill>
        <a:effectLst/>
      </p:bgPr>
    </p:bg>
    <p:spTree>
      <p:nvGrpSpPr>
        <p:cNvPr id="1" name=""/>
        <p:cNvGrpSpPr/>
        <p:nvPr/>
      </p:nvGrpSpPr>
      <p:grpSpPr>
        <a:xfrm>
          <a:off x="0" y="0"/>
          <a:ext cx="0" cy="0"/>
          <a:chOff x="0" y="0"/>
          <a:chExt cx="0" cy="0"/>
        </a:xfrm>
      </p:grpSpPr>
      <p:sp>
        <p:nvSpPr>
          <p:cNvPr id="2" name="Text 0"/>
          <p:cNvSpPr/>
          <p:nvPr/>
        </p:nvSpPr>
        <p:spPr>
          <a:xfrm>
            <a:off x="812800" y="2444428"/>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48F"/>
                </a:solidFill>
                <a:latin typeface="Nunito Sans" pitchFamily="34" charset="0"/>
                <a:ea typeface="Nunito Sans" pitchFamily="34" charset="-122"/>
                <a:cs typeface="Nunito Sans" pitchFamily="34" charset="-120"/>
              </a:rPr>
              <a:t>PART 3 · E6, E7, E8, E9, E10, E3C</a:t>
            </a:r>
            <a:endParaRPr lang="en-US" sz="1400" dirty="0"/>
          </a:p>
        </p:txBody>
      </p:sp>
      <p:sp>
        <p:nvSpPr>
          <p:cNvPr id="3" name="Text 1"/>
          <p:cNvSpPr>
            <a:spLocks noGrp="1"/>
          </p:cNvSpPr>
          <p:nvPr>
            <p:ph type="title"/>
          </p:nvPr>
        </p:nvSpPr>
        <p:spPr>
          <a:xfrm>
            <a:off x="812800" y="2921943"/>
            <a:ext cx="10883392" cy="683789"/>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4F1EA"/>
                </a:solidFill>
                <a:latin typeface="Rubik" pitchFamily="34" charset="0"/>
                <a:ea typeface="Rubik" pitchFamily="34" charset="-122"/>
                <a:cs typeface="Rubik" pitchFamily="34" charset="-120"/>
              </a:rPr>
              <a:t>Stress tests</a:t>
            </a:r>
            <a:endParaRPr lang="en-US" sz="4800" dirty="0"/>
          </a:p>
        </p:txBody>
      </p:sp>
      <p:sp>
        <p:nvSpPr>
          <p:cNvPr id="4" name="Text 2"/>
          <p:cNvSpPr/>
          <p:nvPr/>
        </p:nvSpPr>
        <p:spPr>
          <a:xfrm>
            <a:off x="812800" y="3808933"/>
            <a:ext cx="10883392"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5CEDC"/>
                </a:solidFill>
                <a:latin typeface="Nunito Sans" pitchFamily="34" charset="0"/>
                <a:ea typeface="Nunito Sans" pitchFamily="34" charset="-122"/>
                <a:cs typeface="Nunito Sans" pitchFamily="34" charset="-120"/>
              </a:rPr>
              <a:t>Do the results survive a different mix target, new patients, wrong model numbers, fewer check-ups, other drugs and slower resistant cells?</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E6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Would a different mix target help R3?</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R3 aims for a 50:50 mix. Would a smaller share of resistant cells work better?</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rewarded the AI for keeping the resistant share near 5%, 10%, 25% or 50%.</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trained 5 AIs per target and worked out the best plan for each.</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measured days to failure and the resistant share actually reached.</a:t>
            </a:r>
            <a:endParaRPr lang="en-US" sz="1500" dirty="0"/>
          </a:p>
        </p:txBody>
      </p:sp>
      <p:sp>
        <p:nvSpPr>
          <p:cNvPr id="13" name="Text 11"/>
          <p:cNvSpPr/>
          <p:nvPr/>
        </p:nvSpPr>
        <p:spPr>
          <a:xfrm>
            <a:off x="4419600" y="359918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85"/>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E6b: we repeated the best plans on patients who can be controlled forever.</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E6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The target makes almost no difference</a:t>
            </a:r>
            <a:endParaRPr lang="en-US" sz="2800" dirty="0"/>
          </a:p>
        </p:txBody>
      </p:sp>
      <p:sp>
        <p:nvSpPr>
          <p:cNvPr id="4" name="Shape 2"/>
          <p:cNvSpPr/>
          <p:nvPr/>
        </p:nvSpPr>
        <p:spPr>
          <a:xfrm>
            <a:off x="815975" y="1710060"/>
            <a:ext cx="10560050" cy="3655060"/>
          </a:xfrm>
          <a:prstGeom prst="roundRect">
            <a:avLst>
              <a:gd name="adj" fmla="val 2693"/>
            </a:avLst>
          </a:prstGeom>
          <a:solidFill>
            <a:srgbClr val="FFFFFF"/>
          </a:solidFill>
          <a:ln w="6350">
            <a:solidFill>
              <a:srgbClr val="E4E0D6"/>
            </a:solidFill>
            <a:prstDash val="solid"/>
          </a:ln>
        </p:spPr>
      </p:sp>
      <p:pic>
        <p:nvPicPr>
          <p:cNvPr id="5" name="Image 0" descr="Left: days to failure for targets 5% to 50%: AIs about 1500 to 1525 days, best plans about 1625, survival-trained AIs 1744. Right: the resistant share actually reached stays near 0.09 for every target, far from the target line."/>
          <p:cNvPicPr>
            <a:picLocks noChangeAspect="1"/>
          </p:cNvPicPr>
          <p:nvPr/>
        </p:nvPicPr>
        <p:blipFill>
          <a:blip r:embed="rId3"/>
          <a:srcRect t="-32" b="-32"/>
          <a:stretch/>
        </p:blipFill>
        <p:spPr>
          <a:xfrm>
            <a:off x="1768475" y="1813570"/>
            <a:ext cx="865505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Left:</a:t>
            </a:r>
            <a:r>
              <a:rPr lang="en-US" sz="1300" dirty="0">
                <a:solidFill>
                  <a:srgbClr val="3F4A5C"/>
                </a:solidFill>
                <a:latin typeface="Nunito Sans" pitchFamily="34" charset="0"/>
                <a:ea typeface="Nunito Sans" pitchFamily="34" charset="-122"/>
                <a:cs typeface="Nunito Sans" pitchFamily="34" charset="-120"/>
              </a:rPr>
              <a:t> days to failure per target (green = AIs, circles = best plan, blue dashed = survival-trained AIs). </a:t>
            </a:r>
            <a:r>
              <a:rPr lang="en-US" sz="1300" b="1" dirty="0">
                <a:solidFill>
                  <a:srgbClr val="1D2B44"/>
                </a:solidFill>
                <a:latin typeface="Nunito Sans" pitchFamily="34" charset="0"/>
                <a:ea typeface="Nunito Sans" pitchFamily="34" charset="-122"/>
                <a:cs typeface="Nunito Sans" pitchFamily="34" charset="-120"/>
              </a:rPr>
              <a:t>Right:</a:t>
            </a:r>
            <a:r>
              <a:rPr lang="en-US" sz="1300" dirty="0">
                <a:solidFill>
                  <a:srgbClr val="3F4A5C"/>
                </a:solidFill>
                <a:latin typeface="Nunito Sans" pitchFamily="34" charset="0"/>
                <a:ea typeface="Nunito Sans" pitchFamily="34" charset="-122"/>
                <a:cs typeface="Nunito Sans" pitchFamily="34" charset="-120"/>
              </a:rPr>
              <a:t> resistant share reached; the grey dotted line is “hit the target exactly”.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E6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You cannot hold a fixed mix in a tumour that will fail</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Every target gives about 1510 days,</a:t>
            </a:r>
            <a:r>
              <a:rPr lang="en-US" sz="1450" dirty="0">
                <a:solidFill>
                  <a:srgbClr val="3F4A5C"/>
                </a:solidFill>
                <a:latin typeface="Nunito Sans" pitchFamily="34" charset="0"/>
                <a:ea typeface="Nunito Sans" pitchFamily="34" charset="-122"/>
                <a:cs typeface="Nunito Sans" pitchFamily="34" charset="-120"/>
              </a:rPr>
              <a:t> well below survival-trained AIs (1744).</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real resistant share stays near 9%</a:t>
            </a:r>
            <a:r>
              <a:rPr lang="en-US" sz="1450" dirty="0">
                <a:solidFill>
                  <a:srgbClr val="3F4A5C"/>
                </a:solidFill>
                <a:latin typeface="Nunito Sans" pitchFamily="34" charset="0"/>
                <a:ea typeface="Nunito Sans" pitchFamily="34" charset="-122"/>
                <a:cs typeface="Nunito Sans" pitchFamily="34" charset="-120"/>
              </a:rPr>
              <a:t> whatever the target, for the AI and the best plan alike.</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Why:</a:t>
            </a:r>
            <a:r>
              <a:rPr lang="en-US" sz="1450" dirty="0">
                <a:solidFill>
                  <a:srgbClr val="3F4A5C"/>
                </a:solidFill>
                <a:latin typeface="Nunito Sans" pitchFamily="34" charset="0"/>
                <a:ea typeface="Nunito Sans" pitchFamily="34" charset="-122"/>
                <a:cs typeface="Nunito Sans" pitchFamily="34" charset="-120"/>
              </a:rPr>
              <a:t> in a patient who will fail, resistant cells keep growing under every schedule.</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Targets are held only in patients who never fail</a:t>
            </a:r>
            <a:r>
              <a:rPr lang="en-US" sz="1450" dirty="0">
                <a:solidFill>
                  <a:srgbClr val="3F4A5C"/>
                </a:solidFill>
                <a:latin typeface="Nunito Sans" pitchFamily="34" charset="0"/>
                <a:ea typeface="Nunito Sans" pitchFamily="34" charset="-122"/>
                <a:cs typeface="Nunito Sans" pitchFamily="34" charset="-120"/>
              </a:rPr>
              <a:t> (E6b), where they no longer matter.</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E7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Does it work on patients the AI has never seen?</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Our AIs learned on one patient. What happens on 20 new ones?</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made virtual patients whose resistant cells grow 0–40% slower and whose cells die naturally at different rates.</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“Generalist” AIs practised on many random patients (5 per goal).</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tested them, and the original one-patient AIs, on 20 patients none had seen.</a:t>
            </a:r>
            <a:endParaRPr lang="en-US" sz="1500" dirty="0"/>
          </a:p>
        </p:txBody>
      </p:sp>
      <p:sp>
        <p:nvSpPr>
          <p:cNvPr id="13" name="Text 11"/>
          <p:cNvSpPr/>
          <p:nvPr/>
        </p:nvSpPr>
        <p:spPr>
          <a:xfrm>
            <a:off x="4419600" y="38125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8125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For each new patient we also worked out its own best possible plan.</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E7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On new patients, R3 still comes last</a:t>
            </a:r>
            <a:endParaRPr lang="en-US" sz="2800" dirty="0"/>
          </a:p>
        </p:txBody>
      </p:sp>
      <p:sp>
        <p:nvSpPr>
          <p:cNvPr id="4" name="Shape 2"/>
          <p:cNvSpPr/>
          <p:nvPr/>
        </p:nvSpPr>
        <p:spPr>
          <a:xfrm>
            <a:off x="815975" y="1710060"/>
            <a:ext cx="10560050" cy="3655060"/>
          </a:xfrm>
          <a:prstGeom prst="roundRect">
            <a:avLst>
              <a:gd name="adj" fmla="val 2693"/>
            </a:avLst>
          </a:prstGeom>
          <a:solidFill>
            <a:srgbClr val="FFFFFF"/>
          </a:solidFill>
          <a:ln w="6350">
            <a:solidFill>
              <a:srgbClr val="E4E0D6"/>
            </a:solidFill>
            <a:prstDash val="solid"/>
          </a:ln>
        </p:spPr>
      </p:sp>
      <p:pic>
        <p:nvPicPr>
          <p:cNvPr id="5" name="Image 0" descr="Days to failure on 20 new patients, sorted from hardest to easiest. The best plan line is on top, R1, R2 and R4 generalist dots just below it, R3 dots lower, then the best human rule, then full dose at the bottom."/>
          <p:cNvPicPr>
            <a:picLocks noChangeAspect="1"/>
          </p:cNvPicPr>
          <p:nvPr/>
        </p:nvPicPr>
        <p:blipFill>
          <a:blip r:embed="rId3"/>
          <a:srcRect t="-9" b="-9"/>
          <a:stretch/>
        </p:blipFill>
        <p:spPr>
          <a:xfrm>
            <a:off x="1990725" y="1813570"/>
            <a:ext cx="821055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each column is one new patient. Black line = that patient’s best plan, dotted = best human rule, dashed = full dose. Dots = AIs per goal (green = R3). Middle days: R1 2651 · R2 2804 · R3 2075 · R4 2782.</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E7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The main result carries over to new patients</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is last on all 20</a:t>
            </a:r>
            <a:r>
              <a:rPr lang="en-US" sz="1450" dirty="0">
                <a:solidFill>
                  <a:srgbClr val="3F4A5C"/>
                </a:solidFill>
                <a:latin typeface="Nunito Sans" pitchFamily="34" charset="0"/>
                <a:ea typeface="Nunito Sans" pitchFamily="34" charset="-122"/>
                <a:cs typeface="Nunito Sans" pitchFamily="34" charset="-120"/>
              </a:rPr>
              <a:t> new patients.</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AIs still beat the best human rule:</a:t>
            </a:r>
            <a:r>
              <a:rPr lang="en-US" sz="1450" dirty="0">
                <a:solidFill>
                  <a:srgbClr val="3F4A5C"/>
                </a:solidFill>
                <a:latin typeface="Nunito Sans" pitchFamily="34" charset="0"/>
                <a:ea typeface="Nunito Sans" pitchFamily="34" charset="-122"/>
                <a:cs typeface="Nunito Sans" pitchFamily="34" charset="-120"/>
              </a:rPr>
              <a:t> 2650–2800 days against about 1600.</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Surprise:</a:t>
            </a:r>
            <a:r>
              <a:rPr lang="en-US" sz="1450" dirty="0">
                <a:solidFill>
                  <a:srgbClr val="3F4A5C"/>
                </a:solidFill>
                <a:latin typeface="Nunito Sans" pitchFamily="34" charset="0"/>
                <a:ea typeface="Nunito Sans" pitchFamily="34" charset="-122"/>
                <a:cs typeface="Nunito Sans" pitchFamily="34" charset="-120"/>
              </a:rPr>
              <a:t> AIs trained on just one patient did slightly </a:t>
            </a:r>
            <a:r>
              <a:rPr lang="en-US" sz="1450" i="1" dirty="0">
                <a:solidFill>
                  <a:srgbClr val="3F4A5C"/>
                </a:solidFill>
                <a:latin typeface="Nunito Sans" pitchFamily="34" charset="0"/>
                <a:ea typeface="Nunito Sans" pitchFamily="34" charset="-122"/>
                <a:cs typeface="Nunito Sans" pitchFamily="34" charset="-120"/>
              </a:rPr>
              <a:t>better</a:t>
            </a:r>
            <a:r>
              <a:rPr lang="en-US" sz="1450" dirty="0">
                <a:solidFill>
                  <a:srgbClr val="3F4A5C"/>
                </a:solidFill>
                <a:latin typeface="Nunito Sans" pitchFamily="34" charset="0"/>
                <a:ea typeface="Nunito Sans" pitchFamily="34" charset="-122"/>
                <a:cs typeface="Nunito Sans" pitchFamily="34" charset="-120"/>
              </a:rPr>
              <a:t> than the generalists.</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vs R2 vs R4 changes</a:t>
            </a:r>
            <a:r>
              <a:rPr lang="en-US" sz="1450" dirty="0">
                <a:solidFill>
                  <a:srgbClr val="3F4A5C"/>
                </a:solidFill>
                <a:latin typeface="Nunito Sans" pitchFamily="34" charset="0"/>
                <a:ea typeface="Nunito Sans" pitchFamily="34" charset="-122"/>
                <a:cs typeface="Nunito Sans" pitchFamily="34" charset="-120"/>
              </a:rPr>
              <a:t> from patient to patient, so we do not claim one of them is best.</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E8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if our model numbers are wrong?</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Real patients never match the model exactly. Do the strategies still work?</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randomly changed each patient number (growth, drug strength, resistant share, cell death) by up to ±15%, ±20% or ±25%.</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AIs and the best plans kept what they learned on the original numbers.</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treated many of these “slightly wrong” patients and recorded days to failure.</a:t>
            </a:r>
            <a:endParaRPr lang="en-US" sz="1500" dirty="0"/>
          </a:p>
        </p:txBody>
      </p:sp>
      <p:sp>
        <p:nvSpPr>
          <p:cNvPr id="13" name="Text 11"/>
          <p:cNvSpPr/>
          <p:nvPr/>
        </p:nvSpPr>
        <p:spPr>
          <a:xfrm>
            <a:off x="4419600" y="38125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8125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checked whether the order of the goals stayed the same.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E8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AIs hold up; the exact best plan breaks</a:t>
            </a:r>
            <a:endParaRPr lang="en-US" sz="2800" dirty="0"/>
          </a:p>
        </p:txBody>
      </p:sp>
      <p:sp>
        <p:nvSpPr>
          <p:cNvPr id="4" name="Shape 2"/>
          <p:cNvSpPr/>
          <p:nvPr/>
        </p:nvSpPr>
        <p:spPr>
          <a:xfrm>
            <a:off x="815975" y="1786260"/>
            <a:ext cx="3380317" cy="1644650"/>
          </a:xfrm>
          <a:prstGeom prst="roundRect">
            <a:avLst>
              <a:gd name="adj" fmla="val 5985"/>
            </a:avLst>
          </a:prstGeom>
          <a:solidFill>
            <a:srgbClr val="FFFFFF"/>
          </a:solidFill>
          <a:ln w="6350">
            <a:solidFill>
              <a:srgbClr val="E4E0D6"/>
            </a:solidFill>
            <a:prstDash val="solid"/>
          </a:ln>
        </p:spPr>
      </p:sp>
      <p:sp>
        <p:nvSpPr>
          <p:cNvPr id="5" name="Text 3"/>
          <p:cNvSpPr/>
          <p:nvPr/>
        </p:nvSpPr>
        <p:spPr>
          <a:xfrm>
            <a:off x="1071880" y="2042170"/>
            <a:ext cx="2954562"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2B6CB0"/>
                </a:solidFill>
                <a:latin typeface="Rubik" pitchFamily="34" charset="0"/>
                <a:ea typeface="Rubik" pitchFamily="34" charset="-122"/>
                <a:cs typeface="Rubik" pitchFamily="34" charset="-120"/>
              </a:rPr>
              <a:t>1680–1730</a:t>
            </a:r>
            <a:endParaRPr lang="en-US" sz="4000" dirty="0"/>
          </a:p>
        </p:txBody>
      </p:sp>
      <p:sp>
        <p:nvSpPr>
          <p:cNvPr id="6" name="Text 4"/>
          <p:cNvSpPr/>
          <p:nvPr/>
        </p:nvSpPr>
        <p:spPr>
          <a:xfrm>
            <a:off x="1071880" y="2677170"/>
            <a:ext cx="295456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days</a:t>
            </a:r>
            <a:r>
              <a:rPr lang="en-US" sz="1400" dirty="0">
                <a:solidFill>
                  <a:srgbClr val="3F4A5C"/>
                </a:solidFill>
                <a:latin typeface="Nunito Sans" pitchFamily="34" charset="0"/>
                <a:ea typeface="Nunito Sans" pitchFamily="34" charset="-122"/>
                <a:cs typeface="Nunito Sans" pitchFamily="34" charset="-120"/>
              </a:rPr>
              <a:t>: AIs trained on R1, R2 and R4, even with ±25% wrong numbers</a:t>
            </a:r>
            <a:endParaRPr lang="en-US" sz="1400" dirty="0"/>
          </a:p>
        </p:txBody>
      </p:sp>
      <p:sp>
        <p:nvSpPr>
          <p:cNvPr id="7" name="Shape 5"/>
          <p:cNvSpPr/>
          <p:nvPr/>
        </p:nvSpPr>
        <p:spPr>
          <a:xfrm>
            <a:off x="4405842" y="1786260"/>
            <a:ext cx="3380317" cy="1644650"/>
          </a:xfrm>
          <a:prstGeom prst="roundRect">
            <a:avLst>
              <a:gd name="adj" fmla="val 5985"/>
            </a:avLst>
          </a:prstGeom>
          <a:solidFill>
            <a:srgbClr val="FFFFFF"/>
          </a:solidFill>
          <a:ln w="6350">
            <a:solidFill>
              <a:srgbClr val="E4E0D6"/>
            </a:solidFill>
            <a:prstDash val="solid"/>
          </a:ln>
        </p:spPr>
      </p:sp>
      <p:sp>
        <p:nvSpPr>
          <p:cNvPr id="8" name="Text 6"/>
          <p:cNvSpPr/>
          <p:nvPr/>
        </p:nvSpPr>
        <p:spPr>
          <a:xfrm>
            <a:off x="4661746" y="2042170"/>
            <a:ext cx="2954562"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F7A5C"/>
                </a:solidFill>
                <a:latin typeface="Rubik" pitchFamily="34" charset="0"/>
                <a:ea typeface="Rubik" pitchFamily="34" charset="-122"/>
                <a:cs typeface="Rubik" pitchFamily="34" charset="-120"/>
              </a:rPr>
              <a:t>1450–1500</a:t>
            </a:r>
            <a:endParaRPr lang="en-US" sz="4000" dirty="0"/>
          </a:p>
        </p:txBody>
      </p:sp>
      <p:sp>
        <p:nvSpPr>
          <p:cNvPr id="9" name="Text 7"/>
          <p:cNvSpPr/>
          <p:nvPr/>
        </p:nvSpPr>
        <p:spPr>
          <a:xfrm>
            <a:off x="4661746" y="2677170"/>
            <a:ext cx="295456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days</a:t>
            </a:r>
            <a:r>
              <a:rPr lang="en-US" sz="1400" dirty="0">
                <a:solidFill>
                  <a:srgbClr val="3F4A5C"/>
                </a:solidFill>
                <a:latin typeface="Nunito Sans" pitchFamily="34" charset="0"/>
                <a:ea typeface="Nunito Sans" pitchFamily="34" charset="-122"/>
                <a:cs typeface="Nunito Sans" pitchFamily="34" charset="-120"/>
              </a:rPr>
              <a:t>: AIs trained on R3, still last at every error level</a:t>
            </a:r>
            <a:endParaRPr lang="en-US" sz="1400" dirty="0"/>
          </a:p>
        </p:txBody>
      </p:sp>
      <p:sp>
        <p:nvSpPr>
          <p:cNvPr id="10" name="Shape 8"/>
          <p:cNvSpPr/>
          <p:nvPr/>
        </p:nvSpPr>
        <p:spPr>
          <a:xfrm>
            <a:off x="7995708" y="1786260"/>
            <a:ext cx="3380317" cy="1644650"/>
          </a:xfrm>
          <a:prstGeom prst="roundRect">
            <a:avLst>
              <a:gd name="adj" fmla="val 5985"/>
            </a:avLst>
          </a:prstGeom>
          <a:solidFill>
            <a:srgbClr val="FFFFFF"/>
          </a:solidFill>
          <a:ln w="6350">
            <a:solidFill>
              <a:srgbClr val="E4E0D6"/>
            </a:solidFill>
            <a:prstDash val="solid"/>
          </a:ln>
        </p:spPr>
      </p:sp>
      <p:sp>
        <p:nvSpPr>
          <p:cNvPr id="11" name="Text 9"/>
          <p:cNvSpPr/>
          <p:nvPr/>
        </p:nvSpPr>
        <p:spPr>
          <a:xfrm>
            <a:off x="8251613" y="2042170"/>
            <a:ext cx="2954562"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B54A1A"/>
                </a:solidFill>
                <a:latin typeface="Rubik" pitchFamily="34" charset="0"/>
                <a:ea typeface="Rubik" pitchFamily="34" charset="-122"/>
                <a:cs typeface="Rubik" pitchFamily="34" charset="-120"/>
              </a:rPr>
              <a:t>110–160</a:t>
            </a:r>
            <a:endParaRPr lang="en-US" sz="4000" dirty="0"/>
          </a:p>
        </p:txBody>
      </p:sp>
      <p:sp>
        <p:nvSpPr>
          <p:cNvPr id="12" name="Text 10"/>
          <p:cNvSpPr/>
          <p:nvPr/>
        </p:nvSpPr>
        <p:spPr>
          <a:xfrm>
            <a:off x="8251613" y="2677170"/>
            <a:ext cx="295456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days</a:t>
            </a:r>
            <a:r>
              <a:rPr lang="en-US" sz="1400" dirty="0">
                <a:solidFill>
                  <a:srgbClr val="3F4A5C"/>
                </a:solidFill>
                <a:latin typeface="Nunito Sans" pitchFamily="34" charset="0"/>
                <a:ea typeface="Nunito Sans" pitchFamily="34" charset="-122"/>
                <a:cs typeface="Nunito Sans" pitchFamily="34" charset="-120"/>
              </a:rPr>
              <a:t>: the exact best plan, in its worst quarter of patients</a:t>
            </a:r>
            <a:endParaRPr lang="en-US" sz="1400" dirty="0"/>
          </a:p>
        </p:txBody>
      </p:sp>
      <p:sp>
        <p:nvSpPr>
          <p:cNvPr id="13" name="Text 11"/>
          <p:cNvSpPr/>
          <p:nvPr/>
        </p:nvSpPr>
        <p:spPr>
          <a:xfrm>
            <a:off x="812800" y="3688085"/>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there is no graph for this experiment. Numbers are middle values over many randomly changed patients, at ±15%, ±20% and ±25% error; the result was similar at every level.</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E8 · WHAT WE FOUND</a:t>
            </a:r>
            <a:endParaRPr lang="en-US" sz="1300" dirty="0"/>
          </a:p>
        </p:txBody>
      </p:sp>
      <p:sp>
        <p:nvSpPr>
          <p:cNvPr id="3" name="Text 1"/>
          <p:cNvSpPr>
            <a:spLocks noGrp="1"/>
          </p:cNvSpPr>
          <p:nvPr>
            <p:ph type="title"/>
          </p:nvPr>
        </p:nvSpPr>
        <p:spPr>
          <a:xfrm>
            <a:off x="812800" y="1120130"/>
            <a:ext cx="10883392" cy="9601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A safety margin beats a perfect plan for the wrong patient</a:t>
            </a:r>
            <a:endParaRPr lang="en-US" sz="3200" dirty="0"/>
          </a:p>
        </p:txBody>
      </p:sp>
      <p:sp>
        <p:nvSpPr>
          <p:cNvPr id="4" name="Shape 2"/>
          <p:cNvSpPr/>
          <p:nvPr/>
        </p:nvSpPr>
        <p:spPr>
          <a:xfrm>
            <a:off x="812800" y="2334270"/>
            <a:ext cx="10566400" cy="660400"/>
          </a:xfrm>
          <a:prstGeom prst="roundRect">
            <a:avLst>
              <a:gd name="adj" fmla="val 15385"/>
            </a:avLst>
          </a:prstGeom>
          <a:solidFill>
            <a:srgbClr val="FFFFFF"/>
          </a:solidFill>
          <a:ln/>
        </p:spPr>
      </p:sp>
      <p:sp>
        <p:nvSpPr>
          <p:cNvPr id="5" name="Text 3"/>
          <p:cNvSpPr/>
          <p:nvPr/>
        </p:nvSpPr>
        <p:spPr>
          <a:xfrm>
            <a:off x="1016000" y="24866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5355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AIs barely notice model errors</a:t>
            </a:r>
            <a:r>
              <a:rPr lang="en-US" sz="1450" dirty="0">
                <a:solidFill>
                  <a:srgbClr val="3F4A5C"/>
                </a:solidFill>
                <a:latin typeface="Nunito Sans" pitchFamily="34" charset="0"/>
                <a:ea typeface="Nunito Sans" pitchFamily="34" charset="-122"/>
                <a:cs typeface="Nunito Sans" pitchFamily="34" charset="-120"/>
              </a:rPr>
              <a:t> up to ±25%.</a:t>
            </a:r>
            <a:endParaRPr lang="en-US" sz="1450" dirty="0"/>
          </a:p>
        </p:txBody>
      </p:sp>
      <p:sp>
        <p:nvSpPr>
          <p:cNvPr id="7" name="Shape 5"/>
          <p:cNvSpPr/>
          <p:nvPr/>
        </p:nvSpPr>
        <p:spPr>
          <a:xfrm>
            <a:off x="812800" y="3121670"/>
            <a:ext cx="10566400" cy="660400"/>
          </a:xfrm>
          <a:prstGeom prst="roundRect">
            <a:avLst>
              <a:gd name="adj" fmla="val 15385"/>
            </a:avLst>
          </a:prstGeom>
          <a:solidFill>
            <a:srgbClr val="FFFFFF"/>
          </a:solidFill>
          <a:ln/>
        </p:spPr>
      </p:sp>
      <p:sp>
        <p:nvSpPr>
          <p:cNvPr id="8" name="Text 6"/>
          <p:cNvSpPr/>
          <p:nvPr/>
        </p:nvSpPr>
        <p:spPr>
          <a:xfrm>
            <a:off x="1016000" y="32740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33229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The exact best plan is fragile:</a:t>
            </a:r>
            <a:r>
              <a:rPr lang="en-US" sz="1450" dirty="0">
                <a:solidFill>
                  <a:srgbClr val="3F4A5C"/>
                </a:solidFill>
                <a:latin typeface="Nunito Sans" pitchFamily="34" charset="0"/>
                <a:ea typeface="Nunito Sans" pitchFamily="34" charset="-122"/>
                <a:cs typeface="Nunito Sans" pitchFamily="34" charset="-120"/>
              </a:rPr>
              <a:t> it rides right on the failure line, so small errors push it over.</a:t>
            </a:r>
            <a:endParaRPr lang="en-US" sz="1450" dirty="0"/>
          </a:p>
        </p:txBody>
      </p:sp>
      <p:sp>
        <p:nvSpPr>
          <p:cNvPr id="10" name="Shape 8"/>
          <p:cNvSpPr/>
          <p:nvPr/>
        </p:nvSpPr>
        <p:spPr>
          <a:xfrm>
            <a:off x="812800" y="3909070"/>
            <a:ext cx="10566400" cy="660400"/>
          </a:xfrm>
          <a:prstGeom prst="roundRect">
            <a:avLst>
              <a:gd name="adj" fmla="val 15385"/>
            </a:avLst>
          </a:prstGeom>
          <a:solidFill>
            <a:srgbClr val="FFFFFF"/>
          </a:solidFill>
          <a:ln/>
        </p:spPr>
      </p:sp>
      <p:sp>
        <p:nvSpPr>
          <p:cNvPr id="11" name="Text 9"/>
          <p:cNvSpPr/>
          <p:nvPr/>
        </p:nvSpPr>
        <p:spPr>
          <a:xfrm>
            <a:off x="1016000" y="40614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41103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AIs’ habit of treating a little early</a:t>
            </a:r>
            <a:r>
              <a:rPr lang="en-US" sz="1450" dirty="0">
                <a:solidFill>
                  <a:srgbClr val="3F4A5C"/>
                </a:solidFill>
                <a:latin typeface="Nunito Sans" pitchFamily="34" charset="0"/>
                <a:ea typeface="Nunito Sans" pitchFamily="34" charset="-122"/>
                <a:cs typeface="Nunito Sans" pitchFamily="34" charset="-120"/>
              </a:rPr>
              <a:t> (E5) is what protects them.</a:t>
            </a:r>
            <a:endParaRPr lang="en-US" sz="1450" dirty="0"/>
          </a:p>
        </p:txBody>
      </p:sp>
      <p:sp>
        <p:nvSpPr>
          <p:cNvPr id="13" name="Shape 11"/>
          <p:cNvSpPr/>
          <p:nvPr/>
        </p:nvSpPr>
        <p:spPr>
          <a:xfrm>
            <a:off x="812800" y="4696470"/>
            <a:ext cx="10566400" cy="660400"/>
          </a:xfrm>
          <a:prstGeom prst="roundRect">
            <a:avLst>
              <a:gd name="adj" fmla="val 15385"/>
            </a:avLst>
          </a:prstGeom>
          <a:solidFill>
            <a:srgbClr val="FFFFFF"/>
          </a:solidFill>
          <a:ln/>
        </p:spPr>
      </p:sp>
      <p:sp>
        <p:nvSpPr>
          <p:cNvPr id="14" name="Text 12"/>
          <p:cNvSpPr/>
          <p:nvPr/>
        </p:nvSpPr>
        <p:spPr>
          <a:xfrm>
            <a:off x="1016000" y="48488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8977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R3 still comes last</a:t>
            </a:r>
            <a:r>
              <a:rPr lang="en-US" sz="1450" dirty="0">
                <a:solidFill>
                  <a:srgbClr val="3F4A5C"/>
                </a:solidFill>
                <a:latin typeface="Nunito Sans" pitchFamily="34" charset="0"/>
                <a:ea typeface="Nunito Sans" pitchFamily="34" charset="-122"/>
                <a:cs typeface="Nunito Sans" pitchFamily="34" charset="-120"/>
              </a:rPr>
              <a:t> at every error level.</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E9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if the patient is checked less often?</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Clinics can’t scan every week. Does the check-up rhythm matter?</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trained AIs to decide every day, every week, or every 28 days.</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Each was tested at all three rhythms: 9 combinations per goal.</a:t>
            </a:r>
            <a:endParaRPr lang="en-US" sz="1500" dirty="0"/>
          </a:p>
        </p:txBody>
      </p:sp>
      <p:sp>
        <p:nvSpPr>
          <p:cNvPr id="11" name="Text 9"/>
          <p:cNvSpPr/>
          <p:nvPr/>
        </p:nvSpPr>
        <p:spPr>
          <a:xfrm>
            <a:off x="4419600" y="288798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85"/>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chosen dose is kept until the next check-up.</a:t>
            </a:r>
            <a:endParaRPr lang="en-US" sz="1500" dirty="0"/>
          </a:p>
        </p:txBody>
      </p:sp>
      <p:sp>
        <p:nvSpPr>
          <p:cNvPr id="13" name="Text 11"/>
          <p:cNvSpPr/>
          <p:nvPr/>
        </p:nvSpPr>
        <p:spPr>
          <a:xfrm>
            <a:off x="4419600" y="338581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15"/>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Every AI got the same number of practice decisions, whatever its rhythm.</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E9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Checking less often than trained is dangerous</a:t>
            </a:r>
            <a:endParaRPr lang="en-US" sz="2800" dirty="0"/>
          </a:p>
        </p:txBody>
      </p:sp>
      <p:sp>
        <p:nvSpPr>
          <p:cNvPr id="4" name="Shape 2"/>
          <p:cNvSpPr/>
          <p:nvPr/>
        </p:nvSpPr>
        <p:spPr>
          <a:xfrm>
            <a:off x="815975" y="1710060"/>
            <a:ext cx="10560050" cy="2804160"/>
          </a:xfrm>
          <a:prstGeom prst="roundRect">
            <a:avLst>
              <a:gd name="adj" fmla="val 3510"/>
            </a:avLst>
          </a:prstGeom>
          <a:solidFill>
            <a:srgbClr val="FFFFFF"/>
          </a:solidFill>
          <a:ln w="6350">
            <a:solidFill>
              <a:srgbClr val="E4E0D6"/>
            </a:solidFill>
            <a:prstDash val="solid"/>
          </a:ln>
        </p:spPr>
      </p:sp>
      <p:pic>
        <p:nvPicPr>
          <p:cNvPr id="5" name="Image 0" descr="Four 3 by 3 tables, one per goal, of days to failure by training rhythm (rows: 1, 7, 28 days) and test rhythm (columns). Weekly-trained AIs reach about 1700 to 1750 days when checked weekly but only 83 days when checked monthly; monthly-trained AIs reach 1100 to 1400 days at every rhythm."/>
          <p:cNvPicPr>
            <a:picLocks noChangeAspect="1"/>
          </p:cNvPicPr>
          <p:nvPr/>
        </p:nvPicPr>
        <p:blipFill>
          <a:blip r:embed="rId3"/>
          <a:srcRect l="-12" r="-12"/>
          <a:stretch/>
        </p:blipFill>
        <p:spPr>
          <a:xfrm>
            <a:off x="919480" y="1813570"/>
            <a:ext cx="10353040" cy="2597150"/>
          </a:xfrm>
          <a:prstGeom prst="rect">
            <a:avLst/>
          </a:prstGeom>
        </p:spPr>
      </p:pic>
      <p:sp>
        <p:nvSpPr>
          <p:cNvPr id="6" name="Text 3"/>
          <p:cNvSpPr/>
          <p:nvPr/>
        </p:nvSpPr>
        <p:spPr>
          <a:xfrm>
            <a:off x="812800" y="46951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one table per goal. Rows = how often the AI was trained to decide; columns = how often it is checked in the test. Numbers = days to failure; * = that AI did not train well.</a:t>
            </a:r>
            <a:endParaRPr lang="en-US" sz="1300" dirty="0"/>
          </a:p>
        </p:txBody>
      </p:sp>
      <p:sp>
        <p:nvSpPr>
          <p:cNvPr id="7" name="Text 4"/>
          <p:cNvSpPr/>
          <p:nvPr/>
        </p:nvSpPr>
        <p:spPr>
          <a:xfrm>
            <a:off x="812800" y="5335265"/>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Best possible plan:</a:t>
            </a:r>
            <a:r>
              <a:rPr lang="en-US" sz="1300" dirty="0">
                <a:solidFill>
                  <a:srgbClr val="3F4A5C"/>
                </a:solidFill>
                <a:latin typeface="Nunito Sans" pitchFamily="34" charset="0"/>
                <a:ea typeface="Nunito Sans" pitchFamily="34" charset="-122"/>
                <a:cs typeface="Nunito Sans" pitchFamily="34" charset="-120"/>
              </a:rPr>
              <a:t> daily 2233 · weekly 2038 · monthly 1400 days.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E9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Check at least as often as the AI was trained</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Weekly-trained AIs checked monthly fail fast,</a:t>
            </a:r>
            <a:r>
              <a:rPr lang="en-US" sz="1450" dirty="0">
                <a:solidFill>
                  <a:srgbClr val="3F4A5C"/>
                </a:solidFill>
                <a:latin typeface="Nunito Sans" pitchFamily="34" charset="0"/>
                <a:ea typeface="Nunito Sans" pitchFamily="34" charset="-122"/>
                <a:cs typeface="Nunito Sans" pitchFamily="34" charset="-120"/>
              </a:rPr>
              <a:t> often by day 83.</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Monthly-trained AIs work at every rhythm</a:t>
            </a:r>
            <a:r>
              <a:rPr lang="en-US" sz="1450" dirty="0">
                <a:solidFill>
                  <a:srgbClr val="3F4A5C"/>
                </a:solidFill>
                <a:latin typeface="Nunito Sans" pitchFamily="34" charset="0"/>
                <a:ea typeface="Nunito Sans" pitchFamily="34" charset="-122"/>
                <a:cs typeface="Nunito Sans" pitchFamily="34" charset="-120"/>
              </a:rPr>
              <a:t> and reach 89–100% of the monthly best plan.</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Fewer check-ups lower the ceiling:</a:t>
            </a:r>
            <a:r>
              <a:rPr lang="en-US" sz="1450" dirty="0">
                <a:solidFill>
                  <a:srgbClr val="3F4A5C"/>
                </a:solidFill>
                <a:latin typeface="Nunito Sans" pitchFamily="34" charset="0"/>
                <a:ea typeface="Nunito Sans" pitchFamily="34" charset="-122"/>
                <a:cs typeface="Nunito Sans" pitchFamily="34" charset="-120"/>
              </a:rPr>
              <a:t> the best plan drops from 2038 days (weekly) to 1400 (monthly).</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Daily AIs under-trained</a:t>
            </a:r>
            <a:r>
              <a:rPr lang="en-US" sz="1450" dirty="0">
                <a:solidFill>
                  <a:srgbClr val="3F4A5C"/>
                </a:solidFill>
                <a:latin typeface="Nunito Sans" pitchFamily="34" charset="0"/>
                <a:ea typeface="Nunito Sans" pitchFamily="34" charset="-122"/>
                <a:cs typeface="Nunito Sans" pitchFamily="34" charset="-120"/>
              </a:rPr>
              <a:t> because they saw 7× fewer simulated days, so this says little about daily checks.</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E10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if the drug works differently?</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Our model assumes one way the drug acts. Do the AIs still work if that is wrong?</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kept the AIs trained on our standard drug model.</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tested them with two other drugs: one that only stops growth, and one that kills a fixed share of cells.</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compared with full dose, the best human rule and a best plan worked out again for each drug.</a:t>
            </a:r>
            <a:endParaRPr lang="en-US" sz="1500" dirty="0"/>
          </a:p>
        </p:txBody>
      </p:sp>
      <p:sp>
        <p:nvSpPr>
          <p:cNvPr id="13" name="Text 11"/>
          <p:cNvSpPr/>
          <p:nvPr/>
        </p:nvSpPr>
        <p:spPr>
          <a:xfrm>
            <a:off x="4419600" y="38125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8125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repeated it with the generalist AIs on the 20 new patients from E7.</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E10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The AIs carry over to other drugs</a:t>
            </a:r>
            <a:endParaRPr lang="en-US" sz="2800" dirty="0"/>
          </a:p>
        </p:txBody>
      </p:sp>
      <p:sp>
        <p:nvSpPr>
          <p:cNvPr id="4" name="Shape 2"/>
          <p:cNvSpPr/>
          <p:nvPr/>
        </p:nvSpPr>
        <p:spPr>
          <a:xfrm>
            <a:off x="815975" y="1710060"/>
            <a:ext cx="5795010" cy="2842260"/>
          </a:xfrm>
          <a:prstGeom prst="roundRect">
            <a:avLst>
              <a:gd name="adj" fmla="val 3463"/>
            </a:avLst>
          </a:prstGeom>
          <a:solidFill>
            <a:srgbClr val="FFFFFF"/>
          </a:solidFill>
          <a:ln w="6350">
            <a:solidFill>
              <a:srgbClr val="E4E0D6"/>
            </a:solidFill>
            <a:prstDash val="solid"/>
          </a:ln>
        </p:spPr>
      </p:sp>
      <p:pic>
        <p:nvPicPr>
          <p:cNvPr id="5" name="Image 0" descr="Days to failure under three drug models for AIs R1 to R4, the best plan (star), the best human rule (cross) and full dose (dash). Standard and log-kill: AIs about 1500 to 1750 days; growth-stopping: everything about 900 to 1130 days."/>
          <p:cNvPicPr>
            <a:picLocks noChangeAspect="1"/>
          </p:cNvPicPr>
          <p:nvPr/>
        </p:nvPicPr>
        <p:blipFill>
          <a:blip r:embed="rId3"/>
          <a:srcRect t="-38" b="-38"/>
          <a:stretch/>
        </p:blipFill>
        <p:spPr>
          <a:xfrm>
            <a:off x="919480" y="1813570"/>
            <a:ext cx="5588000" cy="2635250"/>
          </a:xfrm>
          <a:prstGeom prst="rect">
            <a:avLst/>
          </a:prstGeom>
        </p:spPr>
      </p:pic>
      <p:sp>
        <p:nvSpPr>
          <p:cNvPr id="6" name="Shape 3"/>
          <p:cNvSpPr/>
          <p:nvPr/>
        </p:nvSpPr>
        <p:spPr>
          <a:xfrm>
            <a:off x="6791960" y="1706885"/>
            <a:ext cx="4587240" cy="2540000"/>
          </a:xfrm>
          <a:prstGeom prst="rect">
            <a:avLst/>
          </a:prstGeom>
          <a:solidFill>
            <a:srgbClr val="FFFFFF"/>
          </a:solidFill>
          <a:ln/>
        </p:spPr>
      </p:sp>
      <p:sp>
        <p:nvSpPr>
          <p:cNvPr id="7" name="Shape 4"/>
          <p:cNvSpPr/>
          <p:nvPr/>
        </p:nvSpPr>
        <p:spPr>
          <a:xfrm>
            <a:off x="11376025" y="1706885"/>
            <a:ext cx="0" cy="2540000"/>
          </a:xfrm>
          <a:prstGeom prst="line">
            <a:avLst/>
          </a:prstGeom>
          <a:noFill/>
          <a:ln w="6350">
            <a:solidFill>
              <a:srgbClr val="E4E0D6"/>
            </a:solidFill>
            <a:prstDash val="solid"/>
          </a:ln>
        </p:spPr>
      </p:sp>
      <p:sp>
        <p:nvSpPr>
          <p:cNvPr id="8" name="Shape 5"/>
          <p:cNvSpPr/>
          <p:nvPr/>
        </p:nvSpPr>
        <p:spPr>
          <a:xfrm>
            <a:off x="6791960" y="4243710"/>
            <a:ext cx="4587240" cy="0"/>
          </a:xfrm>
          <a:prstGeom prst="line">
            <a:avLst/>
          </a:prstGeom>
          <a:noFill/>
          <a:ln w="6350">
            <a:solidFill>
              <a:srgbClr val="E4E0D6"/>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02120" y="1717045"/>
          <a:ext cx="4572000" cy="2524760"/>
        </p:xfrm>
        <a:graphic>
          <a:graphicData uri="http://schemas.openxmlformats.org/drawingml/2006/table">
            <a:tbl>
              <a:tblPr/>
              <a:tblGrid>
                <a:gridCol w="12801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543560">
                <a:tc>
                  <a:txBody>
                    <a:bodyPr/>
                    <a:lstStyle/>
                    <a:p>
                      <a:pPr marL="0" indent="0">
                        <a:lnSpc>
                          <a:spcPts val="1680"/>
                        </a:lnSpc>
                        <a:buNone/>
                      </a:pPr>
                      <a:r>
                        <a:rPr lang="en-US" sz="1200" b="1" dirty="0">
                          <a:solidFill>
                            <a:srgbClr val="F4F1EA"/>
                          </a:solidFill>
                          <a:latin typeface="Nunito Sans" pitchFamily="34" charset="0"/>
                          <a:ea typeface="Nunito Sans" pitchFamily="34" charset="-122"/>
                          <a:cs typeface="Nunito Sans" pitchFamily="34" charset="-120"/>
                        </a:rPr>
                        <a:t>Days</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680"/>
                        </a:lnSpc>
                        <a:buNone/>
                      </a:pPr>
                      <a:r>
                        <a:rPr lang="en-US" sz="1200" b="1" dirty="0">
                          <a:solidFill>
                            <a:srgbClr val="F4F1EA"/>
                          </a:solidFill>
                          <a:latin typeface="Nunito Sans" pitchFamily="34" charset="0"/>
                          <a:ea typeface="Nunito Sans" pitchFamily="34" charset="-122"/>
                          <a:cs typeface="Nunito Sans" pitchFamily="34" charset="-120"/>
                        </a:rPr>
                        <a:t>Standard</a:t>
                      </a:r>
                      <a:endParaRPr lang="en-US" sz="1200" dirty="0">
                        <a:latin typeface="Nunito Sans" charset="0"/>
                        <a:ea typeface="Nunito Sans" charset="0"/>
                        <a:cs typeface="Nunito Sans" charset="0"/>
                      </a:endParaRPr>
                    </a:p>
                  </a:txBody>
                  <a:tcPr marL="53340" marR="53340" marT="53340" marB="5334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680"/>
                        </a:lnSpc>
                        <a:buNone/>
                      </a:pPr>
                      <a:r>
                        <a:rPr lang="en-US" sz="1200" b="1" dirty="0">
                          <a:solidFill>
                            <a:srgbClr val="F4F1EA"/>
                          </a:solidFill>
                          <a:latin typeface="Nunito Sans" pitchFamily="34" charset="0"/>
                          <a:ea typeface="Nunito Sans" pitchFamily="34" charset="-122"/>
                          <a:cs typeface="Nunito Sans" pitchFamily="34" charset="-120"/>
                        </a:rPr>
                        <a:t>Stops growth</a:t>
                      </a:r>
                      <a:endParaRPr lang="en-US" sz="1200" dirty="0">
                        <a:latin typeface="Nunito Sans" charset="0"/>
                        <a:ea typeface="Nunito Sans" charset="0"/>
                        <a:cs typeface="Nunito Sans" charset="0"/>
                      </a:endParaRPr>
                    </a:p>
                  </a:txBody>
                  <a:tcPr marL="53340" marR="53340" marT="53340" marB="5334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680"/>
                        </a:lnSpc>
                        <a:buNone/>
                      </a:pPr>
                      <a:r>
                        <a:rPr lang="en-US" sz="1200" b="1" dirty="0">
                          <a:solidFill>
                            <a:srgbClr val="F4F1EA"/>
                          </a:solidFill>
                          <a:latin typeface="Nunito Sans" pitchFamily="34" charset="0"/>
                          <a:ea typeface="Nunito Sans" pitchFamily="34" charset="-122"/>
                          <a:cs typeface="Nunito Sans" pitchFamily="34" charset="-120"/>
                        </a:rPr>
                        <a:t>Log-kill</a:t>
                      </a:r>
                      <a:endParaRPr lang="en-US" sz="1200" dirty="0">
                        <a:latin typeface="Nunito Sans" charset="0"/>
                        <a:ea typeface="Nunito Sans" charset="0"/>
                        <a:cs typeface="Nunito Sans" charset="0"/>
                      </a:endParaRPr>
                    </a:p>
                  </a:txBody>
                  <a:tcPr marL="53340" marR="53340" marT="53340" marB="5334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AI R1</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1744</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1126</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1732</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AI R3</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1494</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1048</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1485</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Full dose</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452</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919</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828</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AT50</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673</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919</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828</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AT-PSC</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1135</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1126</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1192</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Best plan</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2038</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1113</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2045</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bl>
          </a:graphicData>
        </a:graphic>
      </p:graphicFrame>
      <p:sp>
        <p:nvSpPr>
          <p:cNvPr id="10" name="Text 6"/>
          <p:cNvSpPr/>
          <p:nvPr/>
        </p:nvSpPr>
        <p:spPr>
          <a:xfrm>
            <a:off x="812800" y="47332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dots = AIs per goal, star = best plan for that drug, × = best human rule, dash = full dose. The AIs were trained only on the standard drug.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E10 · WHAT WE FOUND</a:t>
            </a:r>
            <a:endParaRPr lang="en-US" sz="1300" dirty="0"/>
          </a:p>
        </p:txBody>
      </p:sp>
      <p:sp>
        <p:nvSpPr>
          <p:cNvPr id="3" name="Text 1"/>
          <p:cNvSpPr>
            <a:spLocks noGrp="1"/>
          </p:cNvSpPr>
          <p:nvPr>
            <p:ph type="title"/>
          </p:nvPr>
        </p:nvSpPr>
        <p:spPr>
          <a:xfrm>
            <a:off x="812800" y="1120130"/>
            <a:ext cx="10883392" cy="9601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AIs survive a wrong drug model; some human rules don’t</a:t>
            </a:r>
            <a:endParaRPr lang="en-US" sz="3200" dirty="0"/>
          </a:p>
        </p:txBody>
      </p:sp>
      <p:sp>
        <p:nvSpPr>
          <p:cNvPr id="4" name="Shape 2"/>
          <p:cNvSpPr/>
          <p:nvPr/>
        </p:nvSpPr>
        <p:spPr>
          <a:xfrm>
            <a:off x="812800" y="2334270"/>
            <a:ext cx="10566400" cy="660400"/>
          </a:xfrm>
          <a:prstGeom prst="roundRect">
            <a:avLst>
              <a:gd name="adj" fmla="val 15385"/>
            </a:avLst>
          </a:prstGeom>
          <a:solidFill>
            <a:srgbClr val="FFFFFF"/>
          </a:solidFill>
          <a:ln/>
        </p:spPr>
      </p:sp>
      <p:sp>
        <p:nvSpPr>
          <p:cNvPr id="5" name="Text 3"/>
          <p:cNvSpPr/>
          <p:nvPr/>
        </p:nvSpPr>
        <p:spPr>
          <a:xfrm>
            <a:off x="1016000" y="24866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5355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Log-kill drug:</a:t>
            </a:r>
            <a:r>
              <a:rPr lang="en-US" sz="1450" dirty="0">
                <a:solidFill>
                  <a:srgbClr val="3F4A5C"/>
                </a:solidFill>
                <a:latin typeface="Nunito Sans" pitchFamily="34" charset="0"/>
                <a:ea typeface="Nunito Sans" pitchFamily="34" charset="-122"/>
                <a:cs typeface="Nunito Sans" pitchFamily="34" charset="-120"/>
              </a:rPr>
              <a:t> AIs work almost unchanged (1732 vs 1744 days), while AT50 drops to full-dose level (828).</a:t>
            </a:r>
            <a:endParaRPr lang="en-US" sz="1450" dirty="0"/>
          </a:p>
        </p:txBody>
      </p:sp>
      <p:sp>
        <p:nvSpPr>
          <p:cNvPr id="7" name="Shape 5"/>
          <p:cNvSpPr/>
          <p:nvPr/>
        </p:nvSpPr>
        <p:spPr>
          <a:xfrm>
            <a:off x="812800" y="3121670"/>
            <a:ext cx="10566400" cy="660400"/>
          </a:xfrm>
          <a:prstGeom prst="roundRect">
            <a:avLst>
              <a:gd name="adj" fmla="val 15385"/>
            </a:avLst>
          </a:prstGeom>
          <a:solidFill>
            <a:srgbClr val="FFFFFF"/>
          </a:solidFill>
          <a:ln/>
        </p:spPr>
      </p:sp>
      <p:sp>
        <p:nvSpPr>
          <p:cNvPr id="8" name="Text 6"/>
          <p:cNvSpPr/>
          <p:nvPr/>
        </p:nvSpPr>
        <p:spPr>
          <a:xfrm>
            <a:off x="1016000" y="32740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33229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Growth-stopping drug:</a:t>
            </a:r>
            <a:r>
              <a:rPr lang="en-US" sz="1450" dirty="0">
                <a:solidFill>
                  <a:srgbClr val="3F4A5C"/>
                </a:solidFill>
                <a:latin typeface="Nunito Sans" pitchFamily="34" charset="0"/>
                <a:ea typeface="Nunito Sans" pitchFamily="34" charset="-122"/>
                <a:cs typeface="Nunito Sans" pitchFamily="34" charset="-120"/>
              </a:rPr>
              <a:t> every option lands at 920–1130 days, and the AIs match the re-solved best plan.</a:t>
            </a:r>
            <a:endParaRPr lang="en-US" sz="1450" dirty="0"/>
          </a:p>
        </p:txBody>
      </p:sp>
      <p:sp>
        <p:nvSpPr>
          <p:cNvPr id="10" name="Shape 8"/>
          <p:cNvSpPr/>
          <p:nvPr/>
        </p:nvSpPr>
        <p:spPr>
          <a:xfrm>
            <a:off x="812800" y="3909070"/>
            <a:ext cx="10566400" cy="660400"/>
          </a:xfrm>
          <a:prstGeom prst="roundRect">
            <a:avLst>
              <a:gd name="adj" fmla="val 15385"/>
            </a:avLst>
          </a:prstGeom>
          <a:solidFill>
            <a:srgbClr val="FFFFFF"/>
          </a:solidFill>
          <a:ln/>
        </p:spPr>
      </p:sp>
      <p:sp>
        <p:nvSpPr>
          <p:cNvPr id="11" name="Text 9"/>
          <p:cNvSpPr/>
          <p:nvPr/>
        </p:nvSpPr>
        <p:spPr>
          <a:xfrm>
            <a:off x="1016000" y="40614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41103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is still last</a:t>
            </a:r>
            <a:r>
              <a:rPr lang="en-US" sz="1450" dirty="0">
                <a:solidFill>
                  <a:srgbClr val="3F4A5C"/>
                </a:solidFill>
                <a:latin typeface="Nunito Sans" pitchFamily="34" charset="0"/>
                <a:ea typeface="Nunito Sans" pitchFamily="34" charset="-122"/>
                <a:cs typeface="Nunito Sans" pitchFamily="34" charset="-120"/>
              </a:rPr>
              <a:t> with both drugs.</a:t>
            </a:r>
            <a:endParaRPr lang="en-US" sz="1450" dirty="0"/>
          </a:p>
        </p:txBody>
      </p:sp>
      <p:sp>
        <p:nvSpPr>
          <p:cNvPr id="13" name="Shape 11"/>
          <p:cNvSpPr/>
          <p:nvPr/>
        </p:nvSpPr>
        <p:spPr>
          <a:xfrm>
            <a:off x="812800" y="4696470"/>
            <a:ext cx="10566400" cy="660400"/>
          </a:xfrm>
          <a:prstGeom prst="roundRect">
            <a:avLst>
              <a:gd name="adj" fmla="val 15385"/>
            </a:avLst>
          </a:prstGeom>
          <a:solidFill>
            <a:srgbClr val="FFFFFF"/>
          </a:solidFill>
          <a:ln/>
        </p:spPr>
      </p:sp>
      <p:sp>
        <p:nvSpPr>
          <p:cNvPr id="14" name="Text 12"/>
          <p:cNvSpPr/>
          <p:nvPr/>
        </p:nvSpPr>
        <p:spPr>
          <a:xfrm>
            <a:off x="1016000" y="48488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8977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same holds on the 20 new patients</a:t>
            </a:r>
            <a:r>
              <a:rPr lang="en-US" sz="1450" dirty="0">
                <a:solidFill>
                  <a:srgbClr val="3F4A5C"/>
                </a:solidFill>
                <a:latin typeface="Nunito Sans" pitchFamily="34" charset="0"/>
                <a:ea typeface="Nunito Sans" pitchFamily="34" charset="-122"/>
                <a:cs typeface="Nunito Sans" pitchFamily="34" charset="-120"/>
              </a:rPr>
              <a:t> with the generalist AIs.</a:t>
            </a:r>
            <a:endParaRPr lang="en-US" sz="14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E3C–E5C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Does it hold when resistance has a cost?</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Our resistant cells grow as fast as sensitive ones. What if resistance slows them down?</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Same patient, but resistant cells grow 42% slower, a value measured in prostate cancer (Zhang 2022).</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repeated E2 to E5 exactly: best plans, 40 new AIs, cross-scoring, strategy comparison.</a:t>
            </a:r>
            <a:endParaRPr lang="en-US" sz="1500" dirty="0"/>
          </a:p>
        </p:txBody>
      </p:sp>
      <p:sp>
        <p:nvSpPr>
          <p:cNvPr id="11" name="Text 9"/>
          <p:cNvSpPr/>
          <p:nvPr/>
        </p:nvSpPr>
        <p:spPr>
          <a:xfrm>
            <a:off x="4419600" y="33147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3147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Same settings, same training length, same 0.7 bar.</a:t>
            </a:r>
            <a:endParaRPr lang="en-US" sz="1500" dirty="0"/>
          </a:p>
        </p:txBody>
      </p:sp>
      <p:sp>
        <p:nvSpPr>
          <p:cNvPr id="13" name="Text 11"/>
          <p:cNvSpPr/>
          <p:nvPr/>
        </p:nvSpPr>
        <p:spPr>
          <a:xfrm>
            <a:off x="4419600" y="38125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8125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also tried giving “lasting control” (R4) 5× and 10× more weight.</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E3C–E5C · RESULTS (1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Same pattern, just everything lasts longer</a:t>
            </a:r>
            <a:endParaRPr lang="en-US" sz="2800" dirty="0"/>
          </a:p>
        </p:txBody>
      </p:sp>
      <p:sp>
        <p:nvSpPr>
          <p:cNvPr id="4" name="Shape 2"/>
          <p:cNvSpPr/>
          <p:nvPr/>
        </p:nvSpPr>
        <p:spPr>
          <a:xfrm>
            <a:off x="815975" y="1710060"/>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on the cost-of-resistance patient; R3-trained AIs score 0.66 to 0.72 on other goals, the others 0.74 to 0.85. Right: days to failure per AI; R1, R2 and R4 around 3000 days, R3 around 2500 with several hollow dots for AIs that did not train."/>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every strategy on every goal (as in E4). Right = days to failure per AI; hollow dots did not train. Middles: R1 3031 · R2 3009 · R3 2498 · R4 3024. Best plan 3683, best human rule 1959.</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E3C–E5C · RESULTS (2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Strategies: R3 differs, R1 and R4 do not</a:t>
            </a:r>
            <a:endParaRPr lang="en-US" sz="2800" dirty="0"/>
          </a:p>
        </p:txBody>
      </p:sp>
      <p:sp>
        <p:nvSpPr>
          <p:cNvPr id="4" name="Shape 2"/>
          <p:cNvSpPr/>
          <p:nvPr/>
        </p:nvSpPr>
        <p:spPr>
          <a:xfrm>
            <a:off x="815975" y="1710060"/>
            <a:ext cx="10560050" cy="3382010"/>
          </a:xfrm>
          <a:prstGeom prst="roundRect">
            <a:avLst>
              <a:gd name="adj" fmla="val 2910"/>
            </a:avLst>
          </a:prstGeom>
          <a:solidFill>
            <a:srgbClr val="FFFFFF"/>
          </a:solidFill>
          <a:ln w="6350">
            <a:solidFill>
              <a:srgbClr val="E4E0D6"/>
            </a:solidFill>
            <a:prstDash val="solid"/>
          </a:ln>
        </p:spPr>
      </p:sp>
      <p:pic>
        <p:nvPicPr>
          <p:cNvPr id="5" name="Image 0" descr="Left: chance of treating against tumour size; R1, R2 and R4 switch at 1.14, R3 at 1.08 with spread-out lines. Middle and right: difference between every pair of AIs; the R3 row and column are darkest."/>
          <p:cNvPicPr>
            <a:picLocks noChangeAspect="1"/>
          </p:cNvPicPr>
          <p:nvPr/>
        </p:nvPicPr>
        <p:blipFill>
          <a:blip r:embed="rId3"/>
          <a:srcRect t="-45" b="-45"/>
          <a:stretch/>
        </p:blipFill>
        <p:spPr>
          <a:xfrm>
            <a:off x="919480" y="1813570"/>
            <a:ext cx="10353040" cy="3175000"/>
          </a:xfrm>
          <a:prstGeom prst="rect">
            <a:avLst/>
          </a:prstGeom>
        </p:spPr>
      </p:pic>
      <p:sp>
        <p:nvSpPr>
          <p:cNvPr id="6" name="Text 3"/>
          <p:cNvSpPr/>
          <p:nvPr/>
        </p:nvSpPr>
        <p:spPr>
          <a:xfrm>
            <a:off x="812800" y="527303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chance of treating vs tumour size (thresholds R1, R2, R4 1.14; R3 1.08). Middle and right = difference between AIs; darker = more different, diagonal blocks = luck level.</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E3C–E5C · RESULTS (3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Where each AI treats on this patient</a:t>
            </a:r>
            <a:endParaRPr lang="en-US" sz="2800" dirty="0"/>
          </a:p>
        </p:txBody>
      </p:sp>
      <p:sp>
        <p:nvSpPr>
          <p:cNvPr id="4" name="Shape 2"/>
          <p:cNvSpPr/>
          <p:nvPr/>
        </p:nvSpPr>
        <p:spPr>
          <a:xfrm>
            <a:off x="815975" y="1710060"/>
            <a:ext cx="10560050" cy="2969260"/>
          </a:xfrm>
          <a:prstGeom prst="roundRect">
            <a:avLst>
              <a:gd name="adj" fmla="val 3315"/>
            </a:avLst>
          </a:prstGeom>
          <a:solidFill>
            <a:srgbClr val="FFFFFF"/>
          </a:solidFill>
          <a:ln w="6350">
            <a:solidFill>
              <a:srgbClr val="E4E0D6"/>
            </a:solidFill>
            <a:prstDash val="solid"/>
          </a:ln>
        </p:spPr>
      </p:sp>
      <p:pic>
        <p:nvPicPr>
          <p:cNvPr id="5" name="Image 0" descr="Average treat maps for R1 to R4 AIs on the cost-of-resistance patient, with the best plan's boundary in orange. R1, R2 and R4 treat in a thin strip near the failure line; R3 treats over a wide area."/>
          <p:cNvPicPr>
            <a:picLocks noChangeAspect="1"/>
          </p:cNvPicPr>
          <p:nvPr/>
        </p:nvPicPr>
        <p:blipFill>
          <a:blip r:embed="rId3"/>
          <a:srcRect t="-93" b="-93"/>
          <a:stretch/>
        </p:blipFill>
        <p:spPr>
          <a:xfrm>
            <a:off x="919480" y="1813570"/>
            <a:ext cx="10353040" cy="2762250"/>
          </a:xfrm>
          <a:prstGeom prst="rect">
            <a:avLst/>
          </a:prstGeom>
        </p:spPr>
      </p:pic>
      <p:sp>
        <p:nvSpPr>
          <p:cNvPr id="6" name="Text 3"/>
          <p:cNvSpPr/>
          <p:nvPr/>
        </p:nvSpPr>
        <p:spPr>
          <a:xfrm>
            <a:off x="812800" y="486028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across = tumour size, up = share of resistant cells, dark = the AI treats, orange outline = where the best plan treats.</a:t>
            </a:r>
            <a:endParaRPr lang="en-US" sz="1300" dirty="0"/>
          </a:p>
        </p:txBody>
      </p:sp>
      <p:sp>
        <p:nvSpPr>
          <p:cNvPr id="7" name="Text 4"/>
          <p:cNvSpPr/>
          <p:nvPr/>
        </p:nvSpPr>
        <p:spPr>
          <a:xfrm>
            <a:off x="812800" y="5269235"/>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It looks almost the same as on our main patient (E5): a thin strip for R1, R2 and R4, a wide area for R3.</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E3C–E5C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The conclusions carry over</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Everything lasts about 1.7× longer</a:t>
            </a:r>
            <a:r>
              <a:rPr lang="en-US" sz="1450" dirty="0">
                <a:solidFill>
                  <a:srgbClr val="3F4A5C"/>
                </a:solidFill>
                <a:latin typeface="Nunito Sans" pitchFamily="34" charset="0"/>
                <a:ea typeface="Nunito Sans" pitchFamily="34" charset="-122"/>
                <a:cs typeface="Nunito Sans" pitchFamily="34" charset="-120"/>
              </a:rPr>
              <a:t> (best plan 3683 days), but the ranking is unchanged.</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costs 13–17%</a:t>
            </a:r>
            <a:r>
              <a:rPr lang="en-US" sz="1450" dirty="0">
                <a:solidFill>
                  <a:srgbClr val="3F4A5C"/>
                </a:solidFill>
                <a:latin typeface="Nunito Sans" pitchFamily="34" charset="0"/>
                <a:ea typeface="Nunito Sans" pitchFamily="34" charset="-122"/>
                <a:cs typeface="Nunito Sans" pitchFamily="34" charset="-120"/>
              </a:rPr>
              <a:t> on the other goals; R1, R2 and R4 cost each other under 1%.</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and R4 are again the same,</a:t>
            </a:r>
            <a:r>
              <a:rPr lang="en-US" sz="1450" dirty="0">
                <a:solidFill>
                  <a:srgbClr val="3F4A5C"/>
                </a:solidFill>
                <a:latin typeface="Nunito Sans" pitchFamily="34" charset="0"/>
                <a:ea typeface="Nunito Sans" pitchFamily="34" charset="-122"/>
                <a:cs typeface="Nunito Sans" pitchFamily="34" charset="-120"/>
              </a:rPr>
              <a:t> at the best plan and in the AIs.</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More weight on R4 only teaches “give up early”.</a:t>
            </a:r>
            <a:r>
              <a:rPr lang="en-US" sz="1450" dirty="0">
                <a:solidFill>
                  <a:srgbClr val="3F4A5C"/>
                </a:solidFill>
                <a:latin typeface="Nunito Sans" pitchFamily="34" charset="0"/>
                <a:ea typeface="Nunito Sans" pitchFamily="34" charset="-122"/>
                <a:cs typeface="Nunito Sans" pitchFamily="34" charset="-120"/>
              </a:rPr>
              <a:t> Close that loophole and containment returns.</a:t>
            </a:r>
            <a:endParaRPr lang="en-US" sz="14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D2B44"/>
        </a:solidFill>
        <a:effectLst/>
      </p:bgPr>
    </p:bg>
    <p:spTree>
      <p:nvGrpSpPr>
        <p:cNvPr id="1" name=""/>
        <p:cNvGrpSpPr/>
        <p:nvPr/>
      </p:nvGrpSpPr>
      <p:grpSpPr>
        <a:xfrm>
          <a:off x="0" y="0"/>
          <a:ext cx="0" cy="0"/>
          <a:chOff x="0" y="0"/>
          <a:chExt cx="0" cy="0"/>
        </a:xfrm>
      </p:grpSpPr>
      <p:sp>
        <p:nvSpPr>
          <p:cNvPr id="2" name="Text 0"/>
          <p:cNvSpPr/>
          <p:nvPr/>
        </p:nvSpPr>
        <p:spPr>
          <a:xfrm>
            <a:off x="812800" y="2444428"/>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48F"/>
                </a:solidFill>
                <a:latin typeface="Nunito Sans" pitchFamily="34" charset="0"/>
                <a:ea typeface="Nunito Sans" pitchFamily="34" charset="-122"/>
                <a:cs typeface="Nunito Sans" pitchFamily="34" charset="-120"/>
              </a:rPr>
              <a:t>PART 4 · E11, E11B, E11C, E11D</a:t>
            </a:r>
            <a:endParaRPr lang="en-US" sz="1400" dirty="0"/>
          </a:p>
        </p:txBody>
      </p:sp>
      <p:sp>
        <p:nvSpPr>
          <p:cNvPr id="3" name="Text 1"/>
          <p:cNvSpPr>
            <a:spLocks noGrp="1"/>
          </p:cNvSpPr>
          <p:nvPr>
            <p:ph type="title"/>
          </p:nvPr>
        </p:nvSpPr>
        <p:spPr>
          <a:xfrm>
            <a:off x="812800" y="2921943"/>
            <a:ext cx="10883392" cy="683789"/>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4F1EA"/>
                </a:solidFill>
                <a:latin typeface="Rubik" pitchFamily="34" charset="0"/>
                <a:ea typeface="Rubik" pitchFamily="34" charset="-122"/>
                <a:cs typeface="Rubik" pitchFamily="34" charset="-120"/>
              </a:rPr>
              <a:t>What the AI is allowed to see</a:t>
            </a:r>
            <a:endParaRPr lang="en-US" sz="4800" dirty="0"/>
          </a:p>
        </p:txBody>
      </p:sp>
      <p:sp>
        <p:nvSpPr>
          <p:cNvPr id="4" name="Text 2"/>
          <p:cNvSpPr/>
          <p:nvPr/>
        </p:nvSpPr>
        <p:spPr>
          <a:xfrm>
            <a:off x="812800" y="3808933"/>
            <a:ext cx="10883392"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5CEDC"/>
                </a:solidFill>
                <a:latin typeface="Nunito Sans" pitchFamily="34" charset="0"/>
                <a:ea typeface="Nunito Sans" pitchFamily="34" charset="-122"/>
                <a:cs typeface="Nunito Sans" pitchFamily="34" charset="-120"/>
              </a:rPr>
              <a:t>So far the AI saw the exact mix of sensitive and resistant cells. A doctor only sees tumour size. What changes?</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if the AI only sees tumour size?</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Doctors see a tumour marker like PSA, not the cell mix. Can the AI learn from size alone?</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Same as E3, but the AI sees one number: tumour size compared to the start.</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No memory: only this week’s size.</a:t>
            </a:r>
            <a:endParaRPr lang="en-US" sz="1500" dirty="0"/>
          </a:p>
        </p:txBody>
      </p:sp>
      <p:sp>
        <p:nvSpPr>
          <p:cNvPr id="11" name="Text 9"/>
          <p:cNvSpPr/>
          <p:nvPr/>
        </p:nvSpPr>
        <p:spPr>
          <a:xfrm>
            <a:off x="4419600" y="288798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85"/>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10 AIs per goal, scored against the full-information best plan.</a:t>
            </a:r>
            <a:endParaRPr lang="en-US" sz="1500" dirty="0"/>
          </a:p>
        </p:txBody>
      </p:sp>
      <p:sp>
        <p:nvSpPr>
          <p:cNvPr id="13" name="Text 11"/>
          <p:cNvSpPr/>
          <p:nvPr/>
        </p:nvSpPr>
        <p:spPr>
          <a:xfrm>
            <a:off x="4419600" y="338581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15"/>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To see if size alone is enough, we also tested the simple rule “treat if size ≥ θ” for many values of θ.</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Size-only AIs failed, but a simple size rule works</a:t>
            </a:r>
            <a:endParaRPr lang="en-US" sz="2800" dirty="0"/>
          </a:p>
        </p:txBody>
      </p:sp>
      <p:sp>
        <p:nvSpPr>
          <p:cNvPr id="4" name="Shape 2"/>
          <p:cNvSpPr/>
          <p:nvPr/>
        </p:nvSpPr>
        <p:spPr>
          <a:xfrm>
            <a:off x="815975" y="1710060"/>
            <a:ext cx="10560050" cy="3655060"/>
          </a:xfrm>
          <a:prstGeom prst="roundRect">
            <a:avLst>
              <a:gd name="adj" fmla="val 2693"/>
            </a:avLst>
          </a:prstGeom>
          <a:solidFill>
            <a:srgbClr val="FFFFFF"/>
          </a:solidFill>
          <a:ln w="6350">
            <a:solidFill>
              <a:srgbClr val="E4E0D6"/>
            </a:solidFill>
            <a:prstDash val="solid"/>
          </a:ln>
        </p:spPr>
      </p:sp>
      <p:pic>
        <p:nvPicPr>
          <p:cNvPr id="5" name="Image 0" descr="Left: chance of treating against tumour size for size-only AIs; they start treating between 0.5 and 0.9 of the starting size, far below the best rule at 1.17. Right: days to failure for the rule treat if size is at least theta; it rises to 1945 days at theta 1.17, while the AIs sit at 590 to 770 days."/>
          <p:cNvPicPr>
            <a:picLocks noChangeAspect="1"/>
          </p:cNvPicPr>
          <p:nvPr/>
        </p:nvPicPr>
        <p:blipFill>
          <a:blip r:embed="rId3"/>
          <a:srcRect t="-12" b="-12"/>
          <a:stretch/>
        </p:blipFill>
        <p:spPr>
          <a:xfrm>
            <a:off x="1031875" y="1813570"/>
            <a:ext cx="1012825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Left:</a:t>
            </a:r>
            <a:r>
              <a:rPr lang="en-US" sz="1300" dirty="0">
                <a:solidFill>
                  <a:srgbClr val="3F4A5C"/>
                </a:solidFill>
                <a:latin typeface="Nunito Sans" pitchFamily="34" charset="0"/>
                <a:ea typeface="Nunito Sans" pitchFamily="34" charset="-122"/>
                <a:cs typeface="Nunito Sans" pitchFamily="34" charset="-120"/>
              </a:rPr>
              <a:t> when each size-only AI treats; they treat far too early. </a:t>
            </a:r>
            <a:r>
              <a:rPr lang="en-US" sz="1300" b="1" dirty="0">
                <a:solidFill>
                  <a:srgbClr val="1D2B44"/>
                </a:solidFill>
                <a:latin typeface="Nunito Sans" pitchFamily="34" charset="0"/>
                <a:ea typeface="Nunito Sans" pitchFamily="34" charset="-122"/>
                <a:cs typeface="Nunito Sans" pitchFamily="34" charset="-120"/>
              </a:rPr>
              <a:t>Right:</a:t>
            </a:r>
            <a:r>
              <a:rPr lang="en-US" sz="1300" dirty="0">
                <a:solidFill>
                  <a:srgbClr val="3F4A5C"/>
                </a:solidFill>
                <a:latin typeface="Nunito Sans" pitchFamily="34" charset="0"/>
                <a:ea typeface="Nunito Sans" pitchFamily="34" charset="-122"/>
                <a:cs typeface="Nunito Sans" pitchFamily="34" charset="-120"/>
              </a:rPr>
              <a:t> days for the rule “treat if size ≥ θ”; the best θ = 1.17 gives 1945 days. Dashed lines = the AIs (590–770 days).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The information was there; the AI couldn’t learn it</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1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No size-only AI trained:</a:t>
            </a:r>
            <a:r>
              <a:rPr lang="en-US" sz="1450" dirty="0">
                <a:solidFill>
                  <a:srgbClr val="3F4A5C"/>
                </a:solidFill>
                <a:latin typeface="Nunito Sans" pitchFamily="34" charset="0"/>
                <a:ea typeface="Nunito Sans" pitchFamily="34" charset="-122"/>
                <a:cs typeface="Nunito Sans" pitchFamily="34" charset="-120"/>
              </a:rPr>
              <a:t> scores 0.21–0.37, about 700 days, close to AT50.</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5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They treat far too early,</a:t>
            </a:r>
            <a:r>
              <a:rPr lang="en-US" sz="1450" dirty="0">
                <a:solidFill>
                  <a:srgbClr val="3F4A5C"/>
                </a:solidFill>
                <a:latin typeface="Nunito Sans" pitchFamily="34" charset="0"/>
                <a:ea typeface="Nunito Sans" pitchFamily="34" charset="-122"/>
                <a:cs typeface="Nunito Sans" pitchFamily="34" charset="-120"/>
              </a:rPr>
              <a:t> at 65–85% of the starting size instead of 117%.</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29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Size alone is enough:</a:t>
            </a:r>
            <a:r>
              <a:rPr lang="en-US" sz="1450" dirty="0">
                <a:solidFill>
                  <a:srgbClr val="3F4A5C"/>
                </a:solidFill>
                <a:latin typeface="Nunito Sans" pitchFamily="34" charset="0"/>
                <a:ea typeface="Nunito Sans" pitchFamily="34" charset="-122"/>
                <a:cs typeface="Nunito Sans" pitchFamily="34" charset="-120"/>
              </a:rPr>
              <a:t> “treat if size ≥ 1.17 × start” reaches 1945 days, 96% of the best.</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39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So the problem is learning.</a:t>
            </a:r>
            <a:r>
              <a:rPr lang="en-US" sz="1450" dirty="0">
                <a:solidFill>
                  <a:srgbClr val="3F4A5C"/>
                </a:solidFill>
                <a:latin typeface="Nunito Sans" pitchFamily="34" charset="0"/>
                <a:ea typeface="Nunito Sans" pitchFamily="34" charset="-122"/>
                <a:cs typeface="Nunito Sans" pitchFamily="34" charset="-120"/>
              </a:rPr>
              <a:t> The AI’s internal judge can’t tell apart situations that look the same in size.</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E11B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Give the AI a better teacher during training</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Can we fix the size-only AI by changing how it trains, not what it sees?</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An AI has two parts: a </a:t>
            </a:r>
            <a:r>
              <a:rPr lang="en-US" sz="1500" b="1" dirty="0">
                <a:solidFill>
                  <a:srgbClr val="3F4A5C"/>
                </a:solidFill>
                <a:latin typeface="Nunito Sans" pitchFamily="34" charset="0"/>
                <a:ea typeface="Nunito Sans" pitchFamily="34" charset="-122"/>
                <a:cs typeface="Nunito Sans" pitchFamily="34" charset="-120"/>
              </a:rPr>
              <a:t>decision-maker</a:t>
            </a:r>
            <a:r>
              <a:rPr lang="en-US" sz="1500" dirty="0">
                <a:solidFill>
                  <a:srgbClr val="3F4A5C"/>
                </a:solidFill>
                <a:latin typeface="Nunito Sans" pitchFamily="34" charset="0"/>
                <a:ea typeface="Nunito Sans" pitchFamily="34" charset="-122"/>
                <a:cs typeface="Nunito Sans" pitchFamily="34" charset="-120"/>
              </a:rPr>
              <a:t> and an internal </a:t>
            </a:r>
            <a:r>
              <a:rPr lang="en-US" sz="1500" b="1" dirty="0">
                <a:solidFill>
                  <a:srgbClr val="3F4A5C"/>
                </a:solidFill>
                <a:latin typeface="Nunito Sans" pitchFamily="34" charset="0"/>
                <a:ea typeface="Nunito Sans" pitchFamily="34" charset="-122"/>
                <a:cs typeface="Nunito Sans" pitchFamily="34" charset="-120"/>
              </a:rPr>
              <a:t>judge</a:t>
            </a:r>
            <a:r>
              <a:rPr lang="en-US" sz="1500" dirty="0">
                <a:solidFill>
                  <a:srgbClr val="3F4A5C"/>
                </a:solidFill>
                <a:latin typeface="Nunito Sans" pitchFamily="34" charset="0"/>
                <a:ea typeface="Nunito Sans" pitchFamily="34" charset="-122"/>
                <a:cs typeface="Nunito Sans" pitchFamily="34" charset="-120"/>
              </a:rPr>
              <a:t> that rates situations.</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decision-maker still sees only tumour size, as in the clinic.</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During training only, the judge sees the full cell mix from the simulator.</a:t>
            </a:r>
            <a:endParaRPr lang="en-US" sz="1500" dirty="0"/>
          </a:p>
        </p:txBody>
      </p:sp>
      <p:sp>
        <p:nvSpPr>
          <p:cNvPr id="13" name="Text 11"/>
          <p:cNvSpPr/>
          <p:nvPr/>
        </p:nvSpPr>
        <p:spPr>
          <a:xfrm>
            <a:off x="4419600" y="3599185"/>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85"/>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After training the judge is dropped; the AI you would use sees size only.</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E11B · RESULTS (1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Every size-only AI now trains, and does better</a:t>
            </a:r>
            <a:endParaRPr lang="en-US" sz="2800" dirty="0"/>
          </a:p>
        </p:txBody>
      </p:sp>
      <p:sp>
        <p:nvSpPr>
          <p:cNvPr id="4" name="Shape 2"/>
          <p:cNvSpPr/>
          <p:nvPr/>
        </p:nvSpPr>
        <p:spPr>
          <a:xfrm>
            <a:off x="815975" y="1710060"/>
            <a:ext cx="10560050" cy="3388360"/>
          </a:xfrm>
          <a:prstGeom prst="roundRect">
            <a:avLst>
              <a:gd name="adj" fmla="val 2905"/>
            </a:avLst>
          </a:prstGeom>
          <a:solidFill>
            <a:srgbClr val="FFFFFF"/>
          </a:solidFill>
          <a:ln w="6350">
            <a:solidFill>
              <a:srgbClr val="E4E0D6"/>
            </a:solidFill>
            <a:prstDash val="solid"/>
          </a:ln>
        </p:spPr>
      </p:sp>
      <p:pic>
        <p:nvPicPr>
          <p:cNvPr id="5" name="Image 0" descr="Left: chance of treating against tumour size for size-only AIs trained with the better judge; all four goals switch sharply at about 1.15 to 1.16. Right: days to failure per goal for full information (about 1500 to 1750), size only (about 600 to 770) and size only with better judge (about 1780 to 1855)."/>
          <p:cNvPicPr>
            <a:picLocks noChangeAspect="1"/>
          </p:cNvPicPr>
          <p:nvPr/>
        </p:nvPicPr>
        <p:blipFill>
          <a:blip r:embed="rId3"/>
          <a:srcRect t="-41" b="-41"/>
          <a:stretch/>
        </p:blipFill>
        <p:spPr>
          <a:xfrm>
            <a:off x="919480" y="1813570"/>
            <a:ext cx="10353040" cy="3181350"/>
          </a:xfrm>
          <a:prstGeom prst="rect">
            <a:avLst/>
          </a:prstGeom>
        </p:spPr>
      </p:pic>
      <p:sp>
        <p:nvSpPr>
          <p:cNvPr id="6" name="Text 3"/>
          <p:cNvSpPr/>
          <p:nvPr/>
        </p:nvSpPr>
        <p:spPr>
          <a:xfrm>
            <a:off x="812800" y="52793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Left:</a:t>
            </a:r>
            <a:r>
              <a:rPr lang="en-US" sz="1300" dirty="0">
                <a:solidFill>
                  <a:srgbClr val="3F4A5C"/>
                </a:solidFill>
                <a:latin typeface="Nunito Sans" pitchFamily="34" charset="0"/>
                <a:ea typeface="Nunito Sans" pitchFamily="34" charset="-122"/>
                <a:cs typeface="Nunito Sans" pitchFamily="34" charset="-120"/>
              </a:rPr>
              <a:t> when each AI treats; every goal switches sharply at about 1.15 × start. </a:t>
            </a:r>
            <a:r>
              <a:rPr lang="en-US" sz="1300" b="1" dirty="0">
                <a:solidFill>
                  <a:srgbClr val="1D2B44"/>
                </a:solidFill>
                <a:latin typeface="Nunito Sans" pitchFamily="34" charset="0"/>
                <a:ea typeface="Nunito Sans" pitchFamily="34" charset="-122"/>
                <a:cs typeface="Nunito Sans" pitchFamily="34" charset="-120"/>
              </a:rPr>
              <a:t>Right:</a:t>
            </a:r>
            <a:r>
              <a:rPr lang="en-US" sz="1300" dirty="0">
                <a:solidFill>
                  <a:srgbClr val="3F4A5C"/>
                </a:solidFill>
                <a:latin typeface="Nunito Sans" pitchFamily="34" charset="0"/>
                <a:ea typeface="Nunito Sans" pitchFamily="34" charset="-122"/>
                <a:cs typeface="Nunito Sans" pitchFamily="34" charset="-120"/>
              </a:rPr>
              <a:t> days to failure for full information (“full”), size only (“burden”) and size only with the better judge (“+critic”).</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E11B · RESULTS (2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The four goals now end up almost the same</a:t>
            </a:r>
            <a:endParaRPr lang="en-US" sz="2800" dirty="0"/>
          </a:p>
        </p:txBody>
      </p:sp>
      <p:sp>
        <p:nvSpPr>
          <p:cNvPr id="4" name="Shape 2"/>
          <p:cNvSpPr/>
          <p:nvPr/>
        </p:nvSpPr>
        <p:spPr>
          <a:xfrm>
            <a:off x="815975" y="1710060"/>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for size-only AIs with the better judge; every AI row scores 0.80 to 0.92 on every goal. Right: days to failure per AI, tightly clustered: R1 about 1855, R2 1801, R3 1779, R4 1846."/>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every strategy on every goal (as in E4); AI rows now score 0.80–0.92 everywhere. Right = days per AI: R1 1855 · R2 1801 · R3 1779 · R4 1846.</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E11B · RESULTS (3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Strategies still differ, but only slightly</a:t>
            </a:r>
            <a:endParaRPr lang="en-US" sz="2800" dirty="0"/>
          </a:p>
        </p:txBody>
      </p:sp>
      <p:sp>
        <p:nvSpPr>
          <p:cNvPr id="4" name="Shape 2"/>
          <p:cNvSpPr/>
          <p:nvPr/>
        </p:nvSpPr>
        <p:spPr>
          <a:xfrm>
            <a:off x="815975" y="1710060"/>
            <a:ext cx="10560050" cy="3382010"/>
          </a:xfrm>
          <a:prstGeom prst="roundRect">
            <a:avLst>
              <a:gd name="adj" fmla="val 2910"/>
            </a:avLst>
          </a:prstGeom>
          <a:solidFill>
            <a:srgbClr val="FFFFFF"/>
          </a:solidFill>
          <a:ln w="6350">
            <a:solidFill>
              <a:srgbClr val="E4E0D6"/>
            </a:solidFill>
            <a:prstDash val="solid"/>
          </a:ln>
        </p:spPr>
      </p:sp>
      <p:pic>
        <p:nvPicPr>
          <p:cNvPr id="5" name="Image 0" descr="Left: all four goals learn one sharp threshold at 1.15 to 1.16. Middle and right: difference between every pair of size-only AIs; the colour scale tops out at about 0.2 disagreement, half the full-information level."/>
          <p:cNvPicPr>
            <a:picLocks noChangeAspect="1"/>
          </p:cNvPicPr>
          <p:nvPr/>
        </p:nvPicPr>
        <p:blipFill>
          <a:blip r:embed="rId3"/>
          <a:srcRect t="-45" b="-45"/>
          <a:stretch/>
        </p:blipFill>
        <p:spPr>
          <a:xfrm>
            <a:off x="919480" y="1813570"/>
            <a:ext cx="10353040" cy="3175000"/>
          </a:xfrm>
          <a:prstGeom prst="rect">
            <a:avLst/>
          </a:prstGeom>
        </p:spPr>
      </p:pic>
      <p:sp>
        <p:nvSpPr>
          <p:cNvPr id="6" name="Text 3"/>
          <p:cNvSpPr/>
          <p:nvPr/>
        </p:nvSpPr>
        <p:spPr>
          <a:xfrm>
            <a:off x="812800" y="527303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chance of treating vs size (thresholds 1.15–1.16 for all goals). Middle and right = differences between AIs; note the scale now tops out near 0.2, half of E5’s.</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E11B · WHAT WE FOUND</a:t>
            </a:r>
            <a:endParaRPr lang="en-US" sz="1300" dirty="0"/>
          </a:p>
        </p:txBody>
      </p:sp>
      <p:sp>
        <p:nvSpPr>
          <p:cNvPr id="3" name="Text 1"/>
          <p:cNvSpPr>
            <a:spLocks noGrp="1"/>
          </p:cNvSpPr>
          <p:nvPr>
            <p:ph type="title"/>
          </p:nvPr>
        </p:nvSpPr>
        <p:spPr>
          <a:xfrm>
            <a:off x="812800" y="1120130"/>
            <a:ext cx="10883392" cy="9601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Seeing less made the AI better, and the goals matter less</a:t>
            </a:r>
            <a:endParaRPr lang="en-US" sz="3200" dirty="0"/>
          </a:p>
        </p:txBody>
      </p:sp>
      <p:sp>
        <p:nvSpPr>
          <p:cNvPr id="4" name="Shape 2"/>
          <p:cNvSpPr/>
          <p:nvPr/>
        </p:nvSpPr>
        <p:spPr>
          <a:xfrm>
            <a:off x="812800" y="2334270"/>
            <a:ext cx="10566400" cy="660400"/>
          </a:xfrm>
          <a:prstGeom prst="roundRect">
            <a:avLst>
              <a:gd name="adj" fmla="val 15385"/>
            </a:avLst>
          </a:prstGeom>
          <a:solidFill>
            <a:srgbClr val="FFFFFF"/>
          </a:solidFill>
          <a:ln/>
        </p:spPr>
      </p:sp>
      <p:sp>
        <p:nvSpPr>
          <p:cNvPr id="5" name="Text 3"/>
          <p:cNvSpPr/>
          <p:nvPr/>
        </p:nvSpPr>
        <p:spPr>
          <a:xfrm>
            <a:off x="1016000" y="24866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5355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All 40 trained and beat the full-information AIs</a:t>
            </a:r>
            <a:r>
              <a:rPr lang="en-US" sz="1450" dirty="0">
                <a:solidFill>
                  <a:srgbClr val="3F4A5C"/>
                </a:solidFill>
                <a:latin typeface="Nunito Sans" pitchFamily="34" charset="0"/>
                <a:ea typeface="Nunito Sans" pitchFamily="34" charset="-122"/>
                <a:cs typeface="Nunito Sans" pitchFamily="34" charset="-120"/>
              </a:rPr>
              <a:t> on every goal (1779–1855 vs 1494–1751 days).</a:t>
            </a:r>
            <a:endParaRPr lang="en-US" sz="1450" dirty="0"/>
          </a:p>
        </p:txBody>
      </p:sp>
      <p:sp>
        <p:nvSpPr>
          <p:cNvPr id="7" name="Shape 5"/>
          <p:cNvSpPr/>
          <p:nvPr/>
        </p:nvSpPr>
        <p:spPr>
          <a:xfrm>
            <a:off x="812800" y="3121670"/>
            <a:ext cx="10566400" cy="660400"/>
          </a:xfrm>
          <a:prstGeom prst="roundRect">
            <a:avLst>
              <a:gd name="adj" fmla="val 15385"/>
            </a:avLst>
          </a:prstGeom>
          <a:solidFill>
            <a:srgbClr val="FFFFFF"/>
          </a:solidFill>
          <a:ln/>
        </p:spPr>
      </p:sp>
      <p:sp>
        <p:nvSpPr>
          <p:cNvPr id="8" name="Text 6"/>
          <p:cNvSpPr/>
          <p:nvPr/>
        </p:nvSpPr>
        <p:spPr>
          <a:xfrm>
            <a:off x="1016000" y="32740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33229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Each learned one simple rule:</a:t>
            </a:r>
            <a:r>
              <a:rPr lang="en-US" sz="1450" dirty="0">
                <a:solidFill>
                  <a:srgbClr val="3F4A5C"/>
                </a:solidFill>
                <a:latin typeface="Nunito Sans" pitchFamily="34" charset="0"/>
                <a:ea typeface="Nunito Sans" pitchFamily="34" charset="-122"/>
                <a:cs typeface="Nunito Sans" pitchFamily="34" charset="-120"/>
              </a:rPr>
              <a:t> treat when size passes about 1.15 × start.</a:t>
            </a:r>
            <a:endParaRPr lang="en-US" sz="1450" dirty="0"/>
          </a:p>
        </p:txBody>
      </p:sp>
      <p:sp>
        <p:nvSpPr>
          <p:cNvPr id="10" name="Shape 8"/>
          <p:cNvSpPr/>
          <p:nvPr/>
        </p:nvSpPr>
        <p:spPr>
          <a:xfrm>
            <a:off x="812800" y="3909070"/>
            <a:ext cx="10566400" cy="660400"/>
          </a:xfrm>
          <a:prstGeom prst="roundRect">
            <a:avLst>
              <a:gd name="adj" fmla="val 15385"/>
            </a:avLst>
          </a:prstGeom>
          <a:solidFill>
            <a:srgbClr val="FFFFFF"/>
          </a:solidFill>
          <a:ln/>
        </p:spPr>
      </p:sp>
      <p:sp>
        <p:nvSpPr>
          <p:cNvPr id="11" name="Text 9"/>
          <p:cNvSpPr/>
          <p:nvPr/>
        </p:nvSpPr>
        <p:spPr>
          <a:xfrm>
            <a:off x="1016000" y="40614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4110360"/>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goals nearly merge:</a:t>
            </a:r>
            <a:r>
              <a:rPr lang="en-US" sz="1450" dirty="0">
                <a:solidFill>
                  <a:srgbClr val="3F4A5C"/>
                </a:solidFill>
                <a:latin typeface="Nunito Sans" pitchFamily="34" charset="0"/>
                <a:ea typeface="Nunito Sans" pitchFamily="34" charset="-122"/>
                <a:cs typeface="Nunito Sans" pitchFamily="34" charset="-120"/>
              </a:rPr>
              <a:t> R1–R3 gap 250 → 76 days; wrong-goal cost 18% → 3.5%.</a:t>
            </a:r>
            <a:endParaRPr lang="en-US" sz="1450" dirty="0"/>
          </a:p>
        </p:txBody>
      </p:sp>
      <p:sp>
        <p:nvSpPr>
          <p:cNvPr id="13" name="Shape 11"/>
          <p:cNvSpPr/>
          <p:nvPr/>
        </p:nvSpPr>
        <p:spPr>
          <a:xfrm>
            <a:off x="812800" y="4696470"/>
            <a:ext cx="10566400" cy="660400"/>
          </a:xfrm>
          <a:prstGeom prst="roundRect">
            <a:avLst>
              <a:gd name="adj" fmla="val 15385"/>
            </a:avLst>
          </a:prstGeom>
          <a:solidFill>
            <a:srgbClr val="FFFFFF"/>
          </a:solidFill>
          <a:ln/>
        </p:spPr>
      </p:sp>
      <p:sp>
        <p:nvSpPr>
          <p:cNvPr id="14" name="Text 12"/>
          <p:cNvSpPr/>
          <p:nvPr/>
        </p:nvSpPr>
        <p:spPr>
          <a:xfrm>
            <a:off x="1016000" y="484887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89773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Why:</a:t>
            </a:r>
            <a:r>
              <a:rPr lang="en-US" sz="1450" dirty="0">
                <a:solidFill>
                  <a:srgbClr val="3F4A5C"/>
                </a:solidFill>
                <a:latin typeface="Nunito Sans" pitchFamily="34" charset="0"/>
                <a:ea typeface="Nunito Sans" pitchFamily="34" charset="-122"/>
                <a:cs typeface="Nunito Sans" pitchFamily="34" charset="-120"/>
              </a:rPr>
              <a:t> R3 can’t chase a cell mix it cannot see. The big goal effect needed information doctors don’t have.</a:t>
            </a:r>
            <a:endParaRPr lang="en-US" sz="14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E11C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Does a memory of past check-ups help?</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With two months of history, can the AI work out the hidden cell mix?</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AI sees the last 8 weekly sizes and the last 8 doses, like a patient chart.</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better judge from E11b is kept (full mix, training only).</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idea: how fast the tumour shrinks on drug hints at how many cells are still sensitive.</a:t>
            </a:r>
            <a:endParaRPr lang="en-US" sz="1500" dirty="0"/>
          </a:p>
        </p:txBody>
      </p:sp>
      <p:sp>
        <p:nvSpPr>
          <p:cNvPr id="13" name="Text 11"/>
          <p:cNvSpPr/>
          <p:nvPr/>
        </p:nvSpPr>
        <p:spPr>
          <a:xfrm>
            <a:off x="4419600" y="35991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6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also measured drug use in the first 26 weeks: R3’s “treat early” signature.</a:t>
            </a:r>
            <a:endParaRPr lang="en-US"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E11C · RESULTS (1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Memory brings back some differences</a:t>
            </a:r>
            <a:endParaRPr lang="en-US" sz="2800" dirty="0"/>
          </a:p>
        </p:txBody>
      </p:sp>
      <p:sp>
        <p:nvSpPr>
          <p:cNvPr id="4" name="Shape 2"/>
          <p:cNvSpPr/>
          <p:nvPr/>
        </p:nvSpPr>
        <p:spPr>
          <a:xfrm>
            <a:off x="815975" y="1710035"/>
            <a:ext cx="10560050" cy="3407410"/>
          </a:xfrm>
          <a:prstGeom prst="roundRect">
            <a:avLst>
              <a:gd name="adj" fmla="val 2889"/>
            </a:avLst>
          </a:prstGeom>
          <a:solidFill>
            <a:srgbClr val="FFFFFF"/>
          </a:solidFill>
          <a:ln w="6350">
            <a:solidFill>
              <a:srgbClr val="E4E0D6"/>
            </a:solidFill>
            <a:prstDash val="solid"/>
          </a:ln>
        </p:spPr>
      </p:sp>
      <p:pic>
        <p:nvPicPr>
          <p:cNvPr id="5" name="Image 0" descr="Left: days to failure per goal for four settings: full, size only, size plus better judge, and size history plus better judge. Memory AIs: R1 about 1726, R2 about 1473, R3 about 1506, R4 about 1731, with wide spread. Right: share of the first 26 weeks on drug; full-information R3 is 0.62, every other setting about 0.54 to 0.58."/>
          <p:cNvPicPr>
            <a:picLocks noChangeAspect="1"/>
          </p:cNvPicPr>
          <p:nvPr/>
        </p:nvPicPr>
        <p:blipFill>
          <a:blip r:embed="rId3"/>
          <a:srcRect t="-32" b="-32"/>
          <a:stretch/>
        </p:blipFill>
        <p:spPr>
          <a:xfrm>
            <a:off x="919480" y="1813570"/>
            <a:ext cx="10353040" cy="3200400"/>
          </a:xfrm>
          <a:prstGeom prst="rect">
            <a:avLst/>
          </a:prstGeom>
        </p:spPr>
      </p:pic>
      <p:sp>
        <p:nvSpPr>
          <p:cNvPr id="6" name="Text 3"/>
          <p:cNvSpPr/>
          <p:nvPr/>
        </p:nvSpPr>
        <p:spPr>
          <a:xfrm>
            <a:off x="812800" y="529843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Left:</a:t>
            </a:r>
            <a:r>
              <a:rPr lang="en-US" sz="1300" dirty="0">
                <a:solidFill>
                  <a:srgbClr val="3F4A5C"/>
                </a:solidFill>
                <a:latin typeface="Nunito Sans" pitchFamily="34" charset="0"/>
                <a:ea typeface="Nunito Sans" pitchFamily="34" charset="-122"/>
                <a:cs typeface="Nunito Sans" pitchFamily="34" charset="-120"/>
              </a:rPr>
              <a:t> days per goal in four settings: full information, size only (“burden”), size + better judge (“+critic”), size history + better judge (“+memory”). </a:t>
            </a:r>
            <a:r>
              <a:rPr lang="en-US" sz="1300" b="1" dirty="0">
                <a:solidFill>
                  <a:srgbClr val="1D2B44"/>
                </a:solidFill>
                <a:latin typeface="Nunito Sans" pitchFamily="34" charset="0"/>
                <a:ea typeface="Nunito Sans" pitchFamily="34" charset="-122"/>
                <a:cs typeface="Nunito Sans" pitchFamily="34" charset="-120"/>
              </a:rPr>
              <a:t>Right:</a:t>
            </a:r>
            <a:r>
              <a:rPr lang="en-US" sz="1300" dirty="0">
                <a:solidFill>
                  <a:srgbClr val="3F4A5C"/>
                </a:solidFill>
                <a:latin typeface="Nunito Sans" pitchFamily="34" charset="0"/>
                <a:ea typeface="Nunito Sans" pitchFamily="34" charset="-122"/>
                <a:cs typeface="Nunito Sans" pitchFamily="34" charset="-120"/>
              </a:rPr>
              <a:t> share of the first 26 weeks on drug.</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E11C · RESULTS (2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Scoring every memory AI on every goal</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for memory AIs on every goal, own-goal scores 0.71 to 0.86. Right: days to failure per memory AI: R1 about 1726, R2 about 1473, R3 about 1506, R4 about 1731, with hollow dots for AIs that did not train."/>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every strategy on every goal (as in E4). Right = days per AI; hollow dots did not train. Middles: R1 1726 · R2 1473 · R3 1506 · R4 1731.</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E11C · RESULTS (3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Memory AIs disagree much more among themselves</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Difference matrices between every pair of memory AIs. Even the diagonal blocks, copies of the same goal, are fairly dark, showing high disagreement between copies."/>
          <p:cNvPicPr>
            <a:picLocks noChangeAspect="1"/>
          </p:cNvPicPr>
          <p:nvPr/>
        </p:nvPicPr>
        <p:blipFill>
          <a:blip r:embed="rId3"/>
          <a:srcRect t="-12" b="-12"/>
          <a:stretch/>
        </p:blipFill>
        <p:spPr>
          <a:xfrm>
            <a:off x="2012950" y="1813570"/>
            <a:ext cx="81661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darker = more different. Even copies of the same goal (diagonal blocks) now disagree a lot, about 4× more than in E11b. Four of six goal pairs still differ beyond that.</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E11C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Memory makes learning harder and noisier</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Harder to learn:</a:t>
            </a:r>
            <a:r>
              <a:rPr lang="en-US" sz="1450" dirty="0">
                <a:solidFill>
                  <a:srgbClr val="3F4A5C"/>
                </a:solidFill>
                <a:latin typeface="Nunito Sans" pitchFamily="34" charset="0"/>
                <a:ea typeface="Nunito Sans" pitchFamily="34" charset="-122"/>
                <a:cs typeface="Nunito Sans" pitchFamily="34" charset="-120"/>
              </a:rPr>
              <a:t> scores 0.71–0.86, and 4 of 10 R3 AIs fail.</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R1–R3 gap returns to 220 days,</a:t>
            </a:r>
            <a:r>
              <a:rPr lang="en-US" sz="1450" dirty="0">
                <a:solidFill>
                  <a:srgbClr val="3F4A5C"/>
                </a:solidFill>
                <a:latin typeface="Nunito Sans" pitchFamily="34" charset="0"/>
                <a:ea typeface="Nunito Sans" pitchFamily="34" charset="-122"/>
                <a:cs typeface="Nunito Sans" pitchFamily="34" charset="-120"/>
              </a:rPr>
              <a:t> but R3’s “treat early” habit does not.</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R2 becomes the odd one:</a:t>
            </a:r>
            <a:r>
              <a:rPr lang="en-US" sz="1450" dirty="0">
                <a:solidFill>
                  <a:srgbClr val="3F4A5C"/>
                </a:solidFill>
                <a:latin typeface="Nunito Sans" pitchFamily="34" charset="0"/>
                <a:ea typeface="Nunito Sans" pitchFamily="34" charset="-122"/>
                <a:cs typeface="Nunito Sans" pitchFamily="34" charset="-120"/>
              </a:rPr>
              <a:t> 20% less drug, 15% shorter survival, yet R1-trained AIs score higher on R2’s own goal.</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Copies disagree about 4× more</a:t>
            </a:r>
            <a:r>
              <a:rPr lang="en-US" sz="1450" dirty="0">
                <a:solidFill>
                  <a:srgbClr val="3F4A5C"/>
                </a:solidFill>
                <a:latin typeface="Nunito Sans" pitchFamily="34" charset="0"/>
                <a:ea typeface="Nunito Sans" pitchFamily="34" charset="-122"/>
                <a:cs typeface="Nunito Sans" pitchFamily="34" charset="-120"/>
              </a:rPr>
              <a:t> than without memory.</a:t>
            </a:r>
            <a:endParaRPr lang="en-US" sz="14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E11D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Was it just too little training?</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Would 3× more practice fix the memory AIs, and change the goal story?</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Exactly the E11c setup: size history plus the better judge.</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3 million practice steps instead of 1 million, 10 AIs per goal.</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kept the 1-million AIs, so the only difference is training length.</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repeated cross-scoring and the strategy comparison.</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E11D · RESULTS (1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More practice helps R1 and R4 the most</a:t>
            </a:r>
            <a:endParaRPr lang="en-US" sz="2800" dirty="0"/>
          </a:p>
        </p:txBody>
      </p:sp>
      <p:sp>
        <p:nvSpPr>
          <p:cNvPr id="4" name="Shape 2"/>
          <p:cNvSpPr/>
          <p:nvPr/>
        </p:nvSpPr>
        <p:spPr>
          <a:xfrm>
            <a:off x="815975" y="1710035"/>
            <a:ext cx="10560050" cy="3483610"/>
          </a:xfrm>
          <a:prstGeom prst="roundRect">
            <a:avLst>
              <a:gd name="adj" fmla="val 2825"/>
            </a:avLst>
          </a:prstGeom>
          <a:solidFill>
            <a:srgbClr val="FFFFFF"/>
          </a:solidFill>
          <a:ln w="6350">
            <a:solidFill>
              <a:srgbClr val="E4E0D6"/>
            </a:solidFill>
            <a:prstDash val="solid"/>
          </a:ln>
        </p:spPr>
      </p:sp>
      <p:pic>
        <p:nvPicPr>
          <p:cNvPr id="5" name="Image 0" descr="Left: survival during practice over 3 million steps; R1 and R4 reach about 1775 days, R3 about 1600, R2 about 1500. Right: days per AI at 1 million versus 3 million steps; all goals improve, R1 to about 1845 and R4 to about 1868, R2 to 1560 and R3 to 1610 with wide spread."/>
          <p:cNvPicPr>
            <a:picLocks noChangeAspect="1"/>
          </p:cNvPicPr>
          <p:nvPr/>
        </p:nvPicPr>
        <p:blipFill>
          <a:blip r:embed="rId3"/>
          <a:srcRect/>
          <a:stretch/>
        </p:blipFill>
        <p:spPr>
          <a:xfrm>
            <a:off x="919480" y="1813570"/>
            <a:ext cx="10353040" cy="3276600"/>
          </a:xfrm>
          <a:prstGeom prst="rect">
            <a:avLst/>
          </a:prstGeom>
        </p:spPr>
      </p:pic>
      <p:sp>
        <p:nvSpPr>
          <p:cNvPr id="6" name="Text 3"/>
          <p:cNvSpPr/>
          <p:nvPr/>
        </p:nvSpPr>
        <p:spPr>
          <a:xfrm>
            <a:off x="812800" y="537463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Left:</a:t>
            </a:r>
            <a:r>
              <a:rPr lang="en-US" sz="1300" dirty="0">
                <a:solidFill>
                  <a:srgbClr val="3F4A5C"/>
                </a:solidFill>
                <a:latin typeface="Nunito Sans" pitchFamily="34" charset="0"/>
                <a:ea typeface="Nunito Sans" pitchFamily="34" charset="-122"/>
                <a:cs typeface="Nunito Sans" pitchFamily="34" charset="-120"/>
              </a:rPr>
              <a:t> survival during practice (dashed = 1M steps, solid = 3M). </a:t>
            </a:r>
            <a:r>
              <a:rPr lang="en-US" sz="1300" b="1" dirty="0">
                <a:solidFill>
                  <a:srgbClr val="1D2B44"/>
                </a:solidFill>
                <a:latin typeface="Nunito Sans" pitchFamily="34" charset="0"/>
                <a:ea typeface="Nunito Sans" pitchFamily="34" charset="-122"/>
                <a:cs typeface="Nunito Sans" pitchFamily="34" charset="-120"/>
              </a:rPr>
              <a:t>Right:</a:t>
            </a:r>
            <a:r>
              <a:rPr lang="en-US" sz="1300" dirty="0">
                <a:solidFill>
                  <a:srgbClr val="3F4A5C"/>
                </a:solidFill>
                <a:latin typeface="Nunito Sans" pitchFamily="34" charset="0"/>
                <a:ea typeface="Nunito Sans" pitchFamily="34" charset="-122"/>
                <a:cs typeface="Nunito Sans" pitchFamily="34" charset="-120"/>
              </a:rPr>
              <a:t> days per AI at 1M vs 3M. Middles at 3M: R1 1845 · R2 1560 · R3 1610 · R4 1868.</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E11D · RESULTS (2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Scoring the longer-trained memory AIs</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for memory AIs after 3 million steps, own-goal scores 0.80 to 0.92. Right: days to failure per AI; R1 and R4 tightly clustered near 1850, R2 and R3 lower and spread out."/>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every strategy on every goal; AI rows now reach 0.80–0.92 on their own goal. Right = days per AI; hollow dots did not train (now only 2 of 10 for R3).</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E11D · RESULTS (3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Copies still disagree as much as before</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Difference matrices between every pair of memory AIs after 3 million steps; the diagonal blocks remain about as dark as at 1 million steps."/>
          <p:cNvPicPr>
            <a:picLocks noChangeAspect="1"/>
          </p:cNvPicPr>
          <p:nvPr/>
        </p:nvPicPr>
        <p:blipFill>
          <a:blip r:embed="rId3"/>
          <a:srcRect t="-12" b="-12"/>
          <a:stretch/>
        </p:blipFill>
        <p:spPr>
          <a:xfrm>
            <a:off x="2012950" y="1813570"/>
            <a:ext cx="81661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darker = more different. The diagonal blocks (copies of one goal) look as dark as at 1M steps. Four of six goal pairs still differ beyond that.</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E11D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More practice raises scores, not the goal story</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Scores rise to 0.80–0.92,</a:t>
            </a:r>
            <a:r>
              <a:rPr lang="en-US" sz="1450" dirty="0">
                <a:solidFill>
                  <a:srgbClr val="3F4A5C"/>
                </a:solidFill>
                <a:latin typeface="Nunito Sans" pitchFamily="34" charset="0"/>
                <a:ea typeface="Nunito Sans" pitchFamily="34" charset="-122"/>
                <a:cs typeface="Nunito Sans" pitchFamily="34" charset="-120"/>
              </a:rPr>
              <a:t> and 8 of 10 R3 AIs now train.</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goal effect stays:</a:t>
            </a:r>
            <a:r>
              <a:rPr lang="en-US" sz="1450" dirty="0">
                <a:solidFill>
                  <a:srgbClr val="3F4A5C"/>
                </a:solidFill>
                <a:latin typeface="Nunito Sans" pitchFamily="34" charset="0"/>
                <a:ea typeface="Nunito Sans" pitchFamily="34" charset="-122"/>
                <a:cs typeface="Nunito Sans" pitchFamily="34" charset="-120"/>
              </a:rPr>
              <a:t> R1–R3 gap 235 days, wrong-goal cost up to 13%.</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R2 and R3 AIs are no better at their own goals</a:t>
            </a:r>
            <a:r>
              <a:rPr lang="en-US" sz="1450" dirty="0">
                <a:solidFill>
                  <a:srgbClr val="3F4A5C"/>
                </a:solidFill>
                <a:latin typeface="Nunito Sans" pitchFamily="34" charset="0"/>
                <a:ea typeface="Nunito Sans" pitchFamily="34" charset="-122"/>
                <a:cs typeface="Nunito Sans" pitchFamily="34" charset="-120"/>
              </a:rPr>
              <a:t> than survival-trained AIs: a learning dead end, not a smarter plan.</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Copy-to-copy noise is unchanged:</a:t>
            </a:r>
            <a:r>
              <a:rPr lang="en-US" sz="1450" dirty="0">
                <a:solidFill>
                  <a:srgbClr val="3F4A5C"/>
                </a:solidFill>
                <a:latin typeface="Nunito Sans" pitchFamily="34" charset="0"/>
                <a:ea typeface="Nunito Sans" pitchFamily="34" charset="-122"/>
                <a:cs typeface="Nunito Sans" pitchFamily="34" charset="-120"/>
              </a:rPr>
              <a:t> it comes from memory itself, not too little training.</a:t>
            </a:r>
            <a:endParaRPr lang="en-US" sz="14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D2B44"/>
        </a:solidFill>
        <a:effectLst/>
      </p:bgPr>
    </p:bg>
    <p:spTree>
      <p:nvGrpSpPr>
        <p:cNvPr id="1" name=""/>
        <p:cNvGrpSpPr/>
        <p:nvPr/>
      </p:nvGrpSpPr>
      <p:grpSpPr>
        <a:xfrm>
          <a:off x="0" y="0"/>
          <a:ext cx="0" cy="0"/>
          <a:chOff x="0" y="0"/>
          <a:chExt cx="0" cy="0"/>
        </a:xfrm>
      </p:grpSpPr>
      <p:sp>
        <p:nvSpPr>
          <p:cNvPr id="2" name="Text 0"/>
          <p:cNvSpPr/>
          <p:nvPr/>
        </p:nvSpPr>
        <p:spPr>
          <a:xfrm>
            <a:off x="812800" y="244445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48F"/>
                </a:solidFill>
                <a:latin typeface="Nunito Sans" pitchFamily="34" charset="0"/>
                <a:ea typeface="Nunito Sans" pitchFamily="34" charset="-122"/>
                <a:cs typeface="Nunito Sans" pitchFamily="34" charset="-120"/>
              </a:rPr>
              <a:t>PART 5 · 14 FOLLOW-UP EXPERIMENTS</a:t>
            </a:r>
            <a:endParaRPr lang="en-US" sz="1400" dirty="0"/>
          </a:p>
        </p:txBody>
      </p:sp>
      <p:sp>
        <p:nvSpPr>
          <p:cNvPr id="3" name="Text 1"/>
          <p:cNvSpPr>
            <a:spLocks noGrp="1"/>
          </p:cNvSpPr>
          <p:nvPr>
            <p:ph type="title"/>
          </p:nvPr>
        </p:nvSpPr>
        <p:spPr>
          <a:xfrm>
            <a:off x="812800" y="2921943"/>
            <a:ext cx="10883392" cy="683789"/>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4F1EA"/>
                </a:solidFill>
                <a:latin typeface="Rubik" pitchFamily="34" charset="0"/>
                <a:ea typeface="Rubik" pitchFamily="34" charset="-122"/>
                <a:cs typeface="Rubik" pitchFamily="34" charset="-120"/>
              </a:rPr>
              <a:t>The follow-up round</a:t>
            </a:r>
            <a:endParaRPr lang="en-US" sz="4800" dirty="0"/>
          </a:p>
        </p:txBody>
      </p:sp>
      <p:sp>
        <p:nvSpPr>
          <p:cNvPr id="4" name="Text 2"/>
          <p:cNvSpPr/>
          <p:nvPr/>
        </p:nvSpPr>
        <p:spPr>
          <a:xfrm>
            <a:off x="812800" y="3808958"/>
            <a:ext cx="10883392"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5CEDC"/>
                </a:solidFill>
                <a:latin typeface="Nunito Sans" pitchFamily="34" charset="0"/>
                <a:ea typeface="Nunito Sans" pitchFamily="34" charset="-122"/>
                <a:cs typeface="Nunito Sans" pitchFamily="34" charset="-120"/>
              </a:rPr>
              <a:t>Fairness checks (A), extra analyses (B), a map of patients (C), more dose levels (D) and new biology (FE). 270 more AIs.</a:t>
            </a:r>
            <a:endParaRPr lang="en-US" sz="17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A1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Does it hold when cells also die naturally?</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Both reference patients so far had no natural cell death. Does adding it change anything?</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Same patient, but cells die naturally at 4% of their growth rate (turnover 0.04).</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That is the highest value in our patient range, so it has the most chance to change things.</a:t>
            </a:r>
            <a:endParaRPr lang="en-US" sz="1500" dirty="0"/>
          </a:p>
        </p:txBody>
      </p:sp>
      <p:sp>
        <p:nvSpPr>
          <p:cNvPr id="11" name="Text 9"/>
          <p:cNvSpPr/>
          <p:nvPr/>
        </p:nvSpPr>
        <p:spPr>
          <a:xfrm>
            <a:off x="4419600" y="33147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3147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 full repeat of E2 to E5: best plans, 40 AIs, cross-scoring, strategy comparison.</a:t>
            </a:r>
            <a:endParaRPr lang="en-US" sz="1500" dirty="0"/>
          </a:p>
        </p:txBody>
      </p:sp>
      <p:sp>
        <p:nvSpPr>
          <p:cNvPr id="13" name="Text 11"/>
          <p:cNvSpPr/>
          <p:nvPr/>
        </p:nvSpPr>
        <p:spPr>
          <a:xfrm>
            <a:off x="4419600" y="40259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40259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Same settings and the same 0.7 bar as every other experiment.</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A1 · RESULTS (1 OF 2)</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The same shape of results again</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on the turnover patient; the R3-trained row scores 0.59 to 0.70 on other goals, the others 0.74 to 0.83. Right: days per AI; R1, R2 and R4 around 2700, R3 around 2280 with three hollow dots."/>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every strategy on every goal; right = days per AI, hollow dots did not train. Middles: R1 2685 · R2 2757 · R3 2277 · R4 2713. Best plan 3389.</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A1 · RESULTS (2 OF 2)</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R3 differs; R1 and R4 cannot be told apart</a:t>
            </a:r>
            <a:endParaRPr lang="en-US" sz="2800" dirty="0"/>
          </a:p>
        </p:txBody>
      </p:sp>
      <p:sp>
        <p:nvSpPr>
          <p:cNvPr id="4" name="Shape 2"/>
          <p:cNvSpPr/>
          <p:nvPr/>
        </p:nvSpPr>
        <p:spPr>
          <a:xfrm>
            <a:off x="815975" y="1710035"/>
            <a:ext cx="10560050" cy="3401060"/>
          </a:xfrm>
          <a:prstGeom prst="roundRect">
            <a:avLst>
              <a:gd name="adj" fmla="val 2894"/>
            </a:avLst>
          </a:prstGeom>
          <a:solidFill>
            <a:srgbClr val="FFFFFF"/>
          </a:solidFill>
          <a:ln w="6350">
            <a:solidFill>
              <a:srgbClr val="E4E0D6"/>
            </a:solidFill>
            <a:prstDash val="solid"/>
          </a:ln>
        </p:spPr>
      </p:sp>
      <p:pic>
        <p:nvPicPr>
          <p:cNvPr id="5" name="Image 0" descr="Left: chance of treating against tumour size per AI on the turnover patient. Middle and right: difference between every pair of AIs; R3 rows and columns are darkest, R1 and R4 look like copies of each other."/>
          <p:cNvPicPr>
            <a:picLocks noChangeAspect="1"/>
          </p:cNvPicPr>
          <p:nvPr/>
        </p:nvPicPr>
        <p:blipFill>
          <a:blip r:embed="rId3"/>
          <a:srcRect t="-35" b="-35"/>
          <a:stretch/>
        </p:blipFill>
        <p:spPr>
          <a:xfrm>
            <a:off x="919480" y="1813570"/>
            <a:ext cx="10353040" cy="3194050"/>
          </a:xfrm>
          <a:prstGeom prst="rect">
            <a:avLst/>
          </a:prstGeom>
        </p:spPr>
      </p:pic>
      <p:sp>
        <p:nvSpPr>
          <p:cNvPr id="6" name="Text 3"/>
          <p:cNvSpPr/>
          <p:nvPr/>
        </p:nvSpPr>
        <p:spPr>
          <a:xfrm>
            <a:off x="812800" y="5292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when each AI treats (thresholds R1 1.16, R2 1.16, R3 1.14, R4 1.16). Middle and right = differences between AIs; darker = more different, diagonal blocks = luck level.</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A1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A third kind of patient, the same answer</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R2 and R4 share one best plan</a:t>
            </a:r>
            <a:r>
              <a:rPr lang="en-US" sz="1450" dirty="0">
                <a:solidFill>
                  <a:srgbClr val="3F4A5C"/>
                </a:solidFill>
                <a:latin typeface="Nunito Sans" pitchFamily="34" charset="0"/>
                <a:ea typeface="Nunito Sans" pitchFamily="34" charset="-122"/>
                <a:cs typeface="Nunito Sans" pitchFamily="34" charset="-120"/>
              </a:rPr>
              <a:t> (3389 days); R3’s is 21% shorter.</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costs up to 17%</a:t>
            </a:r>
            <a:r>
              <a:rPr lang="en-US" sz="1450" dirty="0">
                <a:solidFill>
                  <a:srgbClr val="3F4A5C"/>
                </a:solidFill>
                <a:latin typeface="Nunito Sans" pitchFamily="34" charset="0"/>
                <a:ea typeface="Nunito Sans" pitchFamily="34" charset="-122"/>
                <a:cs typeface="Nunito Sans" pitchFamily="34" charset="-120"/>
              </a:rPr>
              <a:t> on the other goals; R1, R2 and R4 cost each other at most 2.5%.</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and R4 are again the same;</a:t>
            </a:r>
            <a:r>
              <a:rPr lang="en-US" sz="1450" dirty="0">
                <a:solidFill>
                  <a:srgbClr val="3F4A5C"/>
                </a:solidFill>
                <a:latin typeface="Nunito Sans" pitchFamily="34" charset="0"/>
                <a:ea typeface="Nunito Sans" pitchFamily="34" charset="-122"/>
                <a:cs typeface="Nunito Sans" pitchFamily="34" charset="-120"/>
              </a:rPr>
              <a:t> 5 of 6 pairs of goals differ.</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7 of 10 R3 AIs trained,</a:t>
            </a:r>
            <a:r>
              <a:rPr lang="en-US" sz="1450" dirty="0">
                <a:solidFill>
                  <a:srgbClr val="3F4A5C"/>
                </a:solidFill>
                <a:latin typeface="Nunito Sans" pitchFamily="34" charset="0"/>
                <a:ea typeface="Nunito Sans" pitchFamily="34" charset="-122"/>
                <a:cs typeface="Nunito Sans" pitchFamily="34" charset="-120"/>
              </a:rPr>
              <a:t> as we predicted: longer patients make R3 harder to learn.</a:t>
            </a:r>
            <a:endParaRPr lang="en-US" sz="14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A2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A fair race: the same training for everyone</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Only the memory AIs got 3× training. Was the comparison in Part 4 unfair?</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retrained the full-information AIs (E3) and the size + better judge AIs (E11b) with 3 million steps.</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All 4 goals × 10 AIs each, settings unchanged.</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Now all three ways of seeing can be compared at equal training.</a:t>
            </a:r>
            <a:endParaRPr lang="en-US" sz="1500" dirty="0"/>
          </a:p>
        </p:txBody>
      </p:sp>
      <p:sp>
        <p:nvSpPr>
          <p:cNvPr id="13" name="Text 11"/>
          <p:cNvSpPr/>
          <p:nvPr/>
        </p:nvSpPr>
        <p:spPr>
          <a:xfrm>
            <a:off x="4419600" y="35991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60"/>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1-million AIs are kept, so we can also see what extra practice changes.</a:t>
            </a:r>
            <a:endParaRPr lang="en-US" sz="15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A2 · RESULTS (1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Both settings keep improving with practice</a:t>
            </a:r>
            <a:endParaRPr lang="en-US" sz="2800" dirty="0"/>
          </a:p>
        </p:txBody>
      </p:sp>
      <p:sp>
        <p:nvSpPr>
          <p:cNvPr id="4" name="Shape 2"/>
          <p:cNvSpPr/>
          <p:nvPr/>
        </p:nvSpPr>
        <p:spPr>
          <a:xfrm>
            <a:off x="815975" y="1710035"/>
            <a:ext cx="10560050" cy="3369310"/>
          </a:xfrm>
          <a:prstGeom prst="roundRect">
            <a:avLst>
              <a:gd name="adj" fmla="val 2921"/>
            </a:avLst>
          </a:prstGeom>
          <a:solidFill>
            <a:srgbClr val="FFFFFF"/>
          </a:solidFill>
          <a:ln w="6350">
            <a:solidFill>
              <a:srgbClr val="E4E0D6"/>
            </a:solidFill>
            <a:prstDash val="solid"/>
          </a:ln>
        </p:spPr>
      </p:sp>
      <p:pic>
        <p:nvPicPr>
          <p:cNvPr id="5" name="Image 0" descr="Survival during practice over 3 million steps. Left, full information: R1 and R4 reach about 1800 days, R2 about 1740, R3 about 1640. Right, size only with the better judge: all four goals reach about 1860 to 1890 days, close together."/>
          <p:cNvPicPr>
            <a:picLocks noChangeAspect="1"/>
          </p:cNvPicPr>
          <p:nvPr/>
        </p:nvPicPr>
        <p:blipFill>
          <a:blip r:embed="rId3"/>
          <a:srcRect t="-49" b="-49"/>
          <a:stretch/>
        </p:blipFill>
        <p:spPr>
          <a:xfrm>
            <a:off x="919480" y="1813570"/>
            <a:ext cx="10353040" cy="3162300"/>
          </a:xfrm>
          <a:prstGeom prst="rect">
            <a:avLst/>
          </a:prstGeom>
        </p:spPr>
      </p:pic>
      <p:sp>
        <p:nvSpPr>
          <p:cNvPr id="6" name="Text 3"/>
          <p:cNvSpPr/>
          <p:nvPr/>
        </p:nvSpPr>
        <p:spPr>
          <a:xfrm>
            <a:off x="812800" y="526033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survival during practice; dashed = first 1M steps, solid = the 3M run. Left = full information, right = size only + better judge. Grey line = best plan (2038 days).</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A2 · RESULTS (2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Full information, 3M steps: R3 still costs most</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for full-information AIs after 3 million steps; the R3 row remains the weakest. Right: days per AI; R1, R2 and R4 near 1890 to 1900, R3 near 1680."/>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every strategy on every goal; right = days per AI. Middles: R1 1893 · R2 1904 · R3 1678 · R4 1892. Own-goal scores 0.81–0.94.</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A2 · RESULTS (3 OF 3)</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Size + better judge, 3M: goals almost identical</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for size-only AIs with the better judge after 3 million steps; all AI rows score high on every goal. Right: days per AI, all four goals clustered near 1930 to 1975 days."/>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as before. Middles: R1 1973 · R2 1974 · R3 1927 · R4 1962 days, the best AIs in the whole project, within 4% of the full-information best plan.</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A2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In a fair race, size + better judge wins</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Clear order at equal training:</a:t>
            </a:r>
            <a:r>
              <a:rPr lang="en-US" sz="1450" dirty="0">
                <a:solidFill>
                  <a:srgbClr val="3F4A5C"/>
                </a:solidFill>
                <a:latin typeface="Nunito Sans" pitchFamily="34" charset="0"/>
                <a:ea typeface="Nunito Sans" pitchFamily="34" charset="-122"/>
                <a:cs typeface="Nunito Sans" pitchFamily="34" charset="-120"/>
              </a:rPr>
              <a:t> size + judge 0.97 &gt; full information 0.94 &gt; memory 0.92 of the best plan.</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With full information</a:t>
            </a:r>
            <a:r>
              <a:rPr lang="en-US" sz="1450" dirty="0">
                <a:solidFill>
                  <a:srgbClr val="3F4A5C"/>
                </a:solidFill>
                <a:latin typeface="Nunito Sans" pitchFamily="34" charset="0"/>
                <a:ea typeface="Nunito Sans" pitchFamily="34" charset="-122"/>
                <a:cs typeface="Nunito Sans" pitchFamily="34" charset="-120"/>
              </a:rPr>
              <a:t> the goals drift further apart; R3 still costs about 15%.</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With size + judge</a:t>
            </a:r>
            <a:r>
              <a:rPr lang="en-US" sz="1450" dirty="0">
                <a:solidFill>
                  <a:srgbClr val="3F4A5C"/>
                </a:solidFill>
                <a:latin typeface="Nunito Sans" pitchFamily="34" charset="0"/>
                <a:ea typeface="Nunito Sans" pitchFamily="34" charset="-122"/>
                <a:cs typeface="Nunito Sans" pitchFamily="34" charset="-120"/>
              </a:rPr>
              <a:t> the goals collapse: the worst wrong-goal cost is 2.3%.</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Confirmed, not overturned:</a:t>
            </a:r>
            <a:r>
              <a:rPr lang="en-US" sz="1450" dirty="0">
                <a:solidFill>
                  <a:srgbClr val="3F4A5C"/>
                </a:solidFill>
                <a:latin typeface="Nunito Sans" pitchFamily="34" charset="0"/>
                <a:ea typeface="Nunito Sans" pitchFamily="34" charset="-122"/>
                <a:cs typeface="Nunito Sans" pitchFamily="34" charset="-120"/>
              </a:rPr>
              <a:t> what the AI sees matters more than its goal.</a:t>
            </a:r>
            <a:endParaRPr lang="en-US" sz="14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A3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Is our “best possible plan” precise enough?</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The best plan is worked out on a grid. Would a finer grid change our yardstick?</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doubled the grid in both directions: 161 × 241 → 321 × 481 squares.</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re-solved the best plan for all four goals.</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compared days to failure and the score range each goal uses.</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Pass rule, set in advance: both must move by less than 1%.</a:t>
            </a:r>
            <a:endParaRPr lang="en-US" sz="15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A3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A 4× finer grid changes almost nothing</a:t>
            </a:r>
            <a:endParaRPr lang="en-US" sz="2800" dirty="0"/>
          </a:p>
        </p:txBody>
      </p:sp>
      <p:sp>
        <p:nvSpPr>
          <p:cNvPr id="4" name="Shape 2"/>
          <p:cNvSpPr/>
          <p:nvPr/>
        </p:nvSpPr>
        <p:spPr>
          <a:xfrm>
            <a:off x="812800" y="1783060"/>
            <a:ext cx="10566400" cy="2066290"/>
          </a:xfrm>
          <a:prstGeom prst="rect">
            <a:avLst/>
          </a:prstGeom>
          <a:solidFill>
            <a:srgbClr val="FFFFFF"/>
          </a:solidFill>
          <a:ln/>
        </p:spPr>
      </p:sp>
      <p:sp>
        <p:nvSpPr>
          <p:cNvPr id="5" name="Shape 3"/>
          <p:cNvSpPr/>
          <p:nvPr/>
        </p:nvSpPr>
        <p:spPr>
          <a:xfrm>
            <a:off x="11376025" y="1783060"/>
            <a:ext cx="0" cy="2066290"/>
          </a:xfrm>
          <a:prstGeom prst="line">
            <a:avLst/>
          </a:prstGeom>
          <a:noFill/>
          <a:ln w="6350">
            <a:solidFill>
              <a:srgbClr val="E4E0D6"/>
            </a:solidFill>
            <a:prstDash val="solid"/>
          </a:ln>
        </p:spPr>
      </p:sp>
      <p:sp>
        <p:nvSpPr>
          <p:cNvPr id="6" name="Shape 4"/>
          <p:cNvSpPr/>
          <p:nvPr/>
        </p:nvSpPr>
        <p:spPr>
          <a:xfrm>
            <a:off x="812800" y="3846175"/>
            <a:ext cx="10566400" cy="0"/>
          </a:xfrm>
          <a:prstGeom prst="line">
            <a:avLst/>
          </a:prstGeom>
          <a:noFill/>
          <a:ln w="6350">
            <a:solidFill>
              <a:srgbClr val="E4E0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93220"/>
          <a:ext cx="10551161" cy="2051050"/>
        </p:xfrm>
        <a:graphic>
          <a:graphicData uri="http://schemas.openxmlformats.org/drawingml/2006/table">
            <a:tbl>
              <a:tblPr/>
              <a:tblGrid>
                <a:gridCol w="2321255">
                  <a:extLst>
                    <a:ext uri="{9D8B030D-6E8A-4147-A177-3AD203B41FA5}">
                      <a16:colId xmlns:a16="http://schemas.microsoft.com/office/drawing/2014/main" val="20000"/>
                    </a:ext>
                  </a:extLst>
                </a:gridCol>
                <a:gridCol w="2743302">
                  <a:extLst>
                    <a:ext uri="{9D8B030D-6E8A-4147-A177-3AD203B41FA5}">
                      <a16:colId xmlns:a16="http://schemas.microsoft.com/office/drawing/2014/main" val="20001"/>
                    </a:ext>
                  </a:extLst>
                </a:gridCol>
                <a:gridCol w="2743302">
                  <a:extLst>
                    <a:ext uri="{9D8B030D-6E8A-4147-A177-3AD203B41FA5}">
                      <a16:colId xmlns:a16="http://schemas.microsoft.com/office/drawing/2014/main" val="20002"/>
                    </a:ext>
                  </a:extLst>
                </a:gridCol>
                <a:gridCol w="2743302">
                  <a:extLst>
                    <a:ext uri="{9D8B030D-6E8A-4147-A177-3AD203B41FA5}">
                      <a16:colId xmlns:a16="http://schemas.microsoft.com/office/drawing/2014/main" val="20003"/>
                    </a:ext>
                  </a:extLst>
                </a:gridCol>
              </a:tblGrid>
              <a:tr h="410210">
                <a:tc>
                  <a:txBody>
                    <a:bodyPr/>
                    <a:lstStyle/>
                    <a:p>
                      <a:pPr marL="0" indent="0">
                        <a:lnSpc>
                          <a:spcPts val="2100"/>
                        </a:lnSpc>
                        <a:buNone/>
                      </a:pPr>
                      <a:r>
                        <a:rPr lang="en-US" sz="1500" b="1" dirty="0">
                          <a:solidFill>
                            <a:srgbClr val="F4F1EA"/>
                          </a:solidFill>
                          <a:latin typeface="Nunito Sans" pitchFamily="34" charset="0"/>
                          <a:ea typeface="Nunito Sans" pitchFamily="34" charset="-122"/>
                          <a:cs typeface="Nunito Sans" pitchFamily="34" charset="-120"/>
                        </a:rPr>
                        <a:t>Goal</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2100"/>
                        </a:lnSpc>
                        <a:buNone/>
                      </a:pPr>
                      <a:r>
                        <a:rPr lang="en-US" sz="1500" b="1" dirty="0">
                          <a:solidFill>
                            <a:srgbClr val="F4F1EA"/>
                          </a:solidFill>
                          <a:latin typeface="Nunito Sans" pitchFamily="34" charset="0"/>
                          <a:ea typeface="Nunito Sans" pitchFamily="34" charset="-122"/>
                          <a:cs typeface="Nunito Sans" pitchFamily="34" charset="-120"/>
                        </a:rPr>
                        <a:t>Normal grid</a:t>
                      </a:r>
                      <a:endParaRPr lang="en-US" sz="1500" dirty="0">
                        <a:latin typeface="Nunito Sans" charset="0"/>
                        <a:ea typeface="Nunito Sans" charset="0"/>
                        <a:cs typeface="Nunito Sans" charset="0"/>
                      </a:endParaRPr>
                    </a:p>
                  </a:txBody>
                  <a:tcPr marL="66675" marR="66675" marT="66675" marB="6667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2100"/>
                        </a:lnSpc>
                        <a:buNone/>
                      </a:pPr>
                      <a:r>
                        <a:rPr lang="en-US" sz="1500" b="1" dirty="0">
                          <a:solidFill>
                            <a:srgbClr val="F4F1EA"/>
                          </a:solidFill>
                          <a:latin typeface="Nunito Sans" pitchFamily="34" charset="0"/>
                          <a:ea typeface="Nunito Sans" pitchFamily="34" charset="-122"/>
                          <a:cs typeface="Nunito Sans" pitchFamily="34" charset="-120"/>
                        </a:rPr>
                        <a:t>Fine grid</a:t>
                      </a:r>
                      <a:endParaRPr lang="en-US" sz="1500" dirty="0">
                        <a:latin typeface="Nunito Sans" charset="0"/>
                        <a:ea typeface="Nunito Sans" charset="0"/>
                        <a:cs typeface="Nunito Sans" charset="0"/>
                      </a:endParaRPr>
                    </a:p>
                  </a:txBody>
                  <a:tcPr marL="66675" marR="66675" marT="66675" marB="6667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2100"/>
                        </a:lnSpc>
                        <a:buNone/>
                      </a:pPr>
                      <a:r>
                        <a:rPr lang="en-US" sz="1500" b="1" dirty="0">
                          <a:solidFill>
                            <a:srgbClr val="F4F1EA"/>
                          </a:solidFill>
                          <a:latin typeface="Nunito Sans" pitchFamily="34" charset="0"/>
                          <a:ea typeface="Nunito Sans" pitchFamily="34" charset="-122"/>
                          <a:cs typeface="Nunito Sans" pitchFamily="34" charset="-120"/>
                        </a:rPr>
                        <a:t>Change</a:t>
                      </a:r>
                      <a:endParaRPr lang="en-US" sz="1500" dirty="0">
                        <a:latin typeface="Nunito Sans" charset="0"/>
                        <a:ea typeface="Nunito Sans" charset="0"/>
                        <a:cs typeface="Nunito Sans" charset="0"/>
                      </a:endParaRPr>
                    </a:p>
                  </a:txBody>
                  <a:tcPr marL="66675" marR="66675" marT="66675" marB="6667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D2B44"/>
                          </a:solidFill>
                          <a:latin typeface="Nunito Sans" pitchFamily="34" charset="0"/>
                          <a:ea typeface="Nunito Sans" pitchFamily="34" charset="-122"/>
                          <a:cs typeface="Nunito Sans" pitchFamily="34" charset="-120"/>
                        </a:rPr>
                        <a:t>R1</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2038 days</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2038 days</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0%</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D2B44"/>
                          </a:solidFill>
                          <a:latin typeface="Nunito Sans" pitchFamily="34" charset="0"/>
                          <a:ea typeface="Nunito Sans" pitchFamily="34" charset="-122"/>
                          <a:cs typeface="Nunito Sans" pitchFamily="34" charset="-120"/>
                        </a:rPr>
                        <a:t>R2</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2030 days</a:t>
                      </a:r>
                      <a:endParaRPr lang="en-US" sz="1500" dirty="0">
                        <a:latin typeface="Nunito Sans" charset="0"/>
                        <a:ea typeface="Nunito Sans" charset="0"/>
                        <a:cs typeface="Nunito Sans" charset="0"/>
                      </a:endParaRPr>
                    </a:p>
                  </a:txBody>
                  <a:tcPr marL="66675" marR="66675" marT="66675" marB="6667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2030 days</a:t>
                      </a:r>
                      <a:endParaRPr lang="en-US" sz="1500" dirty="0">
                        <a:latin typeface="Nunito Sans" charset="0"/>
                        <a:ea typeface="Nunito Sans" charset="0"/>
                        <a:cs typeface="Nunito Sans" charset="0"/>
                      </a:endParaRPr>
                    </a:p>
                  </a:txBody>
                  <a:tcPr marL="66675" marR="66675" marT="66675" marB="6667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0%</a:t>
                      </a:r>
                      <a:endParaRPr lang="en-US" sz="1500" dirty="0">
                        <a:latin typeface="Nunito Sans" charset="0"/>
                        <a:ea typeface="Nunito Sans" charset="0"/>
                        <a:cs typeface="Nunito Sans" charset="0"/>
                      </a:endParaRPr>
                    </a:p>
                  </a:txBody>
                  <a:tcPr marL="66675" marR="66675" marT="66675" marB="6667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D2B44"/>
                          </a:solidFill>
                          <a:latin typeface="Nunito Sans" pitchFamily="34" charset="0"/>
                          <a:ea typeface="Nunito Sans" pitchFamily="34" charset="-122"/>
                          <a:cs typeface="Nunito Sans" pitchFamily="34" charset="-120"/>
                        </a:rPr>
                        <a:t>R3</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1625 days</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1625 days</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0%</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1D2B44"/>
                          </a:solidFill>
                          <a:latin typeface="Nunito Sans" pitchFamily="34" charset="0"/>
                          <a:ea typeface="Nunito Sans" pitchFamily="34" charset="-122"/>
                          <a:cs typeface="Nunito Sans" pitchFamily="34" charset="-120"/>
                        </a:rPr>
                        <a:t>R4</a:t>
                      </a:r>
                      <a:endParaRPr lang="en-US" sz="1500" dirty="0">
                        <a:latin typeface="Nunito Sans" charset="0"/>
                        <a:ea typeface="Nunito Sans" charset="0"/>
                        <a:cs typeface="Nunito Sans" charset="0"/>
                      </a:endParaRPr>
                    </a:p>
                  </a:txBody>
                  <a:tcPr marL="66675" marR="66675" marT="66675" marB="6667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2038 days</a:t>
                      </a:r>
                      <a:endParaRPr lang="en-US" sz="1500" dirty="0">
                        <a:latin typeface="Nunito Sans" charset="0"/>
                        <a:ea typeface="Nunito Sans" charset="0"/>
                        <a:cs typeface="Nunito Sans" charset="0"/>
                      </a:endParaRPr>
                    </a:p>
                  </a:txBody>
                  <a:tcPr marL="66675" marR="66675" marT="66675" marB="6667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2030 days</a:t>
                      </a:r>
                      <a:endParaRPr lang="en-US" sz="1500" dirty="0">
                        <a:latin typeface="Nunito Sans" charset="0"/>
                        <a:ea typeface="Nunito Sans" charset="0"/>
                        <a:cs typeface="Nunito Sans" charset="0"/>
                      </a:endParaRPr>
                    </a:p>
                  </a:txBody>
                  <a:tcPr marL="66675" marR="66675" marT="66675" marB="6667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2100"/>
                        </a:lnSpc>
                        <a:buNone/>
                      </a:pPr>
                      <a:r>
                        <a:rPr lang="en-US" sz="1500" dirty="0">
                          <a:solidFill>
                            <a:srgbClr val="1D2B44"/>
                          </a:solidFill>
                          <a:latin typeface="Nunito Sans" pitchFamily="34" charset="0"/>
                          <a:ea typeface="Nunito Sans" pitchFamily="34" charset="-122"/>
                          <a:cs typeface="Nunito Sans" pitchFamily="34" charset="-120"/>
                        </a:rPr>
                        <a:t>−0.36%</a:t>
                      </a:r>
                      <a:endParaRPr lang="en-US" sz="1500" dirty="0">
                        <a:latin typeface="Nunito Sans" charset="0"/>
                        <a:ea typeface="Nunito Sans" charset="0"/>
                        <a:cs typeface="Nunito Sans" charset="0"/>
                      </a:endParaRPr>
                    </a:p>
                  </a:txBody>
                  <a:tcPr marL="66675" marR="66675" marT="66675" marB="6667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bl>
          </a:graphicData>
        </a:graphic>
      </p:graphicFrame>
      <p:sp>
        <p:nvSpPr>
          <p:cNvPr id="8" name="Text 5"/>
          <p:cNvSpPr/>
          <p:nvPr/>
        </p:nvSpPr>
        <p:spPr>
          <a:xfrm>
            <a:off x="812800" y="410339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Score range:</a:t>
            </a:r>
            <a:r>
              <a:rPr lang="en-US" sz="1400" dirty="0">
                <a:solidFill>
                  <a:srgbClr val="3F4A5C"/>
                </a:solidFill>
                <a:latin typeface="Nunito Sans" pitchFamily="34" charset="0"/>
                <a:ea typeface="Nunito Sans" pitchFamily="34" charset="-122"/>
                <a:cs typeface="Nunito Sans" pitchFamily="34" charset="-120"/>
              </a:rPr>
              <a:t> changed by at most 0.02% for any goal.</a:t>
            </a:r>
            <a:endParaRPr lang="en-US" sz="1400" dirty="0"/>
          </a:p>
        </p:txBody>
      </p:sp>
      <p:sp>
        <p:nvSpPr>
          <p:cNvPr id="9" name="Text 6"/>
          <p:cNvSpPr/>
          <p:nvPr/>
        </p:nvSpPr>
        <p:spPr>
          <a:xfrm>
            <a:off x="812800" y="460628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there is no graph for this check. R4’s small change comes from a near-tie with R1 that the finer grid breaks the other way.</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A3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Our yardstick is solid</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Days moved at most 0.36%;</a:t>
            </a:r>
            <a:r>
              <a:rPr lang="en-US" sz="1450" dirty="0">
                <a:solidFill>
                  <a:srgbClr val="3F4A5C"/>
                </a:solidFill>
                <a:latin typeface="Nunito Sans" pitchFamily="34" charset="0"/>
                <a:ea typeface="Nunito Sans" pitchFamily="34" charset="-122"/>
                <a:cs typeface="Nunito Sans" pitchFamily="34" charset="-120"/>
              </a:rPr>
              <a:t> score ranges at most 0.02%.</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Both are far inside</a:t>
            </a:r>
            <a:r>
              <a:rPr lang="en-US" sz="1450" dirty="0">
                <a:solidFill>
                  <a:srgbClr val="3F4A5C"/>
                </a:solidFill>
                <a:latin typeface="Nunito Sans" pitchFamily="34" charset="0"/>
                <a:ea typeface="Nunito Sans" pitchFamily="34" charset="-122"/>
                <a:cs typeface="Nunito Sans" pitchFamily="34" charset="-120"/>
              </a:rPr>
              <a:t> the 1% rule we set before running it.</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Every score in this deck is safe:</a:t>
            </a:r>
            <a:r>
              <a:rPr lang="en-US" sz="1450" dirty="0">
                <a:solidFill>
                  <a:srgbClr val="3F4A5C"/>
                </a:solidFill>
                <a:latin typeface="Nunito Sans" pitchFamily="34" charset="0"/>
                <a:ea typeface="Nunito Sans" pitchFamily="34" charset="-122"/>
                <a:cs typeface="Nunito Sans" pitchFamily="34" charset="-120"/>
              </a:rPr>
              <a:t> the ceiling it is measured against is precise.</a:t>
            </a:r>
            <a:endParaRPr lang="en-US" sz="14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B1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Survival versus drug: is anyone wasting drug?</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Some AIs survive less but use less drug. Is that a fair trade-off, or simply worse?</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placed every AI, best plan and human rule by drug used and days survived.</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 strategy is “beaten” if another is better on both at once.</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Two drug measures: total drug, and the share of time on drug.</a:t>
            </a:r>
            <a:endParaRPr lang="en-US" sz="1500" dirty="0"/>
          </a:p>
        </p:txBody>
      </p:sp>
      <p:sp>
        <p:nvSpPr>
          <p:cNvPr id="13" name="Text 11"/>
          <p:cNvSpPr/>
          <p:nvPr/>
        </p:nvSpPr>
        <p:spPr>
          <a:xfrm>
            <a:off x="4419600" y="35991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 third chart: the share of resistant cells when treatment fails.</a:t>
            </a:r>
            <a:endParaRPr lang="en-US" sz="15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B1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One line links drug use and survival</a:t>
            </a:r>
            <a:endParaRPr lang="en-US" sz="2800" dirty="0"/>
          </a:p>
        </p:txBody>
      </p:sp>
      <p:sp>
        <p:nvSpPr>
          <p:cNvPr id="4" name="Shape 2"/>
          <p:cNvSpPr/>
          <p:nvPr/>
        </p:nvSpPr>
        <p:spPr>
          <a:xfrm>
            <a:off x="815975" y="1710035"/>
            <a:ext cx="10560050" cy="3153410"/>
          </a:xfrm>
          <a:prstGeom prst="roundRect">
            <a:avLst>
              <a:gd name="adj" fmla="val 3121"/>
            </a:avLst>
          </a:prstGeom>
          <a:solidFill>
            <a:srgbClr val="FFFFFF"/>
          </a:solidFill>
          <a:ln w="6350">
            <a:solidFill>
              <a:srgbClr val="E4E0D6"/>
            </a:solidFill>
            <a:prstDash val="solid"/>
          </a:ln>
        </p:spPr>
      </p:sp>
      <p:pic>
        <p:nvPicPr>
          <p:cNvPr id="5" name="Image 0" descr="Three charts of days survived. Left, against total drug: all strategies lie on one rising line. Middle, against share of time on drug: all good AIs cluster at about 72%, human rules sit at 75 to 100% with fewer days. Right, against resistant share at failure: AIs near 0.4 to 0.5, human rules 0.6 to 1.0."/>
          <p:cNvPicPr>
            <a:picLocks noChangeAspect="1"/>
          </p:cNvPicPr>
          <p:nvPr/>
        </p:nvPicPr>
        <p:blipFill>
          <a:blip r:embed="rId3"/>
          <a:srcRect t="-27" b="-27"/>
          <a:stretch/>
        </p:blipFill>
        <p:spPr>
          <a:xfrm>
            <a:off x="919480" y="1813570"/>
            <a:ext cx="10353040" cy="2946400"/>
          </a:xfrm>
          <a:prstGeom prst="rect">
            <a:avLst/>
          </a:prstGeom>
        </p:spPr>
      </p:pic>
      <p:sp>
        <p:nvSpPr>
          <p:cNvPr id="6" name="Text 3"/>
          <p:cNvSpPr/>
          <p:nvPr/>
        </p:nvSpPr>
        <p:spPr>
          <a:xfrm>
            <a:off x="812800" y="504443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Left:</a:t>
            </a:r>
            <a:r>
              <a:rPr lang="en-US" sz="1300" dirty="0">
                <a:solidFill>
                  <a:srgbClr val="3F4A5C"/>
                </a:solidFill>
                <a:latin typeface="Nunito Sans" pitchFamily="34" charset="0"/>
                <a:ea typeface="Nunito Sans" pitchFamily="34" charset="-122"/>
                <a:cs typeface="Nunito Sans" pitchFamily="34" charset="-120"/>
              </a:rPr>
              <a:t> total drug vs days. </a:t>
            </a:r>
            <a:r>
              <a:rPr lang="en-US" sz="1300" b="1" dirty="0">
                <a:solidFill>
                  <a:srgbClr val="1D2B44"/>
                </a:solidFill>
                <a:latin typeface="Nunito Sans" pitchFamily="34" charset="0"/>
                <a:ea typeface="Nunito Sans" pitchFamily="34" charset="-122"/>
                <a:cs typeface="Nunito Sans" pitchFamily="34" charset="-120"/>
              </a:rPr>
              <a:t>Middle:</a:t>
            </a:r>
            <a:r>
              <a:rPr lang="en-US" sz="1300" dirty="0">
                <a:solidFill>
                  <a:srgbClr val="3F4A5C"/>
                </a:solidFill>
                <a:latin typeface="Nunito Sans" pitchFamily="34" charset="0"/>
                <a:ea typeface="Nunito Sans" pitchFamily="34" charset="-122"/>
                <a:cs typeface="Nunito Sans" pitchFamily="34" charset="-120"/>
              </a:rPr>
              <a:t> share of time on drug vs days. </a:t>
            </a:r>
            <a:r>
              <a:rPr lang="en-US" sz="1300" b="1" dirty="0">
                <a:solidFill>
                  <a:srgbClr val="1D2B44"/>
                </a:solidFill>
                <a:latin typeface="Nunito Sans" pitchFamily="34" charset="0"/>
                <a:ea typeface="Nunito Sans" pitchFamily="34" charset="-122"/>
                <a:cs typeface="Nunito Sans" pitchFamily="34" charset="-120"/>
              </a:rPr>
              <a:t>Right:</a:t>
            </a:r>
            <a:r>
              <a:rPr lang="en-US" sz="1300" dirty="0">
                <a:solidFill>
                  <a:srgbClr val="3F4A5C"/>
                </a:solidFill>
                <a:latin typeface="Nunito Sans" pitchFamily="34" charset="0"/>
                <a:ea typeface="Nunito Sans" pitchFamily="34" charset="-122"/>
                <a:cs typeface="Nunito Sans" pitchFamily="34" charset="-120"/>
              </a:rPr>
              <a:t> resistant share at failure vs days. Hollow = beaten by another strategy; grey line = the frontier; × = human rules.</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B1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Living longer costs drug, and that is fine</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Good strategies give drug about 72% of the time,</a:t>
            </a:r>
            <a:r>
              <a:rPr lang="en-US" sz="1450" dirty="0">
                <a:solidFill>
                  <a:srgbClr val="3F4A5C"/>
                </a:solidFill>
                <a:latin typeface="Nunito Sans" pitchFamily="34" charset="0"/>
                <a:ea typeface="Nunito Sans" pitchFamily="34" charset="-122"/>
                <a:cs typeface="Nunito Sans" pitchFamily="34" charset="-120"/>
              </a:rPr>
              <a:t> so more days simply means more total drug.</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Share of time on drug</a:t>
            </a:r>
            <a:r>
              <a:rPr lang="en-US" sz="1450" dirty="0">
                <a:solidFill>
                  <a:srgbClr val="3F4A5C"/>
                </a:solidFill>
                <a:latin typeface="Nunito Sans" pitchFamily="34" charset="0"/>
                <a:ea typeface="Nunito Sans" pitchFamily="34" charset="-122"/>
                <a:cs typeface="Nunito Sans" pitchFamily="34" charset="-120"/>
              </a:rPr>
              <a:t> is the fair way to compare, not total drug.</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R2’s memory AIs make a real trade-off:</a:t>
            </a:r>
            <a:r>
              <a:rPr lang="en-US" sz="1450" dirty="0">
                <a:solidFill>
                  <a:srgbClr val="3F4A5C"/>
                </a:solidFill>
                <a:latin typeface="Nunito Sans" pitchFamily="34" charset="0"/>
                <a:ea typeface="Nunito Sans" pitchFamily="34" charset="-122"/>
                <a:cs typeface="Nunito Sans" pitchFamily="34" charset="-120"/>
              </a:rPr>
              <a:t> about 285 fewer days for 4 points less drug, and nobody beats them.</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Most human rules are beaten:</a:t>
            </a:r>
            <a:r>
              <a:rPr lang="en-US" sz="1450" dirty="0">
                <a:solidFill>
                  <a:srgbClr val="3F4A5C"/>
                </a:solidFill>
                <a:latin typeface="Nunito Sans" pitchFamily="34" charset="0"/>
                <a:ea typeface="Nunito Sans" pitchFamily="34" charset="-122"/>
                <a:cs typeface="Nunito Sans" pitchFamily="34" charset="-120"/>
              </a:rPr>
              <a:t> more drug and fewer days than the AIs.</a:t>
            </a:r>
            <a:endParaRPr lang="en-US" sz="14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B2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Was R3 just badly designed?</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R3’s reward is all-or-nothing around a 50:50 mix. Would a smoother reward do better?</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F4A5C"/>
                </a:solidFill>
                <a:latin typeface="Nunito Sans" pitchFamily="34" charset="0"/>
                <a:ea typeface="Nunito Sans" pitchFamily="34" charset="-122"/>
                <a:cs typeface="Nunito Sans" pitchFamily="34" charset="-120"/>
              </a:rPr>
              <a:t>Smooth mix:</a:t>
            </a:r>
            <a:r>
              <a:rPr lang="en-US" sz="1500" dirty="0">
                <a:solidFill>
                  <a:srgbClr val="3F4A5C"/>
                </a:solidFill>
                <a:latin typeface="Nunito Sans" pitchFamily="34" charset="0"/>
                <a:ea typeface="Nunito Sans" pitchFamily="34" charset="-122"/>
                <a:cs typeface="Nunito Sans" pitchFamily="34" charset="-120"/>
              </a:rPr>
              <a:t> points rise gradually as the mix moves toward 50:50.</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F4A5C"/>
                </a:solidFill>
                <a:latin typeface="Nunito Sans" pitchFamily="34" charset="0"/>
                <a:ea typeface="Nunito Sans" pitchFamily="34" charset="-122"/>
                <a:cs typeface="Nunito Sans" pitchFamily="34" charset="-120"/>
              </a:rPr>
              <a:t>Smooth target:</a:t>
            </a:r>
            <a:r>
              <a:rPr lang="en-US" sz="1500" dirty="0">
                <a:solidFill>
                  <a:srgbClr val="3F4A5C"/>
                </a:solidFill>
                <a:latin typeface="Nunito Sans" pitchFamily="34" charset="0"/>
                <a:ea typeface="Nunito Sans" pitchFamily="34" charset="-122"/>
                <a:cs typeface="Nunito Sans" pitchFamily="34" charset="-120"/>
              </a:rPr>
              <a:t> most points at a chosen resistant share (5%, 10%, 25% or 50%).</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trained AIs for each version and solved its best plan.</a:t>
            </a:r>
            <a:endParaRPr lang="en-US" sz="1500" dirty="0"/>
          </a:p>
        </p:txBody>
      </p:sp>
      <p:sp>
        <p:nvSpPr>
          <p:cNvPr id="13" name="Text 11"/>
          <p:cNvSpPr/>
          <p:nvPr/>
        </p:nvSpPr>
        <p:spPr>
          <a:xfrm>
            <a:off x="4419600" y="35991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compared them with the original R3 and with survival-trained AIs.</a:t>
            </a:r>
            <a:endParaRPr lang="en-US" sz="15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B2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Smoother rewards don’t rescue R3</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Left: days per AI and best plan for six reward shapes. Original R3 about 1500 (best plan 1625); smooth mix about 1080 (1387); smooth targets 5% about 1680 (1989), 10% about 1590 (1814), 25% about 1370 (1630), 50% about 1190 (1443); survival AIs 1744. Right: resistant share reached stays between about 0.08 and 0.12 for every target."/>
          <p:cNvPicPr>
            <a:picLocks noChangeAspect="1"/>
          </p:cNvPicPr>
          <p:nvPr/>
        </p:nvPicPr>
        <p:blipFill>
          <a:blip r:embed="rId3"/>
          <a:srcRect t="-7" b="-7"/>
          <a:stretch/>
        </p:blipFill>
        <p:spPr>
          <a:xfrm>
            <a:off x="968375" y="1813570"/>
            <a:ext cx="1025525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Left:</a:t>
            </a:r>
            <a:r>
              <a:rPr lang="en-US" sz="1300" dirty="0">
                <a:solidFill>
                  <a:srgbClr val="3F4A5C"/>
                </a:solidFill>
                <a:latin typeface="Nunito Sans" pitchFamily="34" charset="0"/>
                <a:ea typeface="Nunito Sans" pitchFamily="34" charset="-122"/>
                <a:cs typeface="Nunito Sans" pitchFamily="34" charset="-120"/>
              </a:rPr>
              <a:t> days per AI (dots) and best plan (circles) for each reward shape; blue dashed = survival-trained AIs. </a:t>
            </a:r>
            <a:r>
              <a:rPr lang="en-US" sz="1300" b="1" dirty="0">
                <a:solidFill>
                  <a:srgbClr val="1D2B44"/>
                </a:solidFill>
                <a:latin typeface="Nunito Sans" pitchFamily="34" charset="0"/>
                <a:ea typeface="Nunito Sans" pitchFamily="34" charset="-122"/>
                <a:cs typeface="Nunito Sans" pitchFamily="34" charset="-120"/>
              </a:rPr>
              <a:t>Right:</a:t>
            </a:r>
            <a:r>
              <a:rPr lang="en-US" sz="1300" dirty="0">
                <a:solidFill>
                  <a:srgbClr val="3F4A5C"/>
                </a:solidFill>
                <a:latin typeface="Nunito Sans" pitchFamily="34" charset="0"/>
                <a:ea typeface="Nunito Sans" pitchFamily="34" charset="-122"/>
                <a:cs typeface="Nunito Sans" pitchFamily="34" charset="-120"/>
              </a:rPr>
              <a:t> resistant share reached vs target; the dotted line is “hit the target”.</a:t>
            </a:r>
            <a:endParaRPr lang="en-US" sz="13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B2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R3’s problem is the idea, not the details</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A smooth mix reward is even worse:</a:t>
            </a:r>
            <a:r>
              <a:rPr lang="en-US" sz="1450" dirty="0">
                <a:solidFill>
                  <a:srgbClr val="3F4A5C"/>
                </a:solidFill>
                <a:latin typeface="Nunito Sans" pitchFamily="34" charset="0"/>
                <a:ea typeface="Nunito Sans" pitchFamily="34" charset="-122"/>
                <a:cs typeface="Nunito Sans" pitchFamily="34" charset="-120"/>
              </a:rPr>
              <a:t> best plan 1387 days vs 1625 for the original.</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With a smooth target, the target matters:</a:t>
            </a:r>
            <a:r>
              <a:rPr lang="en-US" sz="1450" dirty="0">
                <a:solidFill>
                  <a:srgbClr val="3F4A5C"/>
                </a:solidFill>
                <a:latin typeface="Nunito Sans" pitchFamily="34" charset="0"/>
                <a:ea typeface="Nunito Sans" pitchFamily="34" charset="-122"/>
                <a:cs typeface="Nunito Sans" pitchFamily="34" charset="-120"/>
              </a:rPr>
              <a:t> 5% is nearly free (1989 days), 50% is costly (1443).</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Nobody holds the resistant share above about 12%,</a:t>
            </a:r>
            <a:r>
              <a:rPr lang="en-US" sz="1450" dirty="0">
                <a:solidFill>
                  <a:srgbClr val="3F4A5C"/>
                </a:solidFill>
                <a:latin typeface="Nunito Sans" pitchFamily="34" charset="0"/>
                <a:ea typeface="Nunito Sans" pitchFamily="34" charset="-122"/>
                <a:cs typeface="Nunito Sans" pitchFamily="34" charset="-120"/>
              </a:rPr>
              <a:t> not even the best plan.</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Survival-trained AIs still score higher</a:t>
            </a:r>
            <a:r>
              <a:rPr lang="en-US" sz="1450" dirty="0">
                <a:solidFill>
                  <a:srgbClr val="3F4A5C"/>
                </a:solidFill>
                <a:latin typeface="Nunito Sans" pitchFamily="34" charset="0"/>
                <a:ea typeface="Nunito Sans" pitchFamily="34" charset="-122"/>
                <a:cs typeface="Nunito Sans" pitchFamily="34" charset="-120"/>
              </a:rPr>
              <a:t> on every mix reward than the mix-trained AIs.</a:t>
            </a:r>
            <a:endParaRPr lang="en-US" sz="14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B3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How often is the drug switched on and off?</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A schedule that flips every week is hard to follow in a clinic. How often do ours switch?</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 switch = a week whose dose differs from the week before.</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Counted for the best plans, the human rules and the AIs on our main patient.</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Reported per year and as a share of all weekly decisions.</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Rule set in advance: if the best plans switch on over 25% of weeks, run D4.</a:t>
            </a:r>
            <a:endParaRPr lang="en-US" sz="15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B3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Best plans and AIs switch about every other week</a:t>
            </a:r>
            <a:endParaRPr lang="en-US" sz="2800" dirty="0"/>
          </a:p>
        </p:txBody>
      </p:sp>
      <p:sp>
        <p:nvSpPr>
          <p:cNvPr id="4" name="Shape 2"/>
          <p:cNvSpPr/>
          <p:nvPr/>
        </p:nvSpPr>
        <p:spPr>
          <a:xfrm>
            <a:off x="812800" y="1757660"/>
            <a:ext cx="10566400" cy="3467100"/>
          </a:xfrm>
          <a:prstGeom prst="rect">
            <a:avLst/>
          </a:prstGeom>
          <a:solidFill>
            <a:srgbClr val="FFFFFF"/>
          </a:solidFill>
          <a:ln/>
        </p:spPr>
      </p:sp>
      <p:sp>
        <p:nvSpPr>
          <p:cNvPr id="5" name="Shape 3"/>
          <p:cNvSpPr/>
          <p:nvPr/>
        </p:nvSpPr>
        <p:spPr>
          <a:xfrm>
            <a:off x="11376025" y="1757660"/>
            <a:ext cx="0" cy="3467100"/>
          </a:xfrm>
          <a:prstGeom prst="line">
            <a:avLst/>
          </a:prstGeom>
          <a:noFill/>
          <a:ln w="6350">
            <a:solidFill>
              <a:srgbClr val="E4E0D6"/>
            </a:solidFill>
            <a:prstDash val="solid"/>
          </a:ln>
        </p:spPr>
      </p:sp>
      <p:sp>
        <p:nvSpPr>
          <p:cNvPr id="6" name="Shape 4"/>
          <p:cNvSpPr/>
          <p:nvPr/>
        </p:nvSpPr>
        <p:spPr>
          <a:xfrm>
            <a:off x="812800" y="5221585"/>
            <a:ext cx="10566400" cy="0"/>
          </a:xfrm>
          <a:prstGeom prst="line">
            <a:avLst/>
          </a:prstGeom>
          <a:noFill/>
          <a:ln w="6350">
            <a:solidFill>
              <a:srgbClr val="E4E0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67820"/>
          <a:ext cx="10551159" cy="3451860"/>
        </p:xfrm>
        <a:graphic>
          <a:graphicData uri="http://schemas.openxmlformats.org/drawingml/2006/table">
            <a:tbl>
              <a:tblPr/>
              <a:tblGrid>
                <a:gridCol w="5486603">
                  <a:extLst>
                    <a:ext uri="{9D8B030D-6E8A-4147-A177-3AD203B41FA5}">
                      <a16:colId xmlns:a16="http://schemas.microsoft.com/office/drawing/2014/main" val="20000"/>
                    </a:ext>
                  </a:extLst>
                </a:gridCol>
                <a:gridCol w="2532278">
                  <a:extLst>
                    <a:ext uri="{9D8B030D-6E8A-4147-A177-3AD203B41FA5}">
                      <a16:colId xmlns:a16="http://schemas.microsoft.com/office/drawing/2014/main" val="20001"/>
                    </a:ext>
                  </a:extLst>
                </a:gridCol>
                <a:gridCol w="2532278">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4F1EA"/>
                          </a:solidFill>
                          <a:latin typeface="Nunito Sans" pitchFamily="34" charset="0"/>
                          <a:ea typeface="Nunito Sans" pitchFamily="34" charset="-122"/>
                          <a:cs typeface="Nunito Sans" pitchFamily="34" charset="-120"/>
                        </a:rPr>
                        <a:t>Strategy</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Switches per year</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Share of weeks</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Best plan for R1, R2, R4</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28</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54%</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Best plan for R3</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23</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44%</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AIs (every goal, every setting)</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27–31</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52–59%</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On/off cycles (IT)</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11</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22%</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AT90</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9</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18%</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AT-PSC, tuned</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6</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12%</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AT50</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4%</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Full dose / no treatment</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0</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0%</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8"/>
                  </a:ext>
                </a:extLst>
              </a:tr>
            </a:tbl>
          </a:graphicData>
        </a:graphic>
      </p:graphicFrame>
      <p:sp>
        <p:nvSpPr>
          <p:cNvPr id="8" name="Text 5"/>
          <p:cNvSpPr/>
          <p:nvPr/>
        </p:nvSpPr>
        <p:spPr>
          <a:xfrm>
            <a:off x="812800" y="545336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no graph for this analysis. Switches are counted along each patient’s actual path, from the start until failure.</a:t>
            </a:r>
            <a:endParaRPr lang="en-US" sz="13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B3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The best schedules are busy</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Best plans and AIs change the dose on about half of all weeks:</a:t>
            </a:r>
            <a:r>
              <a:rPr lang="en-US" sz="1450" dirty="0">
                <a:solidFill>
                  <a:srgbClr val="3F4A5C"/>
                </a:solidFill>
                <a:latin typeface="Nunito Sans" pitchFamily="34" charset="0"/>
                <a:ea typeface="Nunito Sans" pitchFamily="34" charset="-122"/>
                <a:cs typeface="Nunito Sans" pitchFamily="34" charset="-120"/>
              </a:rPr>
              <a:t> 27–31 times a year.</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Human rules switch far less:</a:t>
            </a:r>
            <a:r>
              <a:rPr lang="en-US" sz="1450" dirty="0">
                <a:solidFill>
                  <a:srgbClr val="3F4A5C"/>
                </a:solidFill>
                <a:latin typeface="Nunito Sans" pitchFamily="34" charset="0"/>
                <a:ea typeface="Nunito Sans" pitchFamily="34" charset="-122"/>
                <a:cs typeface="Nunito Sans" pitchFamily="34" charset="-120"/>
              </a:rPr>
              <a:t> at most 22% of weeks.</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Why:</a:t>
            </a:r>
            <a:r>
              <a:rPr lang="en-US" sz="1450" dirty="0">
                <a:solidFill>
                  <a:srgbClr val="3F4A5C"/>
                </a:solidFill>
                <a:latin typeface="Nunito Sans" pitchFamily="34" charset="0"/>
                <a:ea typeface="Nunito Sans" pitchFamily="34" charset="-122"/>
                <a:cs typeface="Nunito Sans" pitchFamily="34" charset="-120"/>
              </a:rPr>
              <a:t> containment works by many short pulses that keep the tumour just under the line.</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54% is above our 25% gate,</a:t>
            </a:r>
            <a:r>
              <a:rPr lang="en-US" sz="1450" dirty="0">
                <a:solidFill>
                  <a:srgbClr val="3F4A5C"/>
                </a:solidFill>
                <a:latin typeface="Nunito Sans" pitchFamily="34" charset="0"/>
                <a:ea typeface="Nunito Sans" pitchFamily="34" charset="-122"/>
                <a:cs typeface="Nunito Sans" pitchFamily="34" charset="-120"/>
              </a:rPr>
              <a:t> so we ran D4 to see what fewer switches would cost.</a:t>
            </a:r>
            <a:endParaRPr lang="en-US" sz="14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B4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if “failure” is defined differently?</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We call it failure at 20% growth. Would 10% or 30% change the conclusions?</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moved the failure line to 1.1, 1.2 and 1.3 × the starting size.</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7340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For each, we re-solved the best plan for all four goals (no new AI training).</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compared the ranking of the goals and how much R3 loses.</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Full dose and AT50 were recorded for reference.</a:t>
            </a:r>
            <a:endParaRPr lang="en-US" sz="15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B4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Same ranking at every failure line</a:t>
            </a:r>
            <a:endParaRPr lang="en-US" sz="2800" dirty="0"/>
          </a:p>
        </p:txBody>
      </p:sp>
      <p:sp>
        <p:nvSpPr>
          <p:cNvPr id="4" name="Shape 2"/>
          <p:cNvSpPr/>
          <p:nvPr/>
        </p:nvSpPr>
        <p:spPr>
          <a:xfrm>
            <a:off x="812800" y="1783060"/>
            <a:ext cx="10566400" cy="1549400"/>
          </a:xfrm>
          <a:prstGeom prst="rect">
            <a:avLst/>
          </a:prstGeom>
          <a:solidFill>
            <a:srgbClr val="FFFFFF"/>
          </a:solidFill>
          <a:ln/>
        </p:spPr>
      </p:sp>
      <p:sp>
        <p:nvSpPr>
          <p:cNvPr id="5" name="Shape 3"/>
          <p:cNvSpPr/>
          <p:nvPr/>
        </p:nvSpPr>
        <p:spPr>
          <a:xfrm>
            <a:off x="11376025" y="1783060"/>
            <a:ext cx="0" cy="1549400"/>
          </a:xfrm>
          <a:prstGeom prst="line">
            <a:avLst/>
          </a:prstGeom>
          <a:noFill/>
          <a:ln w="6350">
            <a:solidFill>
              <a:srgbClr val="E4E0D6"/>
            </a:solidFill>
            <a:prstDash val="solid"/>
          </a:ln>
        </p:spPr>
      </p:sp>
      <p:sp>
        <p:nvSpPr>
          <p:cNvPr id="6" name="Shape 4"/>
          <p:cNvSpPr/>
          <p:nvPr/>
        </p:nvSpPr>
        <p:spPr>
          <a:xfrm>
            <a:off x="812800" y="3329285"/>
            <a:ext cx="10566400" cy="0"/>
          </a:xfrm>
          <a:prstGeom prst="line">
            <a:avLst/>
          </a:prstGeom>
          <a:noFill/>
          <a:ln w="6350">
            <a:solidFill>
              <a:srgbClr val="E4E0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93220"/>
          <a:ext cx="10551159" cy="1534160"/>
        </p:xfrm>
        <a:graphic>
          <a:graphicData uri="http://schemas.openxmlformats.org/drawingml/2006/table">
            <a:tbl>
              <a:tblPr/>
              <a:tblGrid>
                <a:gridCol w="1688186">
                  <a:extLst>
                    <a:ext uri="{9D8B030D-6E8A-4147-A177-3AD203B41FA5}">
                      <a16:colId xmlns:a16="http://schemas.microsoft.com/office/drawing/2014/main" val="20000"/>
                    </a:ext>
                  </a:extLst>
                </a:gridCol>
                <a:gridCol w="1266139">
                  <a:extLst>
                    <a:ext uri="{9D8B030D-6E8A-4147-A177-3AD203B41FA5}">
                      <a16:colId xmlns:a16="http://schemas.microsoft.com/office/drawing/2014/main" val="20001"/>
                    </a:ext>
                  </a:extLst>
                </a:gridCol>
                <a:gridCol w="1266139">
                  <a:extLst>
                    <a:ext uri="{9D8B030D-6E8A-4147-A177-3AD203B41FA5}">
                      <a16:colId xmlns:a16="http://schemas.microsoft.com/office/drawing/2014/main" val="20002"/>
                    </a:ext>
                  </a:extLst>
                </a:gridCol>
                <a:gridCol w="1266139">
                  <a:extLst>
                    <a:ext uri="{9D8B030D-6E8A-4147-A177-3AD203B41FA5}">
                      <a16:colId xmlns:a16="http://schemas.microsoft.com/office/drawing/2014/main" val="20003"/>
                    </a:ext>
                  </a:extLst>
                </a:gridCol>
                <a:gridCol w="1266139">
                  <a:extLst>
                    <a:ext uri="{9D8B030D-6E8A-4147-A177-3AD203B41FA5}">
                      <a16:colId xmlns:a16="http://schemas.microsoft.com/office/drawing/2014/main" val="20004"/>
                    </a:ext>
                  </a:extLst>
                </a:gridCol>
                <a:gridCol w="1266139">
                  <a:extLst>
                    <a:ext uri="{9D8B030D-6E8A-4147-A177-3AD203B41FA5}">
                      <a16:colId xmlns:a16="http://schemas.microsoft.com/office/drawing/2014/main" val="20005"/>
                    </a:ext>
                  </a:extLst>
                </a:gridCol>
                <a:gridCol w="1266139">
                  <a:extLst>
                    <a:ext uri="{9D8B030D-6E8A-4147-A177-3AD203B41FA5}">
                      <a16:colId xmlns:a16="http://schemas.microsoft.com/office/drawing/2014/main" val="20006"/>
                    </a:ext>
                  </a:extLst>
                </a:gridCol>
                <a:gridCol w="1266139">
                  <a:extLst>
                    <a:ext uri="{9D8B030D-6E8A-4147-A177-3AD203B41FA5}">
                      <a16:colId xmlns:a16="http://schemas.microsoft.com/office/drawing/2014/main" val="20007"/>
                    </a:ext>
                  </a:extLst>
                </a:gridCol>
              </a:tblGrid>
              <a:tr h="383540">
                <a:tc>
                  <a:txBody>
                    <a:bodyPr/>
                    <a:lstStyle/>
                    <a:p>
                      <a:pPr marL="0" indent="0">
                        <a:lnSpc>
                          <a:spcPts val="1960"/>
                        </a:lnSpc>
                        <a:buNone/>
                      </a:pPr>
                      <a:r>
                        <a:rPr lang="en-US" sz="1400" b="1" dirty="0">
                          <a:solidFill>
                            <a:srgbClr val="F4F1EA"/>
                          </a:solidFill>
                          <a:latin typeface="Nunito Sans" pitchFamily="34" charset="0"/>
                          <a:ea typeface="Nunito Sans" pitchFamily="34" charset="-122"/>
                          <a:cs typeface="Nunito Sans" pitchFamily="34" charset="-120"/>
                        </a:rPr>
                        <a:t>Failure line</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Full dose</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AT50</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R1</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R2</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R3</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R4</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R3 loses</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1.1 ×</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427</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633</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1176</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1141</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1015</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1176</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14%</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1.2 ×</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452</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673</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2038</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2030</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1625</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2038</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20%</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1.3 ×</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508</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756</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7812</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7791</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5741</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7812</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27%</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812800" y="358646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days to failure for full dose, AT50 and the best plan of each goal. 1.2 × is the line used everywhere else. No graph for this check.</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B4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The line changes the numbers, not the story</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Same order at every line:</a:t>
            </a:r>
            <a:r>
              <a:rPr lang="en-US" sz="1450" dirty="0">
                <a:solidFill>
                  <a:srgbClr val="3F4A5C"/>
                </a:solidFill>
                <a:latin typeface="Nunito Sans" pitchFamily="34" charset="0"/>
                <a:ea typeface="Nunito Sans" pitchFamily="34" charset="-122"/>
                <a:cs typeface="Nunito Sans" pitchFamily="34" charset="-120"/>
              </a:rPr>
              <a:t> R1 = R4, then R2, then R3.</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loses more as the line rises:</a:t>
            </a:r>
            <a:r>
              <a:rPr lang="en-US" sz="1450" dirty="0">
                <a:solidFill>
                  <a:srgbClr val="3F4A5C"/>
                </a:solidFill>
                <a:latin typeface="Nunito Sans" pitchFamily="34" charset="0"/>
                <a:ea typeface="Nunito Sans" pitchFamily="34" charset="-122"/>
                <a:cs typeface="Nunito Sans" pitchFamily="34" charset="-120"/>
              </a:rPr>
              <a:t> 14% → 20% → 27%.</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 higher line gives containment far more room:</a:t>
            </a:r>
            <a:r>
              <a:rPr lang="en-US" sz="1450" dirty="0">
                <a:solidFill>
                  <a:srgbClr val="3F4A5C"/>
                </a:solidFill>
                <a:latin typeface="Nunito Sans" pitchFamily="34" charset="0"/>
                <a:ea typeface="Nunito Sans" pitchFamily="34" charset="-122"/>
                <a:cs typeface="Nunito Sans" pitchFamily="34" charset="-120"/>
              </a:rPr>
              <a:t> 7812 days at 1.3×.</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Full dose barely moves</a:t>
            </a:r>
            <a:r>
              <a:rPr lang="en-US" sz="1450" dirty="0">
                <a:solidFill>
                  <a:srgbClr val="3F4A5C"/>
                </a:solidFill>
                <a:latin typeface="Nunito Sans" pitchFamily="34" charset="0"/>
                <a:ea typeface="Nunito Sans" pitchFamily="34" charset="-122"/>
                <a:cs typeface="Nunito Sans" pitchFamily="34" charset="-120"/>
              </a:rPr>
              <a:t> (427–508 days): it cannot use the extra room.</a:t>
            </a:r>
            <a:endParaRPr lang="en-US" sz="14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C1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Does it hold across a whole map of patients?</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Instead of a few patients, can we check the main findings over a whole range?</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 5 × 5 grid of patients: resistance cost 0–40% × natural cell death 0–4%.</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For each of the 25, we solved the best plan for all four goals.</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Measured: do R1 and R4 act differently, and how much does R3 lose?</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And: how often can R3 actually hold its target mix?</a:t>
            </a:r>
            <a:endParaRPr lang="en-US" sz="15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C1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The same pattern at all 25 patients</a:t>
            </a:r>
            <a:endParaRPr lang="en-US" sz="2800" dirty="0"/>
          </a:p>
        </p:txBody>
      </p:sp>
      <p:sp>
        <p:nvSpPr>
          <p:cNvPr id="4" name="Shape 2"/>
          <p:cNvSpPr/>
          <p:nvPr/>
        </p:nvSpPr>
        <p:spPr>
          <a:xfrm>
            <a:off x="815975" y="1710035"/>
            <a:ext cx="10560050" cy="2785110"/>
          </a:xfrm>
          <a:prstGeom prst="roundRect">
            <a:avLst>
              <a:gd name="adj" fmla="val 3534"/>
            </a:avLst>
          </a:prstGeom>
          <a:solidFill>
            <a:srgbClr val="FFFFFF"/>
          </a:solidFill>
          <a:ln w="6350">
            <a:solidFill>
              <a:srgbClr val="E4E0D6"/>
            </a:solidFill>
            <a:prstDash val="solid"/>
          </a:ln>
        </p:spPr>
      </p:sp>
      <p:pic>
        <p:nvPicPr>
          <p:cNvPr id="5" name="Image 0" descr="Four 5 by 5 maps over resistance cost and natural cell death. First: share of situations where R1 and R4 best plans differ, 0 almost everywhere. Second: R3 survival loss 0.20 to 0.23. Third: R3 cost on other goals 0.17 to 0.26. Fourth: share of weeks R3 is at its target mix, 0.004 to 0.015."/>
          <p:cNvPicPr>
            <a:picLocks noChangeAspect="1"/>
          </p:cNvPicPr>
          <p:nvPr/>
        </p:nvPicPr>
        <p:blipFill>
          <a:blip r:embed="rId3"/>
          <a:srcRect t="-58" b="-58"/>
          <a:stretch/>
        </p:blipFill>
        <p:spPr>
          <a:xfrm>
            <a:off x="919480" y="1813570"/>
            <a:ext cx="10353040" cy="2578100"/>
          </a:xfrm>
          <a:prstGeom prst="rect">
            <a:avLst/>
          </a:prstGeom>
        </p:spPr>
      </p:pic>
      <p:sp>
        <p:nvSpPr>
          <p:cNvPr id="6" name="Text 3"/>
          <p:cNvSpPr/>
          <p:nvPr/>
        </p:nvSpPr>
        <p:spPr>
          <a:xfrm>
            <a:off x="812800" y="467613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each panel is the 25-patient map (across = resistance cost, up = natural cell death). From left: where R1 and R4 differ · R3’s survival loss · R3’s cost on other goals · share of weeks R3 is at its target mix.</a:t>
            </a:r>
            <a:endParaRPr lang="en-US" sz="13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C1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From “a few patients” to “a whole region”</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and R4 act the same at all 25 patients</a:t>
            </a:r>
            <a:r>
              <a:rPr lang="en-US" sz="1450" dirty="0">
                <a:solidFill>
                  <a:srgbClr val="3F4A5C"/>
                </a:solidFill>
                <a:latin typeface="Nunito Sans" pitchFamily="34" charset="0"/>
                <a:ea typeface="Nunito Sans" pitchFamily="34" charset="-122"/>
                <a:cs typeface="Nunito Sans" pitchFamily="34" charset="-120"/>
              </a:rPr>
              <a:t> (they differ in at most 0.3% of situations).</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survives 20–23% less everywhere</a:t>
            </a:r>
            <a:r>
              <a:rPr lang="en-US" sz="1450" dirty="0">
                <a:solidFill>
                  <a:srgbClr val="3F4A5C"/>
                </a:solidFill>
                <a:latin typeface="Nunito Sans" pitchFamily="34" charset="0"/>
                <a:ea typeface="Nunito Sans" pitchFamily="34" charset="-122"/>
                <a:cs typeface="Nunito Sans" pitchFamily="34" charset="-120"/>
              </a:rPr>
              <a:t> and costs 17–26% on the other goals.</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R2 and R4 cost each other at most 2%.</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R3 holds its target mix at most 1.5% of the time,</a:t>
            </a:r>
            <a:r>
              <a:rPr lang="en-US" sz="1450" dirty="0">
                <a:solidFill>
                  <a:srgbClr val="3F4A5C"/>
                </a:solidFill>
                <a:latin typeface="Nunito Sans" pitchFamily="34" charset="0"/>
                <a:ea typeface="Nunito Sans" pitchFamily="34" charset="-122"/>
                <a:cs typeface="Nunito Sans" pitchFamily="34" charset="-120"/>
              </a:rPr>
              <a:t> on every patient.</a:t>
            </a:r>
            <a:endParaRPr lang="en-US" sz="14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D1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if a half dose is allowed?</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So far the drug is all or nothing. Does a half dose help, and change which goal wins?</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Three choices each week: no drug, half dose, full dose.</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First we checked what each fixed dose does on its own.</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Then: best plan per goal, and 10 AIs per goal with three doses.</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R1’s drug-free bonus pays only at zero dose; we also tried a version paid in proportion to drug withheld (“R1p”).</a:t>
            </a:r>
            <a:endParaRPr lang="en-US" sz="15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D1 · RESULTS (1 OF 4)</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What a fixed dose does on its own</a:t>
            </a:r>
            <a:endParaRPr lang="en-US" sz="2800" dirty="0"/>
          </a:p>
        </p:txBody>
      </p:sp>
      <p:sp>
        <p:nvSpPr>
          <p:cNvPr id="4" name="Shape 2"/>
          <p:cNvSpPr/>
          <p:nvPr/>
        </p:nvSpPr>
        <p:spPr>
          <a:xfrm>
            <a:off x="815975" y="1710035"/>
            <a:ext cx="10560050" cy="2924810"/>
          </a:xfrm>
          <a:prstGeom prst="roundRect">
            <a:avLst>
              <a:gd name="adj" fmla="val 3365"/>
            </a:avLst>
          </a:prstGeom>
          <a:solidFill>
            <a:srgbClr val="FFFFFF"/>
          </a:solidFill>
          <a:ln w="6350">
            <a:solidFill>
              <a:srgbClr val="E4E0D6"/>
            </a:solidFill>
            <a:prstDash val="solid"/>
          </a:ln>
        </p:spPr>
      </p:sp>
      <p:pic>
        <p:nvPicPr>
          <p:cNvPr id="5" name="Image 0" descr="Tumour, sensitive cells and resistant cells over time under a constant dose. No drug fails at 41 days, half dose at 162, a two-thirds dose at 919 with sensitive cells held flat, full dose at 452 after resistant cells take over."/>
          <p:cNvPicPr>
            <a:picLocks noChangeAspect="1"/>
          </p:cNvPicPr>
          <p:nvPr/>
        </p:nvPicPr>
        <p:blipFill>
          <a:blip r:embed="rId3"/>
          <a:srcRect t="-24" b="-24"/>
          <a:stretch/>
        </p:blipFill>
        <p:spPr>
          <a:xfrm>
            <a:off x="919480" y="1813570"/>
            <a:ext cx="10353040" cy="2717800"/>
          </a:xfrm>
          <a:prstGeom prst="rect">
            <a:avLst/>
          </a:prstGeom>
        </p:spPr>
      </p:pic>
      <p:sp>
        <p:nvSpPr>
          <p:cNvPr id="6" name="Text 3"/>
          <p:cNvSpPr/>
          <p:nvPr/>
        </p:nvSpPr>
        <p:spPr>
          <a:xfrm>
            <a:off x="812800" y="481583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whole tumour, middle = sensitive cells, right = resistant cells, each under one constant dose. Days to failure: no drug 41 · half dose 162 · 2/3 dose 919 · full dose 452.</a:t>
            </a:r>
            <a:endParaRPr lang="en-US" sz="13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D1 · RESULTS (2 OF 4)</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Best plans with three doses</a:t>
            </a:r>
            <a:endParaRPr lang="en-US" sz="2800" dirty="0"/>
          </a:p>
        </p:txBody>
      </p:sp>
      <p:sp>
        <p:nvSpPr>
          <p:cNvPr id="4" name="Shape 2"/>
          <p:cNvSpPr/>
          <p:nvPr/>
        </p:nvSpPr>
        <p:spPr>
          <a:xfrm>
            <a:off x="815975" y="1710035"/>
            <a:ext cx="10560050" cy="2867660"/>
          </a:xfrm>
          <a:prstGeom prst="roundRect">
            <a:avLst>
              <a:gd name="adj" fmla="val 3432"/>
            </a:avLst>
          </a:prstGeom>
          <a:solidFill>
            <a:srgbClr val="FFFFFF"/>
          </a:solidFill>
          <a:ln w="6350">
            <a:solidFill>
              <a:srgbClr val="E4E0D6"/>
            </a:solidFill>
            <a:prstDash val="solid"/>
          </a:ln>
        </p:spPr>
      </p:sp>
      <p:pic>
        <p:nvPicPr>
          <p:cNvPr id="5" name="Image 0" descr="Best-plan maps with three doses. R1 (2038 days) uses only no drug and full dose. R2 (2100), R3 (1695) and R4 (2143) use the half dose along the strip just below the failure line."/>
          <p:cNvPicPr>
            <a:picLocks noChangeAspect="1"/>
          </p:cNvPicPr>
          <p:nvPr/>
        </p:nvPicPr>
        <p:blipFill>
          <a:blip r:embed="rId3"/>
          <a:srcRect t="-19" b="-19"/>
          <a:stretch/>
        </p:blipFill>
        <p:spPr>
          <a:xfrm>
            <a:off x="919480" y="1813570"/>
            <a:ext cx="10353040" cy="2660650"/>
          </a:xfrm>
          <a:prstGeom prst="rect">
            <a:avLst/>
          </a:prstGeom>
        </p:spPr>
      </p:pic>
      <p:sp>
        <p:nvSpPr>
          <p:cNvPr id="6" name="Text 3"/>
          <p:cNvSpPr/>
          <p:nvPr/>
        </p:nvSpPr>
        <p:spPr>
          <a:xfrm>
            <a:off x="812800" y="47586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light = no drug, mid-blue = half dose, dark = full dose; orange line = the tumour’s path. Days: R1 2038 · R2 2100 · R3 1695 · R4 2143.</a:t>
            </a:r>
            <a:endParaRPr lang="en-US" sz="1300" dirty="0"/>
          </a:p>
        </p:txBody>
      </p:sp>
      <p:sp>
        <p:nvSpPr>
          <p:cNvPr id="7" name="Text 4"/>
          <p:cNvSpPr/>
          <p:nvPr/>
        </p:nvSpPr>
        <p:spPr>
          <a:xfrm>
            <a:off x="812800" y="539879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R1 never uses the half dose. R2, R3 and R4 use it on 43–55% of weeks.</a:t>
            </a:r>
            <a:endParaRPr lang="en-US" sz="13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D1 · RESULTS (3 OF 4)</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AIs with three doses: R1 now trails R2 and R4</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with three doses; own-goal scores R1 0.87, R2 0.85, R3 0.77, R4 0.86. Right: days per AI: R1 about 1752, R2 about 1869, R3 about 1661, R4 about 1819."/>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every strategy on every goal (as in E4); right = days per AI. Middles: R1 1752 · R2 1869 · R3 1661 · R4 1819 (two doses: 1744 · 1726 · 1494 · 1751).</a:t>
            </a:r>
            <a:endParaRPr lang="en-US" sz="13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D1 · RESULTS (4 OF 4)</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All six pairs of goals now differ</a:t>
            </a:r>
            <a:endParaRPr lang="en-US" sz="2800" dirty="0"/>
          </a:p>
        </p:txBody>
      </p:sp>
      <p:sp>
        <p:nvSpPr>
          <p:cNvPr id="4" name="Shape 2"/>
          <p:cNvSpPr/>
          <p:nvPr/>
        </p:nvSpPr>
        <p:spPr>
          <a:xfrm>
            <a:off x="815975" y="1710035"/>
            <a:ext cx="10560050" cy="3401060"/>
          </a:xfrm>
          <a:prstGeom prst="roundRect">
            <a:avLst>
              <a:gd name="adj" fmla="val 2894"/>
            </a:avLst>
          </a:prstGeom>
          <a:solidFill>
            <a:srgbClr val="FFFFFF"/>
          </a:solidFill>
          <a:ln w="6350">
            <a:solidFill>
              <a:srgbClr val="E4E0D6"/>
            </a:solidFill>
            <a:prstDash val="solid"/>
          </a:ln>
        </p:spPr>
      </p:sp>
      <p:pic>
        <p:nvPicPr>
          <p:cNvPr id="5" name="Image 0" descr="Left: chance of giving any drug against tumour size for three-dose AIs. Middle and right: difference between every pair of AIs; R1 now differs clearly from R4 as well as from R2 and R3."/>
          <p:cNvPicPr>
            <a:picLocks noChangeAspect="1"/>
          </p:cNvPicPr>
          <p:nvPr/>
        </p:nvPicPr>
        <p:blipFill>
          <a:blip r:embed="rId3"/>
          <a:srcRect t="-35" b="-35"/>
          <a:stretch/>
        </p:blipFill>
        <p:spPr>
          <a:xfrm>
            <a:off x="919480" y="1813570"/>
            <a:ext cx="10353040" cy="3194050"/>
          </a:xfrm>
          <a:prstGeom prst="rect">
            <a:avLst/>
          </a:prstGeom>
        </p:spPr>
      </p:pic>
      <p:sp>
        <p:nvSpPr>
          <p:cNvPr id="6" name="Text 3"/>
          <p:cNvSpPr/>
          <p:nvPr/>
        </p:nvSpPr>
        <p:spPr>
          <a:xfrm>
            <a:off x="812800" y="5292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when each AI gives any drug. Middle and right = differences between AIs; darker = more different, diagonal blocks = luck level. R1 vs R4 now differ 4× more than luck.</a:t>
            </a:r>
            <a:endParaRPr lang="en-US" sz="13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D1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Half doses help, and expose a detail in R1</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 half dose adds time:</a:t>
            </a:r>
            <a:r>
              <a:rPr lang="en-US" sz="1450" dirty="0">
                <a:solidFill>
                  <a:srgbClr val="3F4A5C"/>
                </a:solidFill>
                <a:latin typeface="Nunito Sans" pitchFamily="34" charset="0"/>
                <a:ea typeface="Nunito Sans" pitchFamily="34" charset="-122"/>
                <a:cs typeface="Nunito Sans" pitchFamily="34" charset="-120"/>
              </a:rPr>
              <a:t> +70–105 days for the best plans of R2, R3, R4, and +68–168 days for their AIs.</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R1 ignores it:</a:t>
            </a:r>
            <a:r>
              <a:rPr lang="en-US" sz="1450" dirty="0">
                <a:solidFill>
                  <a:srgbClr val="3F4A5C"/>
                </a:solidFill>
                <a:latin typeface="Nunito Sans" pitchFamily="34" charset="0"/>
                <a:ea typeface="Nunito Sans" pitchFamily="34" charset="-122"/>
                <a:cs typeface="Nunito Sans" pitchFamily="34" charset="-120"/>
              </a:rPr>
              <a:t> its drug-free bonus only pays at zero dose, so R1 and R4 split (2038 vs 2143 days).</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Fix the bonus and R1 = R4 returns:</a:t>
            </a:r>
            <a:r>
              <a:rPr lang="en-US" sz="1450" dirty="0">
                <a:solidFill>
                  <a:srgbClr val="3F4A5C"/>
                </a:solidFill>
                <a:latin typeface="Nunito Sans" pitchFamily="34" charset="0"/>
                <a:ea typeface="Nunito Sans" pitchFamily="34" charset="-122"/>
                <a:cs typeface="Nunito Sans" pitchFamily="34" charset="-120"/>
              </a:rPr>
              <a:t> paid in proportion to drug withheld (R1p), it gives exactly R4’s plan.</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AIs learn the half dose:</a:t>
            </a:r>
            <a:r>
              <a:rPr lang="en-US" sz="1450" dirty="0">
                <a:solidFill>
                  <a:srgbClr val="3F4A5C"/>
                </a:solidFill>
                <a:latin typeface="Nunito Sans" pitchFamily="34" charset="0"/>
                <a:ea typeface="Nunito Sans" pitchFamily="34" charset="-122"/>
                <a:cs typeface="Nunito Sans" pitchFamily="34" charset="-120"/>
              </a:rPr>
              <a:t> R2, R3 and R4 AIs use it on about half of all weeks.</a:t>
            </a:r>
            <a:endParaRPr lang="en-US" sz="14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D2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How many dose levels are worth having?</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If a half dose helps, do more levels help more, for the planner and for the AI?</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Dose sets: 2 levels {0, 1}, 3 levels {0, ½, 1}, 5 levels {0, ¼, ½, ¾, 1}.</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Plus {0, ⅔, 1}: ⅔ is the dose that exactly stops sensitive cells growing.</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best plan for every set and every goal.</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10 AIs per goal with 5 levels, compared with the 2-level (E3) and 3-level (D1) AIs.</a:t>
            </a:r>
            <a:endParaRPr lang="en-US" sz="15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D2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The planner gains from levels; the AI does not</a:t>
            </a:r>
            <a:endParaRPr lang="en-US" sz="2800" dirty="0"/>
          </a:p>
        </p:txBody>
      </p:sp>
      <p:sp>
        <p:nvSpPr>
          <p:cNvPr id="4" name="Shape 2"/>
          <p:cNvSpPr/>
          <p:nvPr/>
        </p:nvSpPr>
        <p:spPr>
          <a:xfrm>
            <a:off x="815975" y="1710035"/>
            <a:ext cx="7014845" cy="2590800"/>
          </a:xfrm>
          <a:prstGeom prst="roundRect">
            <a:avLst>
              <a:gd name="adj" fmla="val 3799"/>
            </a:avLst>
          </a:prstGeom>
          <a:solidFill>
            <a:srgbClr val="FFFFFF"/>
          </a:solidFill>
          <a:ln w="6350">
            <a:solidFill>
              <a:srgbClr val="E4E0D6"/>
            </a:solidFill>
            <a:prstDash val="solid"/>
          </a:ln>
        </p:spPr>
      </p:sp>
      <p:pic>
        <p:nvPicPr>
          <p:cNvPr id="5" name="Image 0" descr="Five-level AIs: left, score table on every goal; right, days per AI, R1 about 1735, R2 about 1820, R3 about 1626, R4 about 1776."/>
          <p:cNvPicPr>
            <a:picLocks noChangeAspect="1"/>
          </p:cNvPicPr>
          <p:nvPr/>
        </p:nvPicPr>
        <p:blipFill>
          <a:blip r:embed="rId3"/>
          <a:srcRect t="-10" b="-10"/>
          <a:stretch/>
        </p:blipFill>
        <p:spPr>
          <a:xfrm>
            <a:off x="919480" y="1813570"/>
            <a:ext cx="5588000" cy="2101850"/>
          </a:xfrm>
          <a:prstGeom prst="rect">
            <a:avLst/>
          </a:prstGeom>
        </p:spPr>
      </p:pic>
      <p:sp>
        <p:nvSpPr>
          <p:cNvPr id="6" name="Text 3"/>
          <p:cNvSpPr/>
          <p:nvPr/>
        </p:nvSpPr>
        <p:spPr>
          <a:xfrm>
            <a:off x="919480" y="3991620"/>
            <a:ext cx="701207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A5C"/>
                </a:solidFill>
                <a:latin typeface="Nunito Sans" pitchFamily="34" charset="0"/>
                <a:ea typeface="Nunito Sans" pitchFamily="34" charset="-122"/>
                <a:cs typeface="Nunito Sans" pitchFamily="34" charset="-120"/>
              </a:rPr>
              <a:t>5-level AIs: every strategy on every goal, and days per AI (R1 1735 · R2 1820 · R3 1626 · R4 1776).</a:t>
            </a:r>
            <a:endParaRPr lang="en-US" sz="1200" dirty="0"/>
          </a:p>
        </p:txBody>
      </p:sp>
      <p:sp>
        <p:nvSpPr>
          <p:cNvPr id="7" name="Shape 4"/>
          <p:cNvSpPr/>
          <p:nvPr/>
        </p:nvSpPr>
        <p:spPr>
          <a:xfrm>
            <a:off x="8011795" y="1706860"/>
            <a:ext cx="3367405" cy="1666240"/>
          </a:xfrm>
          <a:prstGeom prst="rect">
            <a:avLst/>
          </a:prstGeom>
          <a:solidFill>
            <a:srgbClr val="FFFFFF"/>
          </a:solidFill>
          <a:ln/>
        </p:spPr>
      </p:sp>
      <p:sp>
        <p:nvSpPr>
          <p:cNvPr id="8" name="Shape 5"/>
          <p:cNvSpPr/>
          <p:nvPr/>
        </p:nvSpPr>
        <p:spPr>
          <a:xfrm>
            <a:off x="11376025" y="1706860"/>
            <a:ext cx="0" cy="1666240"/>
          </a:xfrm>
          <a:prstGeom prst="line">
            <a:avLst/>
          </a:prstGeom>
          <a:noFill/>
          <a:ln w="6350">
            <a:solidFill>
              <a:srgbClr val="E4E0D6"/>
            </a:solidFill>
            <a:prstDash val="solid"/>
          </a:ln>
        </p:spPr>
      </p:sp>
      <p:sp>
        <p:nvSpPr>
          <p:cNvPr id="9" name="Shape 6"/>
          <p:cNvSpPr/>
          <p:nvPr/>
        </p:nvSpPr>
        <p:spPr>
          <a:xfrm>
            <a:off x="8011795" y="3369925"/>
            <a:ext cx="3367405" cy="0"/>
          </a:xfrm>
          <a:prstGeom prst="line">
            <a:avLst/>
          </a:prstGeom>
          <a:noFill/>
          <a:ln w="6350">
            <a:solidFill>
              <a:srgbClr val="E4E0D6"/>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021955" y="1717020"/>
          <a:ext cx="3352165" cy="1651000"/>
        </p:xfrm>
        <a:graphic>
          <a:graphicData uri="http://schemas.openxmlformats.org/drawingml/2006/table">
            <a:tbl>
              <a:tblPr/>
              <a:tblGrid>
                <a:gridCol w="1340866">
                  <a:extLst>
                    <a:ext uri="{9D8B030D-6E8A-4147-A177-3AD203B41FA5}">
                      <a16:colId xmlns:a16="http://schemas.microsoft.com/office/drawing/2014/main" val="20000"/>
                    </a:ext>
                  </a:extLst>
                </a:gridCol>
                <a:gridCol w="670433">
                  <a:extLst>
                    <a:ext uri="{9D8B030D-6E8A-4147-A177-3AD203B41FA5}">
                      <a16:colId xmlns:a16="http://schemas.microsoft.com/office/drawing/2014/main" val="20001"/>
                    </a:ext>
                  </a:extLst>
                </a:gridCol>
                <a:gridCol w="670433">
                  <a:extLst>
                    <a:ext uri="{9D8B030D-6E8A-4147-A177-3AD203B41FA5}">
                      <a16:colId xmlns:a16="http://schemas.microsoft.com/office/drawing/2014/main" val="20002"/>
                    </a:ext>
                  </a:extLst>
                </a:gridCol>
                <a:gridCol w="670433">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F4F1EA"/>
                          </a:solidFill>
                          <a:latin typeface="Nunito Sans" pitchFamily="34" charset="0"/>
                          <a:ea typeface="Nunito Sans" pitchFamily="34" charset="-122"/>
                          <a:cs typeface="Nunito Sans" pitchFamily="34" charset="-120"/>
                        </a:rPr>
                        <a:t>Best plan, days</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680"/>
                        </a:lnSpc>
                        <a:buNone/>
                      </a:pPr>
                      <a:r>
                        <a:rPr lang="en-US" sz="1200" b="1" dirty="0">
                          <a:solidFill>
                            <a:srgbClr val="F4F1EA"/>
                          </a:solidFill>
                          <a:latin typeface="Nunito Sans" pitchFamily="34" charset="0"/>
                          <a:ea typeface="Nunito Sans" pitchFamily="34" charset="-122"/>
                          <a:cs typeface="Nunito Sans" pitchFamily="34" charset="-120"/>
                        </a:rPr>
                        <a:t>R2</a:t>
                      </a:r>
                      <a:endParaRPr lang="en-US" sz="1200" dirty="0">
                        <a:latin typeface="Nunito Sans" charset="0"/>
                        <a:ea typeface="Nunito Sans" charset="0"/>
                        <a:cs typeface="Nunito Sans" charset="0"/>
                      </a:endParaRPr>
                    </a:p>
                  </a:txBody>
                  <a:tcPr marL="53340" marR="53340" marT="53340" marB="5334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680"/>
                        </a:lnSpc>
                        <a:buNone/>
                      </a:pPr>
                      <a:r>
                        <a:rPr lang="en-US" sz="1200" b="1" dirty="0">
                          <a:solidFill>
                            <a:srgbClr val="F4F1EA"/>
                          </a:solidFill>
                          <a:latin typeface="Nunito Sans" pitchFamily="34" charset="0"/>
                          <a:ea typeface="Nunito Sans" pitchFamily="34" charset="-122"/>
                          <a:cs typeface="Nunito Sans" pitchFamily="34" charset="-120"/>
                        </a:rPr>
                        <a:t>R3</a:t>
                      </a:r>
                      <a:endParaRPr lang="en-US" sz="1200" dirty="0">
                        <a:latin typeface="Nunito Sans" charset="0"/>
                        <a:ea typeface="Nunito Sans" charset="0"/>
                        <a:cs typeface="Nunito Sans" charset="0"/>
                      </a:endParaRPr>
                    </a:p>
                  </a:txBody>
                  <a:tcPr marL="53340" marR="53340" marT="53340" marB="5334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680"/>
                        </a:lnSpc>
                        <a:buNone/>
                      </a:pPr>
                      <a:r>
                        <a:rPr lang="en-US" sz="1200" b="1" dirty="0">
                          <a:solidFill>
                            <a:srgbClr val="F4F1EA"/>
                          </a:solidFill>
                          <a:latin typeface="Nunito Sans" pitchFamily="34" charset="0"/>
                          <a:ea typeface="Nunito Sans" pitchFamily="34" charset="-122"/>
                          <a:cs typeface="Nunito Sans" pitchFamily="34" charset="-120"/>
                        </a:rPr>
                        <a:t>R4</a:t>
                      </a:r>
                      <a:endParaRPr lang="en-US" sz="1200" dirty="0">
                        <a:latin typeface="Nunito Sans" charset="0"/>
                        <a:ea typeface="Nunito Sans" charset="0"/>
                        <a:cs typeface="Nunito Sans" charset="0"/>
                      </a:endParaRPr>
                    </a:p>
                  </a:txBody>
                  <a:tcPr marL="53340" marR="53340" marT="53340" marB="5334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2 levels</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2030</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1625</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2038</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{0, ½, 1}</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2100</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1695</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2143</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{0, ⅔, 1}</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2142</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1724</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2185</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5 levels</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2135</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1737</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2205</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bl>
          </a:graphicData>
        </a:graphic>
      </p:graphicFrame>
      <p:sp>
        <p:nvSpPr>
          <p:cNvPr id="11" name="Shape 7"/>
          <p:cNvSpPr/>
          <p:nvPr/>
        </p:nvSpPr>
        <p:spPr>
          <a:xfrm>
            <a:off x="8011795" y="3500140"/>
            <a:ext cx="3367405" cy="1336040"/>
          </a:xfrm>
          <a:prstGeom prst="rect">
            <a:avLst/>
          </a:prstGeom>
          <a:solidFill>
            <a:srgbClr val="FFFFFF"/>
          </a:solidFill>
          <a:ln/>
        </p:spPr>
      </p:sp>
      <p:sp>
        <p:nvSpPr>
          <p:cNvPr id="12" name="Shape 8"/>
          <p:cNvSpPr/>
          <p:nvPr/>
        </p:nvSpPr>
        <p:spPr>
          <a:xfrm>
            <a:off x="11376025" y="3500140"/>
            <a:ext cx="0" cy="1336040"/>
          </a:xfrm>
          <a:prstGeom prst="line">
            <a:avLst/>
          </a:prstGeom>
          <a:noFill/>
          <a:ln w="6350">
            <a:solidFill>
              <a:srgbClr val="E4E0D6"/>
            </a:solidFill>
            <a:prstDash val="solid"/>
          </a:ln>
        </p:spPr>
      </p:sp>
      <p:sp>
        <p:nvSpPr>
          <p:cNvPr id="13" name="Shape 9"/>
          <p:cNvSpPr/>
          <p:nvPr/>
        </p:nvSpPr>
        <p:spPr>
          <a:xfrm>
            <a:off x="8011795" y="4833005"/>
            <a:ext cx="3367405" cy="0"/>
          </a:xfrm>
          <a:prstGeom prst="line">
            <a:avLst/>
          </a:prstGeom>
          <a:noFill/>
          <a:ln w="6350">
            <a:solidFill>
              <a:srgbClr val="E4E0D6"/>
            </a:solidFill>
            <a:prstDash val="solid"/>
          </a:ln>
        </p:spPr>
      </p:sp>
      <p:graphicFrame>
        <p:nvGraphicFramePr>
          <p:cNvPr id="14" name="Table 1"/>
          <p:cNvGraphicFramePr>
            <a:graphicFrameLocks noGrp="1"/>
          </p:cNvGraphicFramePr>
          <p:nvPr>
            <p:extLst>
              <p:ext uri="{D42A27DB-BD31-4B8C-83A1-F6EECF244321}">
                <p14:modId xmlns:p14="http://schemas.microsoft.com/office/powerpoint/2010/main" val="1579011935"/>
              </p:ext>
            </p:extLst>
          </p:nvPr>
        </p:nvGraphicFramePr>
        <p:xfrm>
          <a:off x="8021955" y="3510300"/>
          <a:ext cx="3352166" cy="1320800"/>
        </p:xfrm>
        <a:graphic>
          <a:graphicData uri="http://schemas.openxmlformats.org/drawingml/2006/table">
            <a:tbl>
              <a:tblPr/>
              <a:tblGrid>
                <a:gridCol w="938606">
                  <a:extLst>
                    <a:ext uri="{9D8B030D-6E8A-4147-A177-3AD203B41FA5}">
                      <a16:colId xmlns:a16="http://schemas.microsoft.com/office/drawing/2014/main" val="20000"/>
                    </a:ext>
                  </a:extLst>
                </a:gridCol>
                <a:gridCol w="603390">
                  <a:extLst>
                    <a:ext uri="{9D8B030D-6E8A-4147-A177-3AD203B41FA5}">
                      <a16:colId xmlns:a16="http://schemas.microsoft.com/office/drawing/2014/main" val="20001"/>
                    </a:ext>
                  </a:extLst>
                </a:gridCol>
                <a:gridCol w="603390">
                  <a:extLst>
                    <a:ext uri="{9D8B030D-6E8A-4147-A177-3AD203B41FA5}">
                      <a16:colId xmlns:a16="http://schemas.microsoft.com/office/drawing/2014/main" val="20002"/>
                    </a:ext>
                  </a:extLst>
                </a:gridCol>
                <a:gridCol w="603390">
                  <a:extLst>
                    <a:ext uri="{9D8B030D-6E8A-4147-A177-3AD203B41FA5}">
                      <a16:colId xmlns:a16="http://schemas.microsoft.com/office/drawing/2014/main" val="20003"/>
                    </a:ext>
                  </a:extLst>
                </a:gridCol>
                <a:gridCol w="603390">
                  <a:extLst>
                    <a:ext uri="{9D8B030D-6E8A-4147-A177-3AD203B41FA5}">
                      <a16:colId xmlns:a16="http://schemas.microsoft.com/office/drawing/2014/main" val="20004"/>
                    </a:ext>
                  </a:extLst>
                </a:gridCol>
              </a:tblGrid>
              <a:tr h="330200">
                <a:tc>
                  <a:txBody>
                    <a:bodyPr/>
                    <a:lstStyle/>
                    <a:p>
                      <a:pPr marL="0" indent="0">
                        <a:lnSpc>
                          <a:spcPts val="1680"/>
                        </a:lnSpc>
                        <a:buNone/>
                      </a:pPr>
                      <a:r>
                        <a:rPr lang="en-US" sz="1200" b="1" dirty="0">
                          <a:solidFill>
                            <a:srgbClr val="FAF8F3"/>
                          </a:solidFill>
                          <a:latin typeface="Nunito Sans" pitchFamily="34" charset="0"/>
                          <a:ea typeface="Nunito Sans" pitchFamily="34" charset="-122"/>
                          <a:cs typeface="Nunito Sans" pitchFamily="34" charset="-120"/>
                        </a:rPr>
                        <a:t>AI score</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marL="0" indent="0" algn="r">
                        <a:lnSpc>
                          <a:spcPts val="1680"/>
                        </a:lnSpc>
                        <a:buNone/>
                      </a:pPr>
                      <a:r>
                        <a:rPr lang="en-US" sz="1200" b="1" dirty="0">
                          <a:solidFill>
                            <a:srgbClr val="FAF8F3"/>
                          </a:solidFill>
                          <a:latin typeface="Nunito Sans" pitchFamily="34" charset="0"/>
                          <a:ea typeface="Nunito Sans" pitchFamily="34" charset="-122"/>
                          <a:cs typeface="Nunito Sans" pitchFamily="34" charset="-120"/>
                        </a:rPr>
                        <a:t>R1</a:t>
                      </a:r>
                      <a:endParaRPr lang="en-US" sz="1200" dirty="0">
                        <a:latin typeface="Nunito Sans" charset="0"/>
                        <a:ea typeface="Nunito Sans" charset="0"/>
                        <a:cs typeface="Nunito Sans" charset="0"/>
                      </a:endParaRPr>
                    </a:p>
                  </a:txBody>
                  <a:tcPr marL="53340" marR="53340" marT="53340" marB="53340">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marL="0" indent="0" algn="r">
                        <a:lnSpc>
                          <a:spcPts val="1680"/>
                        </a:lnSpc>
                        <a:buNone/>
                      </a:pPr>
                      <a:r>
                        <a:rPr lang="en-US" sz="1200" b="1" dirty="0">
                          <a:solidFill>
                            <a:srgbClr val="FAF8F3"/>
                          </a:solidFill>
                          <a:latin typeface="Nunito Sans" pitchFamily="34" charset="0"/>
                          <a:ea typeface="Nunito Sans" pitchFamily="34" charset="-122"/>
                          <a:cs typeface="Nunito Sans" pitchFamily="34" charset="-120"/>
                        </a:rPr>
                        <a:t>R2</a:t>
                      </a:r>
                      <a:endParaRPr lang="en-US" sz="1200" dirty="0">
                        <a:latin typeface="Nunito Sans" charset="0"/>
                        <a:ea typeface="Nunito Sans" charset="0"/>
                        <a:cs typeface="Nunito Sans" charset="0"/>
                      </a:endParaRPr>
                    </a:p>
                  </a:txBody>
                  <a:tcPr marL="53340" marR="53340" marT="53340" marB="53340">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marL="0" indent="0" algn="r">
                        <a:lnSpc>
                          <a:spcPts val="1680"/>
                        </a:lnSpc>
                        <a:buNone/>
                      </a:pPr>
                      <a:r>
                        <a:rPr lang="en-US" sz="1200" b="1" dirty="0">
                          <a:solidFill>
                            <a:srgbClr val="FAF8F3"/>
                          </a:solidFill>
                          <a:latin typeface="Nunito Sans" pitchFamily="34" charset="0"/>
                          <a:ea typeface="Nunito Sans" pitchFamily="34" charset="-122"/>
                          <a:cs typeface="Nunito Sans" pitchFamily="34" charset="-120"/>
                        </a:rPr>
                        <a:t>R3</a:t>
                      </a:r>
                      <a:endParaRPr lang="en-US" sz="1200" dirty="0">
                        <a:latin typeface="Nunito Sans" charset="0"/>
                        <a:ea typeface="Nunito Sans" charset="0"/>
                        <a:cs typeface="Nunito Sans" charset="0"/>
                      </a:endParaRPr>
                    </a:p>
                  </a:txBody>
                  <a:tcPr marL="53340" marR="53340" marT="53340" marB="53340">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tc>
                  <a:txBody>
                    <a:bodyPr/>
                    <a:lstStyle/>
                    <a:p>
                      <a:pPr marL="0" indent="0" algn="r">
                        <a:lnSpc>
                          <a:spcPts val="1680"/>
                        </a:lnSpc>
                        <a:buNone/>
                      </a:pPr>
                      <a:r>
                        <a:rPr lang="en-US" sz="1200" b="1" dirty="0">
                          <a:solidFill>
                            <a:srgbClr val="FAF8F3"/>
                          </a:solidFill>
                          <a:latin typeface="Nunito Sans" pitchFamily="34" charset="0"/>
                          <a:ea typeface="Nunito Sans" pitchFamily="34" charset="-122"/>
                          <a:cs typeface="Nunito Sans" pitchFamily="34" charset="-120"/>
                        </a:rPr>
                        <a:t>R4</a:t>
                      </a:r>
                      <a:endParaRPr lang="en-US" sz="1200" dirty="0">
                        <a:latin typeface="Nunito Sans" charset="0"/>
                        <a:ea typeface="Nunito Sans" charset="0"/>
                        <a:cs typeface="Nunito Sans" charset="0"/>
                      </a:endParaRPr>
                    </a:p>
                  </a:txBody>
                  <a:tcPr marL="53340" marR="53340" marT="53340" marB="53340">
                    <a:lnL w="12700" cap="flat" cmpd="sng" algn="ctr">
                      <a:solidFill>
                        <a:srgbClr val="26598D"/>
                      </a:solidFill>
                      <a:prstDash val="solid"/>
                      <a:round/>
                      <a:headEnd type="none" w="med" len="med"/>
                      <a:tailEnd type="none" w="med" len="med"/>
                    </a:lnL>
                    <a:lnR w="12700" cap="flat" cmpd="sng" algn="ctr">
                      <a:solidFill>
                        <a:srgbClr val="26598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6598D"/>
                      </a:solidFill>
                      <a:prstDash val="solid"/>
                      <a:round/>
                      <a:headEnd type="none" w="med" len="med"/>
                      <a:tailEnd type="none" w="med" len="med"/>
                    </a:lnB>
                    <a:solidFill>
                      <a:srgbClr val="2B6CB0"/>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2 levels</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0.87</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0.85</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0.76</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0.87</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598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3 levels</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0.87</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0.85</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0.77</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0.86</a:t>
                      </a:r>
                      <a:endParaRPr lang="en-US" sz="1200" dirty="0">
                        <a:latin typeface="Nunito Sans" charset="0"/>
                        <a:ea typeface="Nunito Sans" charset="0"/>
                        <a:cs typeface="Nunito Sans" charset="0"/>
                      </a:endParaRPr>
                    </a:p>
                  </a:txBody>
                  <a:tcPr marL="53340" marR="53340" marT="53340" marB="5334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D2B44"/>
                          </a:solidFill>
                          <a:latin typeface="Nunito Sans" pitchFamily="34" charset="0"/>
                          <a:ea typeface="Nunito Sans" pitchFamily="34" charset="-122"/>
                          <a:cs typeface="Nunito Sans" pitchFamily="34" charset="-120"/>
                        </a:rPr>
                        <a:t>5 levels</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0.87</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0.80</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0.73</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D2B44"/>
                          </a:solidFill>
                          <a:latin typeface="Nunito Sans" pitchFamily="34" charset="0"/>
                          <a:ea typeface="Nunito Sans" pitchFamily="34" charset="-122"/>
                          <a:cs typeface="Nunito Sans" pitchFamily="34" charset="-120"/>
                        </a:rPr>
                        <a:t>0.82</a:t>
                      </a:r>
                      <a:endParaRPr lang="en-US" sz="1200" dirty="0">
                        <a:latin typeface="Nunito Sans" charset="0"/>
                        <a:ea typeface="Nunito Sans" charset="0"/>
                        <a:cs typeface="Nunito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5" name="Text 10"/>
          <p:cNvSpPr/>
          <p:nvPr/>
        </p:nvSpPr>
        <p:spPr>
          <a:xfrm>
            <a:off x="812800" y="501397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top table = days for the best plan (R1 stays at 2038 throughout). Bottom table = each AI’s score on its own goal; with 5 levels, 2 of 10 R3 AIs did not train.</a:t>
            </a:r>
            <a:endParaRPr lang="en-US" sz="13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D2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More levels help the planner, not the AI</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best plan keeps improving</a:t>
            </a:r>
            <a:r>
              <a:rPr lang="en-US" sz="1450" dirty="0">
                <a:solidFill>
                  <a:srgbClr val="3F4A5C"/>
                </a:solidFill>
                <a:latin typeface="Nunito Sans" pitchFamily="34" charset="0"/>
                <a:ea typeface="Nunito Sans" pitchFamily="34" charset="-122"/>
                <a:cs typeface="Nunito Sans" pitchFamily="34" charset="-120"/>
              </a:rPr>
              <a:t> with more levels (R4: 2038 → 2143 → 2205 days).</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The AIs get worse from 3 to 5 levels</a:t>
            </a:r>
            <a:r>
              <a:rPr lang="en-US" sz="1450" dirty="0">
                <a:solidFill>
                  <a:srgbClr val="3F4A5C"/>
                </a:solidFill>
                <a:latin typeface="Nunito Sans" pitchFamily="34" charset="0"/>
                <a:ea typeface="Nunito Sans" pitchFamily="34" charset="-122"/>
                <a:cs typeface="Nunito Sans" pitchFamily="34" charset="-120"/>
              </a:rPr>
              <a:t> (R2 0.85 → 0.80): more choices are harder to learn.</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One smart middle dose is enough:</a:t>
            </a:r>
            <a:r>
              <a:rPr lang="en-US" sz="1450" dirty="0">
                <a:solidFill>
                  <a:srgbClr val="3F4A5C"/>
                </a:solidFill>
                <a:latin typeface="Nunito Sans" pitchFamily="34" charset="0"/>
                <a:ea typeface="Nunito Sans" pitchFamily="34" charset="-122"/>
                <a:cs typeface="Nunito Sans" pitchFamily="34" charset="-120"/>
              </a:rPr>
              <a:t> ⅔ gets most of the gain, and beats 5 levels for R2.</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R1 still almost never uses</a:t>
            </a:r>
            <a:r>
              <a:rPr lang="en-US" sz="1450" dirty="0">
                <a:solidFill>
                  <a:srgbClr val="3F4A5C"/>
                </a:solidFill>
                <a:latin typeface="Nunito Sans" pitchFamily="34" charset="0"/>
                <a:ea typeface="Nunito Sans" pitchFamily="34" charset="-122"/>
                <a:cs typeface="Nunito Sans" pitchFamily="34" charset="-120"/>
              </a:rPr>
              <a:t> a middle dose, at any number of levels.</a:t>
            </a:r>
            <a:endParaRPr lang="en-US" sz="14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D3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Does it matter how strong a half dose is?</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We assumed half the dose gives half the effect. What if real drugs don’t work that way?</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Three shapes: a half dose gives 71%, 50% or 25% of the full effect.</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No drug and full dose behave exactly as before, so the comparison is fair.</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re-solved the three-dose best plan for each shape and goal.</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measured the gain from the half dose and how often it is used.</a:t>
            </a:r>
            <a:endParaRPr lang="en-US" sz="15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D3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A weaker half dose gives a smaller gain</a:t>
            </a:r>
            <a:endParaRPr lang="en-US" sz="2800" dirty="0"/>
          </a:p>
        </p:txBody>
      </p:sp>
      <p:sp>
        <p:nvSpPr>
          <p:cNvPr id="4" name="Shape 2"/>
          <p:cNvSpPr/>
          <p:nvPr/>
        </p:nvSpPr>
        <p:spPr>
          <a:xfrm>
            <a:off x="812800" y="1783060"/>
            <a:ext cx="10566400" cy="1798320"/>
          </a:xfrm>
          <a:prstGeom prst="rect">
            <a:avLst/>
          </a:prstGeom>
          <a:solidFill>
            <a:srgbClr val="FFFFFF"/>
          </a:solidFill>
          <a:ln/>
        </p:spPr>
      </p:sp>
      <p:sp>
        <p:nvSpPr>
          <p:cNvPr id="5" name="Shape 3"/>
          <p:cNvSpPr/>
          <p:nvPr/>
        </p:nvSpPr>
        <p:spPr>
          <a:xfrm>
            <a:off x="11376025" y="1783060"/>
            <a:ext cx="0" cy="1798320"/>
          </a:xfrm>
          <a:prstGeom prst="line">
            <a:avLst/>
          </a:prstGeom>
          <a:noFill/>
          <a:ln w="6350">
            <a:solidFill>
              <a:srgbClr val="E4E0D6"/>
            </a:solidFill>
            <a:prstDash val="solid"/>
          </a:ln>
        </p:spPr>
      </p:sp>
      <p:sp>
        <p:nvSpPr>
          <p:cNvPr id="6" name="Shape 4"/>
          <p:cNvSpPr/>
          <p:nvPr/>
        </p:nvSpPr>
        <p:spPr>
          <a:xfrm>
            <a:off x="812800" y="3578205"/>
            <a:ext cx="10566400" cy="0"/>
          </a:xfrm>
          <a:prstGeom prst="line">
            <a:avLst/>
          </a:prstGeom>
          <a:noFill/>
          <a:ln w="6350">
            <a:solidFill>
              <a:srgbClr val="E4E0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93220"/>
          <a:ext cx="10551159" cy="1783080"/>
        </p:xfrm>
        <a:graphic>
          <a:graphicData uri="http://schemas.openxmlformats.org/drawingml/2006/table">
            <a:tbl>
              <a:tblPr/>
              <a:tblGrid>
                <a:gridCol w="2954325">
                  <a:extLst>
                    <a:ext uri="{9D8B030D-6E8A-4147-A177-3AD203B41FA5}">
                      <a16:colId xmlns:a16="http://schemas.microsoft.com/office/drawing/2014/main" val="20000"/>
                    </a:ext>
                  </a:extLst>
                </a:gridCol>
                <a:gridCol w="1477162">
                  <a:extLst>
                    <a:ext uri="{9D8B030D-6E8A-4147-A177-3AD203B41FA5}">
                      <a16:colId xmlns:a16="http://schemas.microsoft.com/office/drawing/2014/main" val="20001"/>
                    </a:ext>
                  </a:extLst>
                </a:gridCol>
                <a:gridCol w="1477162">
                  <a:extLst>
                    <a:ext uri="{9D8B030D-6E8A-4147-A177-3AD203B41FA5}">
                      <a16:colId xmlns:a16="http://schemas.microsoft.com/office/drawing/2014/main" val="20002"/>
                    </a:ext>
                  </a:extLst>
                </a:gridCol>
                <a:gridCol w="1477162">
                  <a:extLst>
                    <a:ext uri="{9D8B030D-6E8A-4147-A177-3AD203B41FA5}">
                      <a16:colId xmlns:a16="http://schemas.microsoft.com/office/drawing/2014/main" val="20003"/>
                    </a:ext>
                  </a:extLst>
                </a:gridCol>
                <a:gridCol w="1582674">
                  <a:extLst>
                    <a:ext uri="{9D8B030D-6E8A-4147-A177-3AD203B41FA5}">
                      <a16:colId xmlns:a16="http://schemas.microsoft.com/office/drawing/2014/main" val="20004"/>
                    </a:ext>
                  </a:extLst>
                </a:gridCol>
                <a:gridCol w="1582674">
                  <a:extLst>
                    <a:ext uri="{9D8B030D-6E8A-4147-A177-3AD203B41FA5}">
                      <a16:colId xmlns:a16="http://schemas.microsoft.com/office/drawing/2014/main" val="20005"/>
                    </a:ext>
                  </a:extLst>
                </a:gridCol>
              </a:tblGrid>
              <a:tr h="632460">
                <a:tc>
                  <a:txBody>
                    <a:bodyPr/>
                    <a:lstStyle/>
                    <a:p>
                      <a:pPr marL="0" indent="0">
                        <a:lnSpc>
                          <a:spcPts val="1960"/>
                        </a:lnSpc>
                        <a:buNone/>
                      </a:pPr>
                      <a:r>
                        <a:rPr lang="en-US" sz="1400" b="1" dirty="0">
                          <a:solidFill>
                            <a:srgbClr val="F4F1EA"/>
                          </a:solidFill>
                          <a:latin typeface="Nunito Sans" pitchFamily="34" charset="0"/>
                          <a:ea typeface="Nunito Sans" pitchFamily="34" charset="-122"/>
                          <a:cs typeface="Nunito Sans" pitchFamily="34" charset="-120"/>
                        </a:rPr>
                        <a:t>Half dose gives</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R2</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R3</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R4</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R4 gain</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960"/>
                        </a:lnSpc>
                        <a:buNone/>
                      </a:pPr>
                      <a:r>
                        <a:rPr lang="en-US" sz="1400" b="1" dirty="0">
                          <a:solidFill>
                            <a:srgbClr val="F4F1EA"/>
                          </a:solidFill>
                          <a:latin typeface="Nunito Sans" pitchFamily="34" charset="0"/>
                          <a:ea typeface="Nunito Sans" pitchFamily="34" charset="-122"/>
                          <a:cs typeface="Nunito Sans" pitchFamily="34" charset="-120"/>
                        </a:rPr>
                        <a:t>R4 half-dose weeks</a:t>
                      </a:r>
                      <a:endParaRPr lang="en-US" sz="1400" dirty="0">
                        <a:latin typeface="Nunito Sans" charset="0"/>
                        <a:ea typeface="Nunito Sans" charset="0"/>
                        <a:cs typeface="Nunito Sans" charset="0"/>
                      </a:endParaRPr>
                    </a:p>
                  </a:txBody>
                  <a:tcPr marL="62230" marR="62230" marT="62230" marB="62230">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71% of full effect</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2058</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1709</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2150</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+112</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74%</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50% (our default)</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2100</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1695</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2143</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+105</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53%</a:t>
                      </a:r>
                      <a:endParaRPr lang="en-US" sz="1400" dirty="0">
                        <a:latin typeface="Nunito Sans" charset="0"/>
                        <a:ea typeface="Nunito Sans" charset="0"/>
                        <a:cs typeface="Nunito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D2B44"/>
                          </a:solidFill>
                          <a:latin typeface="Nunito Sans" pitchFamily="34" charset="0"/>
                          <a:ea typeface="Nunito Sans" pitchFamily="34" charset="-122"/>
                          <a:cs typeface="Nunito Sans" pitchFamily="34" charset="-120"/>
                        </a:rPr>
                        <a:t>25% of full effect</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1995</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1660</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2094</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+56</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D2B44"/>
                          </a:solidFill>
                          <a:latin typeface="Nunito Sans" pitchFamily="34" charset="0"/>
                          <a:ea typeface="Nunito Sans" pitchFamily="34" charset="-122"/>
                          <a:cs typeface="Nunito Sans" pitchFamily="34" charset="-120"/>
                        </a:rPr>
                        <a:t>20%</a:t>
                      </a:r>
                      <a:endParaRPr lang="en-US" sz="1400" dirty="0">
                        <a:latin typeface="Nunito Sans" charset="0"/>
                        <a:ea typeface="Nunito Sans" charset="0"/>
                        <a:cs typeface="Nunito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812800" y="383540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days to failure for the three-dose best plan. “R4 gain” is compared with on/off only (2038 days). R1 stays at 2038 for every shape. No graph for this check.</a:t>
            </a:r>
            <a:endParaRPr lang="en-US" sz="13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D3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The drug’s curve sets the size, not the direction</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The half dose always helps R4,</a:t>
            </a:r>
            <a:r>
              <a:rPr lang="en-US" sz="1450" dirty="0">
                <a:solidFill>
                  <a:srgbClr val="3F4A5C"/>
                </a:solidFill>
                <a:latin typeface="Nunito Sans" pitchFamily="34" charset="0"/>
                <a:ea typeface="Nunito Sans" pitchFamily="34" charset="-122"/>
                <a:cs typeface="Nunito Sans" pitchFamily="34" charset="-120"/>
              </a:rPr>
              <a:t> by 56 to 112 days depending on the drug’s curve.</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 weaker half dose is used less:</a:t>
            </a:r>
            <a:r>
              <a:rPr lang="en-US" sz="1450" dirty="0">
                <a:solidFill>
                  <a:srgbClr val="3F4A5C"/>
                </a:solidFill>
                <a:latin typeface="Nunito Sans" pitchFamily="34" charset="0"/>
                <a:ea typeface="Nunito Sans" pitchFamily="34" charset="-122"/>
                <a:cs typeface="Nunito Sans" pitchFamily="34" charset="-120"/>
              </a:rPr>
              <a:t> 74% → 53% → 20% of weeks.</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Graded-dose numbers depend on the drug,</a:t>
            </a:r>
            <a:r>
              <a:rPr lang="en-US" sz="1450" dirty="0">
                <a:solidFill>
                  <a:srgbClr val="3F4A5C"/>
                </a:solidFill>
                <a:latin typeface="Nunito Sans" pitchFamily="34" charset="0"/>
                <a:ea typeface="Nunito Sans" pitchFamily="34" charset="-122"/>
                <a:cs typeface="Nunito Sans" pitchFamily="34" charset="-120"/>
              </a:rPr>
              <a:t> so D1 and D2 results should be read with that caveat.</a:t>
            </a:r>
            <a:endParaRPr lang="en-US" sz="14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D4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does a calmer schedule cost?</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Best plans switch almost every other week. What do we lose if switching is discouraged?</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 small penalty each time the dose changes, in 5 sizes from 0 to 0.1 (one week of survival is worth 0.1).</a:t>
            </a:r>
            <a:endParaRPr lang="en-US" sz="1500" dirty="0"/>
          </a:p>
        </p:txBody>
      </p:sp>
      <p:sp>
        <p:nvSpPr>
          <p:cNvPr id="9" name="Text 7"/>
          <p:cNvSpPr/>
          <p:nvPr/>
        </p:nvSpPr>
        <p:spPr>
          <a:xfrm>
            <a:off x="4419600" y="26035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6035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The planner now remembers last week’s dose so it can count switches.</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re-solved each goal’s best plan, with 2 and with 3 doses.</a:t>
            </a:r>
            <a:endParaRPr lang="en-US" sz="1500" dirty="0"/>
          </a:p>
        </p:txBody>
      </p:sp>
      <p:sp>
        <p:nvSpPr>
          <p:cNvPr id="13" name="Text 11"/>
          <p:cNvSpPr/>
          <p:nvPr/>
        </p:nvSpPr>
        <p:spPr>
          <a:xfrm>
            <a:off x="4419600" y="35991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Each calmer plan was judged on the original goal, without the penalty.</a:t>
            </a:r>
            <a:endParaRPr lang="en-US" sz="15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D4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Fewer switches cost surprisingly little</a:t>
            </a:r>
            <a:endParaRPr lang="en-US" sz="2800" dirty="0"/>
          </a:p>
        </p:txBody>
      </p:sp>
      <p:sp>
        <p:nvSpPr>
          <p:cNvPr id="4" name="Shape 2"/>
          <p:cNvSpPr/>
          <p:nvPr/>
        </p:nvSpPr>
        <p:spPr>
          <a:xfrm>
            <a:off x="815975" y="1710035"/>
            <a:ext cx="6836410" cy="3655060"/>
          </a:xfrm>
          <a:prstGeom prst="roundRect">
            <a:avLst>
              <a:gd name="adj" fmla="val 2693"/>
            </a:avLst>
          </a:prstGeom>
          <a:solidFill>
            <a:srgbClr val="FFFFFF"/>
          </a:solidFill>
          <a:ln w="6350">
            <a:solidFill>
              <a:srgbClr val="E4E0D6"/>
            </a:solidFill>
            <a:prstDash val="solid"/>
          </a:ln>
        </p:spPr>
      </p:sp>
      <p:pic>
        <p:nvPicPr>
          <p:cNvPr id="5" name="Image 0" descr="Share of the best plan’s benefit kept against switches per year, one line per goal. R1, R3 and R4 keep about 92 to 94% at 10 to 14 switches a year and 86 to 89% at 7 to 9; R2 drops to 65% at 5 switches."/>
          <p:cNvPicPr>
            <a:picLocks noChangeAspect="1"/>
          </p:cNvPicPr>
          <p:nvPr/>
        </p:nvPicPr>
        <p:blipFill>
          <a:blip r:embed="rId3"/>
          <a:srcRect l="-1" r="-1"/>
          <a:stretch/>
        </p:blipFill>
        <p:spPr>
          <a:xfrm>
            <a:off x="919480" y="1813570"/>
            <a:ext cx="6629400" cy="3448050"/>
          </a:xfrm>
          <a:prstGeom prst="rect">
            <a:avLst/>
          </a:prstGeom>
        </p:spPr>
      </p:pic>
      <p:sp>
        <p:nvSpPr>
          <p:cNvPr id="6" name="Text 3"/>
          <p:cNvSpPr/>
          <p:nvPr/>
        </p:nvSpPr>
        <p:spPr>
          <a:xfrm>
            <a:off x="7858760" y="2858145"/>
            <a:ext cx="3626053"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R1, 2 DOSES</a:t>
            </a:r>
            <a:endParaRPr lang="en-US" sz="1300" dirty="0"/>
          </a:p>
        </p:txBody>
      </p:sp>
      <p:sp>
        <p:nvSpPr>
          <p:cNvPr id="7" name="Text 4"/>
          <p:cNvSpPr/>
          <p:nvPr/>
        </p:nvSpPr>
        <p:spPr>
          <a:xfrm>
            <a:off x="7858760" y="3216275"/>
            <a:ext cx="422452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No penalty:</a:t>
            </a:r>
            <a:r>
              <a:rPr lang="en-US" sz="1400" dirty="0">
                <a:solidFill>
                  <a:srgbClr val="3F4A5C"/>
                </a:solidFill>
                <a:latin typeface="Nunito Sans" pitchFamily="34" charset="0"/>
                <a:ea typeface="Nunito Sans" pitchFamily="34" charset="-122"/>
                <a:cs typeface="Nunito Sans" pitchFamily="34" charset="-120"/>
              </a:rPr>
              <a:t> 28 switches a year, 2038 days</a:t>
            </a:r>
            <a:endParaRPr lang="en-US" sz="1400" dirty="0"/>
          </a:p>
        </p:txBody>
      </p:sp>
      <p:sp>
        <p:nvSpPr>
          <p:cNvPr id="8" name="Text 5"/>
          <p:cNvSpPr/>
          <p:nvPr/>
        </p:nvSpPr>
        <p:spPr>
          <a:xfrm>
            <a:off x="7858760" y="3592215"/>
            <a:ext cx="36260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Medium:</a:t>
            </a:r>
            <a:r>
              <a:rPr lang="en-US" sz="1400" dirty="0">
                <a:solidFill>
                  <a:srgbClr val="3F4A5C"/>
                </a:solidFill>
                <a:latin typeface="Nunito Sans" pitchFamily="34" charset="0"/>
                <a:ea typeface="Nunito Sans" pitchFamily="34" charset="-122"/>
                <a:cs typeface="Nunito Sans" pitchFamily="34" charset="-120"/>
              </a:rPr>
              <a:t> 14 a year, 1880 days, 93% kept</a:t>
            </a:r>
            <a:endParaRPr lang="en-US" sz="1400" dirty="0"/>
          </a:p>
        </p:txBody>
      </p:sp>
      <p:sp>
        <p:nvSpPr>
          <p:cNvPr id="9" name="Text 6"/>
          <p:cNvSpPr/>
          <p:nvPr/>
        </p:nvSpPr>
        <p:spPr>
          <a:xfrm>
            <a:off x="7858760" y="3968105"/>
            <a:ext cx="362605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44"/>
                </a:solidFill>
                <a:latin typeface="Nunito Sans" pitchFamily="34" charset="0"/>
                <a:ea typeface="Nunito Sans" pitchFamily="34" charset="-122"/>
                <a:cs typeface="Nunito Sans" pitchFamily="34" charset="-120"/>
              </a:rPr>
              <a:t>Strong:</a:t>
            </a:r>
            <a:r>
              <a:rPr lang="en-US" sz="1400" dirty="0">
                <a:solidFill>
                  <a:srgbClr val="3F4A5C"/>
                </a:solidFill>
                <a:latin typeface="Nunito Sans" pitchFamily="34" charset="0"/>
                <a:ea typeface="Nunito Sans" pitchFamily="34" charset="-122"/>
                <a:cs typeface="Nunito Sans" pitchFamily="34" charset="-120"/>
              </a:rPr>
              <a:t> 9 a year, 1755 days, 87% kept</a:t>
            </a:r>
            <a:endParaRPr lang="en-US" sz="1400" dirty="0"/>
          </a:p>
        </p:txBody>
      </p:sp>
      <p:sp>
        <p:nvSpPr>
          <p:cNvPr id="10" name="Text 7"/>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each line is one goal; each dot one penalty size (grey labels). Across = switches per year; up = share of the original best plan’s benefit kept. Top right = no penalty.</a:t>
            </a:r>
            <a:endParaRPr lang="en-US" sz="13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D4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Clinic-friendly schedules are cheap</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Halving the switches</a:t>
            </a:r>
            <a:r>
              <a:rPr lang="en-US" sz="1450" dirty="0">
                <a:solidFill>
                  <a:srgbClr val="3F4A5C"/>
                </a:solidFill>
                <a:latin typeface="Nunito Sans" pitchFamily="34" charset="0"/>
                <a:ea typeface="Nunito Sans" pitchFamily="34" charset="-122"/>
                <a:cs typeface="Nunito Sans" pitchFamily="34" charset="-120"/>
              </a:rPr>
              <a:t> keeps 92–94% of the benefit for R1, R3 and R4.</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At about 9 switches a year,</a:t>
            </a:r>
            <a:r>
              <a:rPr lang="en-US" sz="1450" dirty="0">
                <a:solidFill>
                  <a:srgbClr val="3F4A5C"/>
                </a:solidFill>
                <a:latin typeface="Nunito Sans" pitchFamily="34" charset="0"/>
                <a:ea typeface="Nunito Sans" pitchFamily="34" charset="-122"/>
                <a:cs typeface="Nunito Sans" pitchFamily="34" charset="-120"/>
              </a:rPr>
              <a:t> R1’s plan still lasts 1755 days, 55% longer than the best human rule.</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R2 pays most for calm:</a:t>
            </a:r>
            <a:r>
              <a:rPr lang="en-US" sz="1450" dirty="0">
                <a:solidFill>
                  <a:srgbClr val="3F4A5C"/>
                </a:solidFill>
                <a:latin typeface="Nunito Sans" pitchFamily="34" charset="0"/>
                <a:ea typeface="Nunito Sans" pitchFamily="34" charset="-122"/>
                <a:cs typeface="Nunito Sans" pitchFamily="34" charset="-120"/>
              </a:rPr>
              <a:t> at 5 switches a year it keeps only 65%.</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Simple, followable schedules exist</a:t>
            </a:r>
            <a:r>
              <a:rPr lang="en-US" sz="1450" dirty="0">
                <a:solidFill>
                  <a:srgbClr val="3F4A5C"/>
                </a:solidFill>
                <a:latin typeface="Nunito Sans" pitchFamily="34" charset="0"/>
                <a:ea typeface="Nunito Sans" pitchFamily="34" charset="-122"/>
                <a:cs typeface="Nunito Sans" pitchFamily="34" charset="-120"/>
              </a:rPr>
              <a:t> that keep most of the gain.</a:t>
            </a:r>
            <a:endParaRPr lang="en-US" sz="14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FE1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if sensitive cells can turn resistant?</a:t>
            </a:r>
            <a:endParaRPr lang="en-US" sz="3200" dirty="0"/>
          </a:p>
        </p:txBody>
      </p:sp>
      <p:sp>
        <p:nvSpPr>
          <p:cNvPr id="4" name="Shape 2"/>
          <p:cNvSpPr/>
          <p:nvPr/>
        </p:nvSpPr>
        <p:spPr>
          <a:xfrm>
            <a:off x="812800" y="1892300"/>
            <a:ext cx="3302000" cy="2011680"/>
          </a:xfrm>
          <a:prstGeom prst="roundRect">
            <a:avLst>
              <a:gd name="adj" fmla="val 6313"/>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12141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With ongoing mutation, does “lasting control” finally differ from survival?</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Every day a tiny share of sensitive cells turns resistant (mutation rate μ).</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 rule set in advance picked μ: the smallest rate where R4’s best plan departs from R1’s. That was 3 per 100,000 cells per day.</a:t>
            </a:r>
            <a:endParaRPr lang="en-US" sz="1500" dirty="0"/>
          </a:p>
        </p:txBody>
      </p:sp>
      <p:sp>
        <p:nvSpPr>
          <p:cNvPr id="11" name="Text 9"/>
          <p:cNvSpPr/>
          <p:nvPr/>
        </p:nvSpPr>
        <p:spPr>
          <a:xfrm>
            <a:off x="4419600" y="31013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31013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At that rate: 10 AIs per goal, cross-scoring and strategy comparison.</a:t>
            </a:r>
            <a:endParaRPr lang="en-US" sz="1500" dirty="0"/>
          </a:p>
        </p:txBody>
      </p:sp>
      <p:sp>
        <p:nvSpPr>
          <p:cNvPr id="13" name="Text 11"/>
          <p:cNvSpPr/>
          <p:nvPr/>
        </p:nvSpPr>
        <p:spPr>
          <a:xfrm>
            <a:off x="4419600" y="35991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5991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Everything else is unchanged from our main patient.</a:t>
            </a:r>
            <a:endParaRPr lang="en-US" sz="15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FE1 · RESULTS (1 OF 2)</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Mutation shortens survival for everyone</a:t>
            </a:r>
            <a:endParaRPr lang="en-US" sz="2800" dirty="0"/>
          </a:p>
        </p:txBody>
      </p:sp>
      <p:sp>
        <p:nvSpPr>
          <p:cNvPr id="4" name="Shape 2"/>
          <p:cNvSpPr/>
          <p:nvPr/>
        </p:nvSpPr>
        <p:spPr>
          <a:xfrm>
            <a:off x="815975" y="1710035"/>
            <a:ext cx="10560050" cy="3655060"/>
          </a:xfrm>
          <a:prstGeom prst="roundRect">
            <a:avLst>
              <a:gd name="adj" fmla="val 2693"/>
            </a:avLst>
          </a:prstGeom>
          <a:solidFill>
            <a:srgbClr val="FFFFFF"/>
          </a:solidFill>
          <a:ln w="6350">
            <a:solidFill>
              <a:srgbClr val="E4E0D6"/>
            </a:solidFill>
            <a:prstDash val="solid"/>
          </a:ln>
        </p:spPr>
      </p:sp>
      <p:pic>
        <p:nvPicPr>
          <p:cNvPr id="5" name="Image 0" descr="Left: score table with mutation; own-goal scores 0.84 to 0.90. Right: days per AI: R1 about 1112, R2 1112, R3 1067, R4 1116."/>
          <p:cNvPicPr>
            <a:picLocks noChangeAspect="1"/>
          </p:cNvPicPr>
          <p:nvPr/>
        </p:nvPicPr>
        <p:blipFill>
          <a:blip r:embed="rId3"/>
          <a:srcRect l="-3" r="-3"/>
          <a:stretch/>
        </p:blipFill>
        <p:spPr>
          <a:xfrm>
            <a:off x="1511300" y="1813570"/>
            <a:ext cx="9169400" cy="3448050"/>
          </a:xfrm>
          <a:prstGeom prst="rect">
            <a:avLst/>
          </a:prstGeom>
        </p:spPr>
      </p:pic>
      <p:sp>
        <p:nvSpPr>
          <p:cNvPr id="6" name="Text 3"/>
          <p:cNvSpPr/>
          <p:nvPr/>
        </p:nvSpPr>
        <p:spPr>
          <a:xfrm>
            <a:off x="812800" y="5546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every strategy on every goal; right = days per AI. Middles: R1 1112 · R2 1112 · R3 1067 · R4 1116. Best plans: R1 1246, R4 1240. Without mutation: 1744–1751.</a:t>
            </a:r>
            <a:endParaRPr lang="en-US" sz="13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FE1 · RESULTS (2 OF 2)</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The AIs still can’t tell R1 and R4 apart</a:t>
            </a:r>
            <a:endParaRPr lang="en-US" sz="2800" dirty="0"/>
          </a:p>
        </p:txBody>
      </p:sp>
      <p:sp>
        <p:nvSpPr>
          <p:cNvPr id="4" name="Shape 2"/>
          <p:cNvSpPr/>
          <p:nvPr/>
        </p:nvSpPr>
        <p:spPr>
          <a:xfrm>
            <a:off x="815975" y="1710035"/>
            <a:ext cx="10560050" cy="3401060"/>
          </a:xfrm>
          <a:prstGeom prst="roundRect">
            <a:avLst>
              <a:gd name="adj" fmla="val 2894"/>
            </a:avLst>
          </a:prstGeom>
          <a:solidFill>
            <a:srgbClr val="FFFFFF"/>
          </a:solidFill>
          <a:ln w="6350">
            <a:solidFill>
              <a:srgbClr val="E4E0D6"/>
            </a:solidFill>
            <a:prstDash val="solid"/>
          </a:ln>
        </p:spPr>
      </p:sp>
      <p:pic>
        <p:nvPicPr>
          <p:cNvPr id="5" name="Image 0" descr="Left: chance of treating against tumour size per AI with mutation. Middle and right: difference between every pair of AIs; R1 and R4 blocks look like copies of each other, R3 differs."/>
          <p:cNvPicPr>
            <a:picLocks noChangeAspect="1"/>
          </p:cNvPicPr>
          <p:nvPr/>
        </p:nvPicPr>
        <p:blipFill>
          <a:blip r:embed="rId3"/>
          <a:srcRect t="-35" b="-35"/>
          <a:stretch/>
        </p:blipFill>
        <p:spPr>
          <a:xfrm>
            <a:off x="919480" y="1813570"/>
            <a:ext cx="10353040" cy="3194050"/>
          </a:xfrm>
          <a:prstGeom prst="rect">
            <a:avLst/>
          </a:prstGeom>
        </p:spPr>
      </p:pic>
      <p:sp>
        <p:nvSpPr>
          <p:cNvPr id="6" name="Text 3"/>
          <p:cNvSpPr/>
          <p:nvPr/>
        </p:nvSpPr>
        <p:spPr>
          <a:xfrm>
            <a:off x="812800" y="529208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left = when each AI treats (thresholds R1 1.14, R2 1.15, R3 1.09, R4 1.14). Middle and right = differences between AIs; R1 vs R4 sits at the luck level (ratio 1.04, p = 0.18).</a:t>
            </a:r>
            <a:endParaRPr lang="en-US" sz="13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FE1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Mutation splits R1 and R4, but only on paper</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R4’s best plan leaves fewer resistant cells after a break</a:t>
            </a:r>
            <a:r>
              <a:rPr lang="en-US" sz="1450" dirty="0">
                <a:solidFill>
                  <a:srgbClr val="3F4A5C"/>
                </a:solidFill>
                <a:latin typeface="Nunito Sans" pitchFamily="34" charset="0"/>
                <a:ea typeface="Nunito Sans" pitchFamily="34" charset="-122"/>
                <a:cs typeface="Nunito Sans" pitchFamily="34" charset="-120"/>
              </a:rPr>
              <a:t> than R1’s (44% vs 49%), for 6 fewer days.</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It is the project’s first real difference</a:t>
            </a:r>
            <a:r>
              <a:rPr lang="en-US" sz="1450" dirty="0">
                <a:solidFill>
                  <a:srgbClr val="3F4A5C"/>
                </a:solidFill>
                <a:latin typeface="Nunito Sans" pitchFamily="34" charset="0"/>
                <a:ea typeface="Nunito Sans" pitchFamily="34" charset="-122"/>
                <a:cs typeface="Nunito Sans" pitchFamily="34" charset="-120"/>
              </a:rPr>
              <a:t> between lasting control and survival.</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But it is small,</a:t>
            </a:r>
            <a:r>
              <a:rPr lang="en-US" sz="1450" dirty="0">
                <a:solidFill>
                  <a:srgbClr val="3F4A5C"/>
                </a:solidFill>
                <a:latin typeface="Nunito Sans" pitchFamily="34" charset="0"/>
                <a:ea typeface="Nunito Sans" pitchFamily="34" charset="-122"/>
                <a:cs typeface="Nunito Sans" pitchFamily="34" charset="-120"/>
              </a:rPr>
              <a:t> and trained AIs cannot detect it (p = 0.18).</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Everyone fails sooner,</a:t>
            </a:r>
            <a:r>
              <a:rPr lang="en-US" sz="1450" dirty="0">
                <a:solidFill>
                  <a:srgbClr val="3F4A5C"/>
                </a:solidFill>
                <a:latin typeface="Nunito Sans" pitchFamily="34" charset="0"/>
                <a:ea typeface="Nunito Sans" pitchFamily="34" charset="-122"/>
                <a:cs typeface="Nunito Sans" pitchFamily="34" charset="-120"/>
              </a:rPr>
              <a:t> so the gap between goals shrinks (R1–R3: 45 days).</a:t>
            </a:r>
            <a:endParaRPr lang="en-US" sz="14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FE2 · METHOD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if resistant cells are only partly resistant?</a:t>
            </a:r>
            <a:endParaRPr lang="en-US" sz="3200" dirty="0"/>
          </a:p>
        </p:txBody>
      </p:sp>
      <p:sp>
        <p:nvSpPr>
          <p:cNvPr id="4" name="Shape 2"/>
          <p:cNvSpPr/>
          <p:nvPr/>
        </p:nvSpPr>
        <p:spPr>
          <a:xfrm>
            <a:off x="812800" y="1892300"/>
            <a:ext cx="3302000" cy="1714500"/>
          </a:xfrm>
          <a:prstGeom prst="roundRect">
            <a:avLst>
              <a:gd name="adj" fmla="val 7407"/>
            </a:avLst>
          </a:prstGeom>
          <a:solidFill>
            <a:srgbClr val="1D2B44"/>
          </a:solidFill>
          <a:ln/>
        </p:spPr>
      </p:sp>
      <p:sp>
        <p:nvSpPr>
          <p:cNvPr id="5" name="Text 3"/>
          <p:cNvSpPr/>
          <p:nvPr/>
        </p:nvSpPr>
        <p:spPr>
          <a:xfrm>
            <a:off x="1066800" y="21463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48F"/>
                </a:solidFill>
                <a:latin typeface="Nunito Sans" pitchFamily="34" charset="0"/>
                <a:ea typeface="Nunito Sans" pitchFamily="34" charset="-122"/>
                <a:cs typeface="Nunito Sans" pitchFamily="34" charset="-120"/>
              </a:rPr>
              <a:t>THE QUESTION</a:t>
            </a:r>
            <a:endParaRPr lang="en-US" sz="1200" dirty="0"/>
          </a:p>
        </p:txBody>
      </p:sp>
      <p:sp>
        <p:nvSpPr>
          <p:cNvPr id="6" name="Text 4"/>
          <p:cNvSpPr/>
          <p:nvPr/>
        </p:nvSpPr>
        <p:spPr>
          <a:xfrm>
            <a:off x="1066800" y="2461270"/>
            <a:ext cx="2877820"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4F1EA"/>
                </a:solidFill>
                <a:latin typeface="Rubik" pitchFamily="34" charset="0"/>
                <a:ea typeface="Rubik" pitchFamily="34" charset="-122"/>
                <a:cs typeface="Rubik" pitchFamily="34" charset="-120"/>
              </a:rPr>
              <a:t>If the drug also slowed resistant cells, could R3 finally hold its mix?</a:t>
            </a:r>
            <a:endParaRPr lang="en-US" sz="1800" dirty="0"/>
          </a:p>
        </p:txBody>
      </p:sp>
      <p:sp>
        <p:nvSpPr>
          <p:cNvPr id="7" name="Text 5"/>
          <p:cNvSpPr/>
          <p:nvPr/>
        </p:nvSpPr>
        <p:spPr>
          <a:xfrm>
            <a:off x="4419600" y="189230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1</a:t>
            </a:r>
            <a:endParaRPr lang="en-US" sz="1800" dirty="0"/>
          </a:p>
        </p:txBody>
      </p:sp>
      <p:sp>
        <p:nvSpPr>
          <p:cNvPr id="8" name="Text 6"/>
          <p:cNvSpPr/>
          <p:nvPr/>
        </p:nvSpPr>
        <p:spPr>
          <a:xfrm>
            <a:off x="4851400" y="189230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Resistant cells now feel a share ε of the drug, from 0 (none) to 0.5 (half).</a:t>
            </a:r>
            <a:endParaRPr lang="en-US" sz="1500" dirty="0"/>
          </a:p>
        </p:txBody>
      </p:sp>
      <p:sp>
        <p:nvSpPr>
          <p:cNvPr id="9" name="Text 7"/>
          <p:cNvSpPr/>
          <p:nvPr/>
        </p:nvSpPr>
        <p:spPr>
          <a:xfrm>
            <a:off x="4419600" y="239013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2</a:t>
            </a:r>
            <a:endParaRPr lang="en-US" sz="1800" dirty="0"/>
          </a:p>
        </p:txBody>
      </p:sp>
      <p:sp>
        <p:nvSpPr>
          <p:cNvPr id="10" name="Text 8"/>
          <p:cNvSpPr/>
          <p:nvPr/>
        </p:nvSpPr>
        <p:spPr>
          <a:xfrm>
            <a:off x="4851400" y="239013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Run on our main patient and on the turnover patient from A1.</a:t>
            </a:r>
            <a:endParaRPr lang="en-US" sz="1500" dirty="0"/>
          </a:p>
        </p:txBody>
      </p:sp>
      <p:sp>
        <p:nvSpPr>
          <p:cNvPr id="11" name="Text 9"/>
          <p:cNvSpPr/>
          <p:nvPr/>
        </p:nvSpPr>
        <p:spPr>
          <a:xfrm>
            <a:off x="4419600" y="288796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3</a:t>
            </a:r>
            <a:endParaRPr lang="en-US" sz="1800" dirty="0"/>
          </a:p>
        </p:txBody>
      </p:sp>
      <p:sp>
        <p:nvSpPr>
          <p:cNvPr id="12" name="Text 10"/>
          <p:cNvSpPr/>
          <p:nvPr/>
        </p:nvSpPr>
        <p:spPr>
          <a:xfrm>
            <a:off x="4851400" y="288796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Best plan for every goal and every ε (no AI training).</a:t>
            </a:r>
            <a:endParaRPr lang="en-US" sz="1500" dirty="0"/>
          </a:p>
        </p:txBody>
      </p:sp>
      <p:sp>
        <p:nvSpPr>
          <p:cNvPr id="13" name="Text 11"/>
          <p:cNvSpPr/>
          <p:nvPr/>
        </p:nvSpPr>
        <p:spPr>
          <a:xfrm>
            <a:off x="4419600" y="3385840"/>
            <a:ext cx="35560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B6CB0"/>
                </a:solidFill>
                <a:latin typeface="Rubik" pitchFamily="34" charset="0"/>
                <a:ea typeface="Rubik" pitchFamily="34" charset="-122"/>
                <a:cs typeface="Rubik" pitchFamily="34" charset="-120"/>
              </a:rPr>
              <a:t>4</a:t>
            </a:r>
            <a:endParaRPr lang="en-US" sz="1800" dirty="0"/>
          </a:p>
        </p:txBody>
      </p:sp>
      <p:sp>
        <p:nvSpPr>
          <p:cNvPr id="14" name="Text 12"/>
          <p:cNvSpPr/>
          <p:nvPr/>
        </p:nvSpPr>
        <p:spPr>
          <a:xfrm>
            <a:off x="4851400" y="3385840"/>
            <a:ext cx="672363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A5C"/>
                </a:solidFill>
                <a:latin typeface="Nunito Sans" pitchFamily="34" charset="0"/>
                <a:ea typeface="Nunito Sans" pitchFamily="34" charset="-122"/>
                <a:cs typeface="Nunito Sans" pitchFamily="34" charset="-120"/>
              </a:rPr>
              <a:t>We tracked R3’s loss, and whether the patient still fails within 30 years.</a:t>
            </a:r>
            <a:endParaRPr lang="en-US" sz="15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FE2 · RESULTS</a:t>
            </a:r>
            <a:endParaRPr lang="en-US" sz="1300" dirty="0"/>
          </a:p>
        </p:txBody>
      </p:sp>
      <p:sp>
        <p:nvSpPr>
          <p:cNvPr id="3" name="Text 1"/>
          <p:cNvSpPr>
            <a:spLocks noGrp="1"/>
          </p:cNvSpPr>
          <p:nvPr>
            <p:ph type="title"/>
          </p:nvPr>
        </p:nvSpPr>
        <p:spPr>
          <a:xfrm>
            <a:off x="812800" y="112013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B44"/>
                </a:solidFill>
                <a:latin typeface="Rubik" pitchFamily="34" charset="0"/>
                <a:ea typeface="Rubik" pitchFamily="34" charset="-122"/>
                <a:cs typeface="Rubik" pitchFamily="34" charset="-120"/>
              </a:rPr>
              <a:t>R3 loses about 20%, whatever ε is</a:t>
            </a:r>
            <a:endParaRPr lang="en-US" sz="2800" dirty="0"/>
          </a:p>
        </p:txBody>
      </p:sp>
      <p:sp>
        <p:nvSpPr>
          <p:cNvPr id="4" name="Shape 2"/>
          <p:cNvSpPr/>
          <p:nvPr/>
        </p:nvSpPr>
        <p:spPr>
          <a:xfrm>
            <a:off x="812800" y="1757660"/>
            <a:ext cx="10566400" cy="2513330"/>
          </a:xfrm>
          <a:prstGeom prst="rect">
            <a:avLst/>
          </a:prstGeom>
          <a:solidFill>
            <a:srgbClr val="FFFFFF"/>
          </a:solidFill>
          <a:ln/>
        </p:spPr>
      </p:sp>
      <p:sp>
        <p:nvSpPr>
          <p:cNvPr id="5" name="Shape 3"/>
          <p:cNvSpPr/>
          <p:nvPr/>
        </p:nvSpPr>
        <p:spPr>
          <a:xfrm>
            <a:off x="11376025" y="1757660"/>
            <a:ext cx="0" cy="2513330"/>
          </a:xfrm>
          <a:prstGeom prst="line">
            <a:avLst/>
          </a:prstGeom>
          <a:noFill/>
          <a:ln w="6350">
            <a:solidFill>
              <a:srgbClr val="E4E0D6"/>
            </a:solidFill>
            <a:prstDash val="solid"/>
          </a:ln>
        </p:spPr>
      </p:sp>
      <p:sp>
        <p:nvSpPr>
          <p:cNvPr id="6" name="Shape 4"/>
          <p:cNvSpPr/>
          <p:nvPr/>
        </p:nvSpPr>
        <p:spPr>
          <a:xfrm>
            <a:off x="812800" y="4267815"/>
            <a:ext cx="10566400" cy="0"/>
          </a:xfrm>
          <a:prstGeom prst="line">
            <a:avLst/>
          </a:prstGeom>
          <a:noFill/>
          <a:ln w="6350">
            <a:solidFill>
              <a:srgbClr val="E4E0D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67820"/>
          <a:ext cx="10551160" cy="2498090"/>
        </p:xfrm>
        <a:graphic>
          <a:graphicData uri="http://schemas.openxmlformats.org/drawingml/2006/table">
            <a:tbl>
              <a:tblPr/>
              <a:tblGrid>
                <a:gridCol w="1055116">
                  <a:extLst>
                    <a:ext uri="{9D8B030D-6E8A-4147-A177-3AD203B41FA5}">
                      <a16:colId xmlns:a16="http://schemas.microsoft.com/office/drawing/2014/main" val="20000"/>
                    </a:ext>
                  </a:extLst>
                </a:gridCol>
                <a:gridCol w="1582674">
                  <a:extLst>
                    <a:ext uri="{9D8B030D-6E8A-4147-A177-3AD203B41FA5}">
                      <a16:colId xmlns:a16="http://schemas.microsoft.com/office/drawing/2014/main" val="20001"/>
                    </a:ext>
                  </a:extLst>
                </a:gridCol>
                <a:gridCol w="1582674">
                  <a:extLst>
                    <a:ext uri="{9D8B030D-6E8A-4147-A177-3AD203B41FA5}">
                      <a16:colId xmlns:a16="http://schemas.microsoft.com/office/drawing/2014/main" val="20002"/>
                    </a:ext>
                  </a:extLst>
                </a:gridCol>
                <a:gridCol w="1582674">
                  <a:extLst>
                    <a:ext uri="{9D8B030D-6E8A-4147-A177-3AD203B41FA5}">
                      <a16:colId xmlns:a16="http://schemas.microsoft.com/office/drawing/2014/main" val="20003"/>
                    </a:ext>
                  </a:extLst>
                </a:gridCol>
                <a:gridCol w="1582674">
                  <a:extLst>
                    <a:ext uri="{9D8B030D-6E8A-4147-A177-3AD203B41FA5}">
                      <a16:colId xmlns:a16="http://schemas.microsoft.com/office/drawing/2014/main" val="20004"/>
                    </a:ext>
                  </a:extLst>
                </a:gridCol>
                <a:gridCol w="1582674">
                  <a:extLst>
                    <a:ext uri="{9D8B030D-6E8A-4147-A177-3AD203B41FA5}">
                      <a16:colId xmlns:a16="http://schemas.microsoft.com/office/drawing/2014/main" val="20005"/>
                    </a:ext>
                  </a:extLst>
                </a:gridCol>
                <a:gridCol w="1582674">
                  <a:extLst>
                    <a:ext uri="{9D8B030D-6E8A-4147-A177-3AD203B41FA5}">
                      <a16:colId xmlns:a16="http://schemas.microsoft.com/office/drawing/2014/main" val="20006"/>
                    </a:ext>
                  </a:extLst>
                </a:gridCol>
              </a:tblGrid>
              <a:tr h="356870">
                <a:tc>
                  <a:txBody>
                    <a:bodyPr/>
                    <a:lstStyle/>
                    <a:p>
                      <a:pPr marL="0" indent="0">
                        <a:lnSpc>
                          <a:spcPts val="1820"/>
                        </a:lnSpc>
                        <a:buNone/>
                      </a:pPr>
                      <a:r>
                        <a:rPr lang="en-US" sz="1300" b="1" dirty="0">
                          <a:solidFill>
                            <a:srgbClr val="F4F1EA"/>
                          </a:solidFill>
                          <a:latin typeface="Nunito Sans" pitchFamily="34" charset="0"/>
                          <a:ea typeface="Nunito Sans" pitchFamily="34" charset="-122"/>
                          <a:cs typeface="Nunito Sans" pitchFamily="34" charset="-120"/>
                        </a:rPr>
                        <a:t>ε</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Main: R1</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Main: R3</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R3 loses</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Turnover: R1</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Turnover: R3</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tc>
                  <a:txBody>
                    <a:bodyPr/>
                    <a:lstStyle/>
                    <a:p>
                      <a:pPr marL="0" indent="0" algn="r">
                        <a:lnSpc>
                          <a:spcPts val="1820"/>
                        </a:lnSpc>
                        <a:buNone/>
                      </a:pPr>
                      <a:r>
                        <a:rPr lang="en-US" sz="1300" b="1" dirty="0">
                          <a:solidFill>
                            <a:srgbClr val="F4F1EA"/>
                          </a:solidFill>
                          <a:latin typeface="Nunito Sans" pitchFamily="34" charset="0"/>
                          <a:ea typeface="Nunito Sans" pitchFamily="34" charset="-122"/>
                          <a:cs typeface="Nunito Sans" pitchFamily="34" charset="-120"/>
                        </a:rPr>
                        <a:t>R3 loses</a:t>
                      </a:r>
                      <a:endParaRPr lang="en-US" sz="1300" dirty="0">
                        <a:latin typeface="Nunito Sans" charset="0"/>
                        <a:ea typeface="Nunito Sans" charset="0"/>
                        <a:cs typeface="Nunito Sans" charset="0"/>
                      </a:endParaRPr>
                    </a:p>
                  </a:txBody>
                  <a:tcPr marL="57785" marR="57785" marT="57785" marB="57785">
                    <a:lnL w="12700" cap="flat" cmpd="sng" algn="ctr">
                      <a:solidFill>
                        <a:srgbClr val="1B2639"/>
                      </a:solidFill>
                      <a:prstDash val="solid"/>
                      <a:round/>
                      <a:headEnd type="none" w="med" len="med"/>
                      <a:tailEnd type="none" w="med" len="med"/>
                    </a:lnL>
                    <a:lnR w="12700" cap="flat" cmpd="sng" algn="ctr">
                      <a:solidFill>
                        <a:srgbClr val="1B263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639"/>
                      </a:solidFill>
                      <a:prstDash val="solid"/>
                      <a:round/>
                      <a:headEnd type="none" w="med" len="med"/>
                      <a:tailEnd type="none" w="med" len="med"/>
                    </a:lnB>
                    <a:solidFill>
                      <a:srgbClr val="1D2B4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0</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2038</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1625</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20%</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3389</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2682</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21%</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63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0.1</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2310</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1841</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20%</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3892</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3067</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21%</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0.2</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2668</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2136</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20%</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4571</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3627</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21%</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0.3</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3151</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2534</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20%</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5558</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4494</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19%</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0.4</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3836</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3101</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19%</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never fails</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never fails</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D2B44"/>
                          </a:solidFill>
                          <a:latin typeface="Nunito Sans" pitchFamily="34" charset="0"/>
                          <a:ea typeface="Nunito Sans" pitchFamily="34" charset="-122"/>
                          <a:cs typeface="Nunito Sans" pitchFamily="34" charset="-120"/>
                        </a:rPr>
                        <a:t>0.5</a:t>
                      </a:r>
                      <a:endParaRPr lang="en-US" sz="1300" dirty="0">
                        <a:latin typeface="Nunito Sans" charset="0"/>
                        <a:ea typeface="Nunito Sans" charset="0"/>
                        <a:cs typeface="Nunito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4886</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3983</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18%</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never fails</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never fails</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820"/>
                        </a:lnSpc>
                        <a:buNone/>
                      </a:pPr>
                      <a:r>
                        <a:rPr lang="en-US" sz="1300" dirty="0">
                          <a:solidFill>
                            <a:srgbClr val="1D2B44"/>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bl>
          </a:graphicData>
        </a:graphic>
      </p:graphicFrame>
      <p:sp>
        <p:nvSpPr>
          <p:cNvPr id="8" name="Text 5"/>
          <p:cNvSpPr/>
          <p:nvPr/>
        </p:nvSpPr>
        <p:spPr>
          <a:xfrm>
            <a:off x="812800" y="4499620"/>
            <a:ext cx="1088339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How to read it:</a:t>
            </a:r>
            <a:r>
              <a:rPr lang="en-US" sz="1300" dirty="0">
                <a:solidFill>
                  <a:srgbClr val="3F4A5C"/>
                </a:solidFill>
                <a:latin typeface="Nunito Sans" pitchFamily="34" charset="0"/>
                <a:ea typeface="Nunito Sans" pitchFamily="34" charset="-122"/>
                <a:cs typeface="Nunito Sans" pitchFamily="34" charset="-120"/>
              </a:rPr>
              <a:t> days to failure for the best R1 and R3 plans. “Never fails” = no failure within the 30-year limit. ε = how much of the drug resistant cells feel. No graph for this check.</a:t>
            </a:r>
            <a:endParaRPr lang="en-US" sz="13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FE2 · WHAT WE FOUND</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Partial resistance doesn’t rescue R3</a:t>
            </a:r>
            <a:endParaRPr lang="en-US" sz="3200" dirty="0"/>
          </a:p>
        </p:txBody>
      </p:sp>
      <p:sp>
        <p:nvSpPr>
          <p:cNvPr id="4" name="Shape 2"/>
          <p:cNvSpPr/>
          <p:nvPr/>
        </p:nvSpPr>
        <p:spPr>
          <a:xfrm>
            <a:off x="812800" y="1866900"/>
            <a:ext cx="10566400" cy="660400"/>
          </a:xfrm>
          <a:prstGeom prst="roundRect">
            <a:avLst>
              <a:gd name="adj" fmla="val 15385"/>
            </a:avLst>
          </a:prstGeom>
          <a:solidFill>
            <a:srgbClr val="FFFFFF"/>
          </a:solidFill>
          <a:ln/>
        </p:spPr>
      </p:sp>
      <p:sp>
        <p:nvSpPr>
          <p:cNvPr id="5" name="Text 3"/>
          <p:cNvSpPr/>
          <p:nvPr/>
        </p:nvSpPr>
        <p:spPr>
          <a:xfrm>
            <a:off x="1016000" y="20193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47800" y="20682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It helps everyone:</a:t>
            </a:r>
            <a:r>
              <a:rPr lang="en-US" sz="1450" dirty="0">
                <a:solidFill>
                  <a:srgbClr val="3F4A5C"/>
                </a:solidFill>
                <a:latin typeface="Nunito Sans" pitchFamily="34" charset="0"/>
                <a:ea typeface="Nunito Sans" pitchFamily="34" charset="-122"/>
                <a:cs typeface="Nunito Sans" pitchFamily="34" charset="-120"/>
              </a:rPr>
              <a:t> survival rises 2.4× on our main patient at ε = 0.5.</a:t>
            </a:r>
            <a:endParaRPr lang="en-US" sz="1450" dirty="0"/>
          </a:p>
        </p:txBody>
      </p:sp>
      <p:sp>
        <p:nvSpPr>
          <p:cNvPr id="7" name="Shape 5"/>
          <p:cNvSpPr/>
          <p:nvPr/>
        </p:nvSpPr>
        <p:spPr>
          <a:xfrm>
            <a:off x="812800" y="2654300"/>
            <a:ext cx="10566400" cy="660400"/>
          </a:xfrm>
          <a:prstGeom prst="roundRect">
            <a:avLst>
              <a:gd name="adj" fmla="val 15385"/>
            </a:avLst>
          </a:prstGeom>
          <a:solidFill>
            <a:srgbClr val="FFFFFF"/>
          </a:solidFill>
          <a:ln/>
        </p:spPr>
      </p:sp>
      <p:sp>
        <p:nvSpPr>
          <p:cNvPr id="8" name="Text 6"/>
          <p:cNvSpPr/>
          <p:nvPr/>
        </p:nvSpPr>
        <p:spPr>
          <a:xfrm>
            <a:off x="1016000" y="28067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47800" y="28556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R3 still loses 18–21%</a:t>
            </a:r>
            <a:r>
              <a:rPr lang="en-US" sz="1450" dirty="0">
                <a:solidFill>
                  <a:srgbClr val="3F4A5C"/>
                </a:solidFill>
                <a:latin typeface="Nunito Sans" pitchFamily="34" charset="0"/>
                <a:ea typeface="Nunito Sans" pitchFamily="34" charset="-122"/>
                <a:cs typeface="Nunito Sans" pitchFamily="34" charset="-120"/>
              </a:rPr>
              <a:t> at every ε where the patient can fail.</a:t>
            </a:r>
            <a:endParaRPr lang="en-US" sz="1450" dirty="0"/>
          </a:p>
        </p:txBody>
      </p:sp>
      <p:sp>
        <p:nvSpPr>
          <p:cNvPr id="10" name="Shape 8"/>
          <p:cNvSpPr/>
          <p:nvPr/>
        </p:nvSpPr>
        <p:spPr>
          <a:xfrm>
            <a:off x="812800" y="3441700"/>
            <a:ext cx="10566400" cy="660400"/>
          </a:xfrm>
          <a:prstGeom prst="roundRect">
            <a:avLst>
              <a:gd name="adj" fmla="val 15385"/>
            </a:avLst>
          </a:prstGeom>
          <a:solidFill>
            <a:srgbClr val="FFFFFF"/>
          </a:solidFill>
          <a:ln/>
        </p:spPr>
      </p:sp>
      <p:sp>
        <p:nvSpPr>
          <p:cNvPr id="11" name="Text 9"/>
          <p:cNvSpPr/>
          <p:nvPr/>
        </p:nvSpPr>
        <p:spPr>
          <a:xfrm>
            <a:off x="1016000" y="35941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47800" y="36430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When ε is big enough, the problem vanishes</a:t>
            </a:r>
            <a:r>
              <a:rPr lang="en-US" sz="1450" dirty="0">
                <a:solidFill>
                  <a:srgbClr val="3F4A5C"/>
                </a:solidFill>
                <a:latin typeface="Nunito Sans" pitchFamily="34" charset="0"/>
                <a:ea typeface="Nunito Sans" pitchFamily="34" charset="-122"/>
                <a:cs typeface="Nunito Sans" pitchFamily="34" charset="-120"/>
              </a:rPr>
              <a:t> instead: the tumour can be held forever.</a:t>
            </a:r>
            <a:endParaRPr lang="en-US" sz="1450" dirty="0"/>
          </a:p>
        </p:txBody>
      </p:sp>
      <p:sp>
        <p:nvSpPr>
          <p:cNvPr id="13" name="Shape 11"/>
          <p:cNvSpPr/>
          <p:nvPr/>
        </p:nvSpPr>
        <p:spPr>
          <a:xfrm>
            <a:off x="812800" y="4229100"/>
            <a:ext cx="10566400" cy="660400"/>
          </a:xfrm>
          <a:prstGeom prst="roundRect">
            <a:avLst>
              <a:gd name="adj" fmla="val 15385"/>
            </a:avLst>
          </a:prstGeom>
          <a:solidFill>
            <a:srgbClr val="FFFFFF"/>
          </a:solidFill>
          <a:ln/>
        </p:spPr>
      </p:sp>
      <p:sp>
        <p:nvSpPr>
          <p:cNvPr id="14" name="Text 12"/>
          <p:cNvSpPr/>
          <p:nvPr/>
        </p:nvSpPr>
        <p:spPr>
          <a:xfrm>
            <a:off x="1016000" y="43815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47800" y="4430415"/>
            <a:ext cx="10020046"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 correction to our plan:</a:t>
            </a:r>
            <a:r>
              <a:rPr lang="en-US" sz="1450" dirty="0">
                <a:solidFill>
                  <a:srgbClr val="3F4A5C"/>
                </a:solidFill>
                <a:latin typeface="Nunito Sans" pitchFamily="34" charset="0"/>
                <a:ea typeface="Nunito Sans" pitchFamily="34" charset="-122"/>
                <a:cs typeface="Nunito Sans" pitchFamily="34" charset="-120"/>
              </a:rPr>
              <a:t> the drug only shrinks resistant cells if cells also die naturally.</a:t>
            </a:r>
            <a:endParaRPr lang="en-US" sz="14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EAF0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CONCLUSION</a:t>
            </a:r>
            <a:endParaRPr lang="en-US" sz="1300" dirty="0"/>
          </a:p>
        </p:txBody>
      </p:sp>
      <p:sp>
        <p:nvSpPr>
          <p:cNvPr id="3" name="Text 1"/>
          <p:cNvSpPr>
            <a:spLocks noGrp="1"/>
          </p:cNvSpPr>
          <p:nvPr>
            <p:ph type="title"/>
          </p:nvPr>
        </p:nvSpPr>
        <p:spPr>
          <a:xfrm>
            <a:off x="812800" y="112013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we found, across all 30 experiments</a:t>
            </a:r>
            <a:endParaRPr lang="en-US" sz="3200" dirty="0"/>
          </a:p>
        </p:txBody>
      </p:sp>
      <p:sp>
        <p:nvSpPr>
          <p:cNvPr id="4" name="Shape 2"/>
          <p:cNvSpPr/>
          <p:nvPr/>
        </p:nvSpPr>
        <p:spPr>
          <a:xfrm>
            <a:off x="812800" y="1841500"/>
            <a:ext cx="5194300" cy="1226820"/>
          </a:xfrm>
          <a:prstGeom prst="roundRect">
            <a:avLst>
              <a:gd name="adj" fmla="val 10352"/>
            </a:avLst>
          </a:prstGeom>
          <a:solidFill>
            <a:srgbClr val="FFFFFF"/>
          </a:solidFill>
          <a:ln/>
        </p:spPr>
      </p:sp>
      <p:sp>
        <p:nvSpPr>
          <p:cNvPr id="5" name="Text 3"/>
          <p:cNvSpPr/>
          <p:nvPr/>
        </p:nvSpPr>
        <p:spPr>
          <a:xfrm>
            <a:off x="1041400" y="2070100"/>
            <a:ext cx="245427" cy="79502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2B6CB0"/>
                </a:solidFill>
                <a:latin typeface="Rubik" pitchFamily="34" charset="0"/>
                <a:ea typeface="Rubik" pitchFamily="34" charset="-122"/>
                <a:cs typeface="Rubik" pitchFamily="34" charset="-120"/>
              </a:rPr>
              <a:t>1</a:t>
            </a:r>
            <a:endParaRPr lang="en-US" sz="3200" dirty="0"/>
          </a:p>
        </p:txBody>
      </p:sp>
      <p:sp>
        <p:nvSpPr>
          <p:cNvPr id="6" name="Text 4"/>
          <p:cNvSpPr/>
          <p:nvPr/>
        </p:nvSpPr>
        <p:spPr>
          <a:xfrm>
            <a:off x="1388427" y="2070100"/>
            <a:ext cx="452177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Most goals lead to containment</a:t>
            </a:r>
            <a:endParaRPr lang="en-US" sz="1600" dirty="0"/>
          </a:p>
        </p:txBody>
      </p:sp>
      <p:sp>
        <p:nvSpPr>
          <p:cNvPr id="7" name="Text 5"/>
          <p:cNvSpPr/>
          <p:nvPr/>
        </p:nvSpPr>
        <p:spPr>
          <a:xfrm>
            <a:off x="1388427" y="2377430"/>
            <a:ext cx="452177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Survival, less drug and lasting control all keep the tumour just under the line. R1 = R4 almost everywhere.</a:t>
            </a:r>
            <a:endParaRPr lang="en-US" sz="1300" dirty="0"/>
          </a:p>
        </p:txBody>
      </p:sp>
      <p:sp>
        <p:nvSpPr>
          <p:cNvPr id="8" name="Shape 6"/>
          <p:cNvSpPr/>
          <p:nvPr/>
        </p:nvSpPr>
        <p:spPr>
          <a:xfrm>
            <a:off x="6184900" y="1841500"/>
            <a:ext cx="5194300" cy="1226820"/>
          </a:xfrm>
          <a:prstGeom prst="roundRect">
            <a:avLst>
              <a:gd name="adj" fmla="val 10352"/>
            </a:avLst>
          </a:prstGeom>
          <a:solidFill>
            <a:srgbClr val="FFFFFF"/>
          </a:solidFill>
          <a:ln/>
        </p:spPr>
      </p:sp>
      <p:sp>
        <p:nvSpPr>
          <p:cNvPr id="9" name="Text 7"/>
          <p:cNvSpPr/>
          <p:nvPr/>
        </p:nvSpPr>
        <p:spPr>
          <a:xfrm>
            <a:off x="6413500" y="2070100"/>
            <a:ext cx="309245" cy="79502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B54A1A"/>
                </a:solidFill>
                <a:latin typeface="Rubik" pitchFamily="34" charset="0"/>
                <a:ea typeface="Rubik" pitchFamily="34" charset="-122"/>
                <a:cs typeface="Rubik" pitchFamily="34" charset="-120"/>
              </a:rPr>
              <a:t>2</a:t>
            </a:r>
            <a:endParaRPr lang="en-US" sz="3200" dirty="0"/>
          </a:p>
        </p:txBody>
      </p:sp>
      <p:sp>
        <p:nvSpPr>
          <p:cNvPr id="10" name="Text 8"/>
          <p:cNvSpPr/>
          <p:nvPr/>
        </p:nvSpPr>
        <p:spPr>
          <a:xfrm>
            <a:off x="6823604" y="2070100"/>
            <a:ext cx="445680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“Keep the mix” is the costly mistake</a:t>
            </a:r>
            <a:endParaRPr lang="en-US" sz="1600" dirty="0"/>
          </a:p>
        </p:txBody>
      </p:sp>
      <p:sp>
        <p:nvSpPr>
          <p:cNvPr id="11" name="Text 9"/>
          <p:cNvSpPr/>
          <p:nvPr/>
        </p:nvSpPr>
        <p:spPr>
          <a:xfrm>
            <a:off x="6823604" y="2377430"/>
            <a:ext cx="445680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R3 does 12–23% worse in every patient and every stress test.</a:t>
            </a:r>
            <a:endParaRPr lang="en-US" sz="1300" dirty="0"/>
          </a:p>
        </p:txBody>
      </p:sp>
      <p:sp>
        <p:nvSpPr>
          <p:cNvPr id="12" name="Shape 10"/>
          <p:cNvSpPr/>
          <p:nvPr/>
        </p:nvSpPr>
        <p:spPr>
          <a:xfrm>
            <a:off x="812800" y="3246140"/>
            <a:ext cx="5194300" cy="1457960"/>
          </a:xfrm>
          <a:prstGeom prst="roundRect">
            <a:avLst>
              <a:gd name="adj" fmla="val 8711"/>
            </a:avLst>
          </a:prstGeom>
          <a:solidFill>
            <a:srgbClr val="FFFFFF"/>
          </a:solidFill>
          <a:ln/>
        </p:spPr>
      </p:sp>
      <p:sp>
        <p:nvSpPr>
          <p:cNvPr id="13" name="Text 11"/>
          <p:cNvSpPr/>
          <p:nvPr/>
        </p:nvSpPr>
        <p:spPr>
          <a:xfrm>
            <a:off x="1041400" y="3474740"/>
            <a:ext cx="314071" cy="102616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2B6CB0"/>
                </a:solidFill>
                <a:latin typeface="Rubik" pitchFamily="34" charset="0"/>
                <a:ea typeface="Rubik" pitchFamily="34" charset="-122"/>
                <a:cs typeface="Rubik" pitchFamily="34" charset="-120"/>
              </a:rPr>
              <a:t>3</a:t>
            </a:r>
            <a:endParaRPr lang="en-US" sz="3200" dirty="0"/>
          </a:p>
        </p:txBody>
      </p:sp>
      <p:sp>
        <p:nvSpPr>
          <p:cNvPr id="14" name="Text 12"/>
          <p:cNvSpPr/>
          <p:nvPr/>
        </p:nvSpPr>
        <p:spPr>
          <a:xfrm>
            <a:off x="1455526" y="3474740"/>
            <a:ext cx="445266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AI beats every human rule</a:t>
            </a:r>
            <a:endParaRPr lang="en-US" sz="1600" dirty="0"/>
          </a:p>
        </p:txBody>
      </p:sp>
      <p:sp>
        <p:nvSpPr>
          <p:cNvPr id="15" name="Text 13"/>
          <p:cNvSpPr/>
          <p:nvPr/>
        </p:nvSpPr>
        <p:spPr>
          <a:xfrm>
            <a:off x="1455526" y="3782020"/>
            <a:ext cx="445266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About 50% longer than the best rule, and sturdier than the exact best plan thanks to a safety margin.</a:t>
            </a:r>
            <a:endParaRPr lang="en-US" sz="1300" dirty="0"/>
          </a:p>
        </p:txBody>
      </p:sp>
      <p:sp>
        <p:nvSpPr>
          <p:cNvPr id="16" name="Shape 14"/>
          <p:cNvSpPr/>
          <p:nvPr/>
        </p:nvSpPr>
        <p:spPr>
          <a:xfrm>
            <a:off x="6184900" y="3246140"/>
            <a:ext cx="5194300" cy="1457960"/>
          </a:xfrm>
          <a:prstGeom prst="roundRect">
            <a:avLst>
              <a:gd name="adj" fmla="val 8711"/>
            </a:avLst>
          </a:prstGeom>
          <a:solidFill>
            <a:srgbClr val="1D2B44"/>
          </a:solidFill>
          <a:ln/>
        </p:spPr>
      </p:sp>
      <p:sp>
        <p:nvSpPr>
          <p:cNvPr id="17" name="Text 15"/>
          <p:cNvSpPr/>
          <p:nvPr/>
        </p:nvSpPr>
        <p:spPr>
          <a:xfrm>
            <a:off x="6413500" y="3474740"/>
            <a:ext cx="325247" cy="102616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2B48F"/>
                </a:solidFill>
                <a:latin typeface="Rubik" pitchFamily="34" charset="0"/>
                <a:ea typeface="Rubik" pitchFamily="34" charset="-122"/>
                <a:cs typeface="Rubik" pitchFamily="34" charset="-120"/>
              </a:rPr>
              <a:t>4</a:t>
            </a:r>
            <a:endParaRPr lang="en-US" sz="3200" dirty="0"/>
          </a:p>
        </p:txBody>
      </p:sp>
      <p:sp>
        <p:nvSpPr>
          <p:cNvPr id="18" name="Text 16"/>
          <p:cNvSpPr/>
          <p:nvPr/>
        </p:nvSpPr>
        <p:spPr>
          <a:xfrm>
            <a:off x="6836939" y="3474740"/>
            <a:ext cx="444307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1EA"/>
                </a:solidFill>
                <a:latin typeface="Rubik" pitchFamily="34" charset="0"/>
                <a:ea typeface="Rubik" pitchFamily="34" charset="-122"/>
                <a:cs typeface="Rubik" pitchFamily="34" charset="-120"/>
              </a:rPr>
              <a:t>What it sees beats what it aims for</a:t>
            </a:r>
            <a:endParaRPr lang="en-US" sz="1600" dirty="0"/>
          </a:p>
        </p:txBody>
      </p:sp>
      <p:sp>
        <p:nvSpPr>
          <p:cNvPr id="19" name="Text 17"/>
          <p:cNvSpPr/>
          <p:nvPr/>
        </p:nvSpPr>
        <p:spPr>
          <a:xfrm>
            <a:off x="6836939" y="3782020"/>
            <a:ext cx="4443071"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5CEDC"/>
                </a:solidFill>
                <a:latin typeface="Nunito Sans" pitchFamily="34" charset="0"/>
                <a:ea typeface="Nunito Sans" pitchFamily="34" charset="-122"/>
                <a:cs typeface="Nunito Sans" pitchFamily="34" charset="-120"/>
              </a:rPr>
              <a:t>Seeing only tumour size, with a better judge in training, every goal does as well or better, and the goals nearly merge.</a:t>
            </a:r>
            <a:endParaRPr lang="en-US" sz="13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CONCLUSION · FOR MEDICINE</a:t>
            </a:r>
            <a:endParaRPr lang="en-US" sz="1300" dirty="0"/>
          </a:p>
        </p:txBody>
      </p:sp>
      <p:sp>
        <p:nvSpPr>
          <p:cNvPr id="3" name="Text 1"/>
          <p:cNvSpPr>
            <a:spLocks noGrp="1"/>
          </p:cNvSpPr>
          <p:nvPr>
            <p:ph type="title"/>
          </p:nvPr>
        </p:nvSpPr>
        <p:spPr>
          <a:xfrm>
            <a:off x="812800" y="112018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this could mean for treatment</a:t>
            </a:r>
            <a:endParaRPr lang="en-US" sz="3200" dirty="0"/>
          </a:p>
        </p:txBody>
      </p:sp>
      <p:sp>
        <p:nvSpPr>
          <p:cNvPr id="4" name="Shape 2"/>
          <p:cNvSpPr/>
          <p:nvPr/>
        </p:nvSpPr>
        <p:spPr>
          <a:xfrm>
            <a:off x="815975" y="1844675"/>
            <a:ext cx="10560050" cy="638810"/>
          </a:xfrm>
          <a:prstGeom prst="roundRect">
            <a:avLst>
              <a:gd name="adj" fmla="val 15408"/>
            </a:avLst>
          </a:prstGeom>
          <a:solidFill>
            <a:srgbClr val="FFFFFF"/>
          </a:solidFill>
          <a:ln w="6350">
            <a:solidFill>
              <a:srgbClr val="E4E0D6"/>
            </a:solidFill>
            <a:prstDash val="solid"/>
          </a:ln>
        </p:spPr>
      </p:sp>
      <p:sp>
        <p:nvSpPr>
          <p:cNvPr id="5" name="Text 3"/>
          <p:cNvSpPr/>
          <p:nvPr/>
        </p:nvSpPr>
        <p:spPr>
          <a:xfrm>
            <a:off x="1021080" y="198626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1</a:t>
            </a:r>
            <a:endParaRPr lang="en-US" sz="2000" dirty="0"/>
          </a:p>
        </p:txBody>
      </p:sp>
      <p:sp>
        <p:nvSpPr>
          <p:cNvPr id="6" name="Text 4"/>
          <p:cNvSpPr/>
          <p:nvPr/>
        </p:nvSpPr>
        <p:spPr>
          <a:xfrm>
            <a:off x="1452880" y="2035175"/>
            <a:ext cx="10009581"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Treat-when-needed containment</a:t>
            </a:r>
            <a:r>
              <a:rPr lang="en-US" sz="1450" dirty="0">
                <a:solidFill>
                  <a:srgbClr val="3F4A5C"/>
                </a:solidFill>
                <a:latin typeface="Nunito Sans" pitchFamily="34" charset="0"/>
                <a:ea typeface="Nunito Sans" pitchFamily="34" charset="-122"/>
                <a:cs typeface="Nunito Sans" pitchFamily="34" charset="-120"/>
              </a:rPr>
              <a:t> beat the trial rule AT50 by a wide margin in every simulated patient.</a:t>
            </a:r>
            <a:endParaRPr lang="en-US" sz="1450" dirty="0"/>
          </a:p>
        </p:txBody>
      </p:sp>
      <p:sp>
        <p:nvSpPr>
          <p:cNvPr id="7" name="Shape 5"/>
          <p:cNvSpPr/>
          <p:nvPr/>
        </p:nvSpPr>
        <p:spPr>
          <a:xfrm>
            <a:off x="815975" y="2616795"/>
            <a:ext cx="10560050" cy="638810"/>
          </a:xfrm>
          <a:prstGeom prst="roundRect">
            <a:avLst>
              <a:gd name="adj" fmla="val 15408"/>
            </a:avLst>
          </a:prstGeom>
          <a:solidFill>
            <a:srgbClr val="FFFFFF"/>
          </a:solidFill>
          <a:ln w="6350">
            <a:solidFill>
              <a:srgbClr val="E4E0D6"/>
            </a:solidFill>
            <a:prstDash val="solid"/>
          </a:ln>
        </p:spPr>
      </p:sp>
      <p:sp>
        <p:nvSpPr>
          <p:cNvPr id="8" name="Text 6"/>
          <p:cNvSpPr/>
          <p:nvPr/>
        </p:nvSpPr>
        <p:spPr>
          <a:xfrm>
            <a:off x="1021080" y="275848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2</a:t>
            </a:r>
            <a:endParaRPr lang="en-US" sz="2000" dirty="0"/>
          </a:p>
        </p:txBody>
      </p:sp>
      <p:sp>
        <p:nvSpPr>
          <p:cNvPr id="9" name="Text 7"/>
          <p:cNvSpPr/>
          <p:nvPr/>
        </p:nvSpPr>
        <p:spPr>
          <a:xfrm>
            <a:off x="1452880" y="2807295"/>
            <a:ext cx="10009581"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A simple size threshold</a:t>
            </a:r>
            <a:r>
              <a:rPr lang="en-US" sz="1450" dirty="0">
                <a:solidFill>
                  <a:srgbClr val="3F4A5C"/>
                </a:solidFill>
                <a:latin typeface="Nunito Sans" pitchFamily="34" charset="0"/>
                <a:ea typeface="Nunito Sans" pitchFamily="34" charset="-122"/>
                <a:cs typeface="Nunito Sans" pitchFamily="34" charset="-120"/>
              </a:rPr>
              <a:t> (treat above about 1.15–1.17 × the starting size) captures most of the benefit.</a:t>
            </a:r>
            <a:endParaRPr lang="en-US" sz="1450" dirty="0"/>
          </a:p>
        </p:txBody>
      </p:sp>
      <p:sp>
        <p:nvSpPr>
          <p:cNvPr id="10" name="Shape 8"/>
          <p:cNvSpPr/>
          <p:nvPr/>
        </p:nvSpPr>
        <p:spPr>
          <a:xfrm>
            <a:off x="815975" y="3389015"/>
            <a:ext cx="10560050" cy="638810"/>
          </a:xfrm>
          <a:prstGeom prst="roundRect">
            <a:avLst>
              <a:gd name="adj" fmla="val 15408"/>
            </a:avLst>
          </a:prstGeom>
          <a:solidFill>
            <a:srgbClr val="FFFFFF"/>
          </a:solidFill>
          <a:ln w="6350">
            <a:solidFill>
              <a:srgbClr val="E4E0D6"/>
            </a:solidFill>
            <a:prstDash val="solid"/>
          </a:ln>
        </p:spPr>
      </p:sp>
      <p:sp>
        <p:nvSpPr>
          <p:cNvPr id="11" name="Text 9"/>
          <p:cNvSpPr/>
          <p:nvPr/>
        </p:nvSpPr>
        <p:spPr>
          <a:xfrm>
            <a:off x="1021080" y="353060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3</a:t>
            </a:r>
            <a:endParaRPr lang="en-US" sz="2000" dirty="0"/>
          </a:p>
        </p:txBody>
      </p:sp>
      <p:sp>
        <p:nvSpPr>
          <p:cNvPr id="12" name="Text 10"/>
          <p:cNvSpPr/>
          <p:nvPr/>
        </p:nvSpPr>
        <p:spPr>
          <a:xfrm>
            <a:off x="1452880" y="3579515"/>
            <a:ext cx="10009581"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B54A1A"/>
                </a:solidFill>
                <a:latin typeface="Nunito Sans" pitchFamily="34" charset="0"/>
                <a:ea typeface="Nunito Sans" pitchFamily="34" charset="-122"/>
                <a:cs typeface="Nunito Sans" pitchFamily="34" charset="-120"/>
              </a:rPr>
              <a:t>Monitor at least as often</a:t>
            </a:r>
            <a:r>
              <a:rPr lang="en-US" sz="1450" dirty="0">
                <a:solidFill>
                  <a:srgbClr val="3F4A5C"/>
                </a:solidFill>
                <a:latin typeface="Nunito Sans" pitchFamily="34" charset="0"/>
                <a:ea typeface="Nunito Sans" pitchFamily="34" charset="-122"/>
                <a:cs typeface="Nunito Sans" pitchFamily="34" charset="-120"/>
              </a:rPr>
              <a:t> as a strategy was designed for; fewer check-ups can be dangerous.</a:t>
            </a:r>
            <a:endParaRPr lang="en-US" sz="1450" dirty="0"/>
          </a:p>
        </p:txBody>
      </p:sp>
      <p:sp>
        <p:nvSpPr>
          <p:cNvPr id="13" name="Shape 11"/>
          <p:cNvSpPr/>
          <p:nvPr/>
        </p:nvSpPr>
        <p:spPr>
          <a:xfrm>
            <a:off x="815975" y="4161135"/>
            <a:ext cx="10560050" cy="638810"/>
          </a:xfrm>
          <a:prstGeom prst="roundRect">
            <a:avLst>
              <a:gd name="adj" fmla="val 15408"/>
            </a:avLst>
          </a:prstGeom>
          <a:solidFill>
            <a:srgbClr val="FFFFFF"/>
          </a:solidFill>
          <a:ln w="6350">
            <a:solidFill>
              <a:srgbClr val="E4E0D6"/>
            </a:solidFill>
            <a:prstDash val="solid"/>
          </a:ln>
        </p:spPr>
      </p:sp>
      <p:sp>
        <p:nvSpPr>
          <p:cNvPr id="14" name="Text 12"/>
          <p:cNvSpPr/>
          <p:nvPr/>
        </p:nvSpPr>
        <p:spPr>
          <a:xfrm>
            <a:off x="1021080" y="4302720"/>
            <a:ext cx="330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6CB0"/>
                </a:solidFill>
                <a:latin typeface="Rubik" pitchFamily="34" charset="0"/>
                <a:ea typeface="Rubik" pitchFamily="34" charset="-122"/>
                <a:cs typeface="Rubik" pitchFamily="34" charset="-120"/>
              </a:rPr>
              <a:t>4</a:t>
            </a:r>
            <a:endParaRPr lang="en-US" sz="2000" dirty="0"/>
          </a:p>
        </p:txBody>
      </p:sp>
      <p:sp>
        <p:nvSpPr>
          <p:cNvPr id="15" name="Text 13"/>
          <p:cNvSpPr/>
          <p:nvPr/>
        </p:nvSpPr>
        <p:spPr>
          <a:xfrm>
            <a:off x="1452880" y="4351635"/>
            <a:ext cx="10009581" cy="28321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1D2B44"/>
                </a:solidFill>
                <a:latin typeface="Nunito Sans" pitchFamily="34" charset="0"/>
                <a:ea typeface="Nunito Sans" pitchFamily="34" charset="-122"/>
                <a:cs typeface="Nunito Sans" pitchFamily="34" charset="-120"/>
              </a:rPr>
              <a:t>Calmer schedules and one middle dose</a:t>
            </a:r>
            <a:r>
              <a:rPr lang="en-US" sz="1450" dirty="0">
                <a:solidFill>
                  <a:srgbClr val="3F4A5C"/>
                </a:solidFill>
                <a:latin typeface="Nunito Sans" pitchFamily="34" charset="0"/>
                <a:ea typeface="Nunito Sans" pitchFamily="34" charset="-122"/>
                <a:cs typeface="Nunito Sans" pitchFamily="34" charset="-120"/>
              </a:rPr>
              <a:t> (about 9 switches a year, a ⅔ dose) keep most of the gain.</a:t>
            </a:r>
            <a:endParaRPr lang="en-US" sz="1450" dirty="0"/>
          </a:p>
        </p:txBody>
      </p:sp>
      <p:sp>
        <p:nvSpPr>
          <p:cNvPr id="16" name="Text 14"/>
          <p:cNvSpPr/>
          <p:nvPr/>
        </p:nvSpPr>
        <p:spPr>
          <a:xfrm>
            <a:off x="812800" y="5057180"/>
            <a:ext cx="10566400" cy="485140"/>
          </a:xfrm>
          <a:prstGeom prst="roundRect">
            <a:avLst>
              <a:gd name="adj" fmla="val 15707"/>
            </a:avLst>
          </a:prstGeom>
          <a:solidFill>
            <a:srgbClr val="F6E6DD"/>
          </a:solidFill>
          <a:ln/>
        </p:spPr>
        <p:txBody>
          <a:bodyPr wrap="square" lIns="155482" tIns="104682" rIns="0" bIns="79282" rtlCol="0" anchor="t">
            <a:normAutofit/>
          </a:bodyPr>
          <a:lstStyle/>
          <a:p>
            <a:pPr marL="0" indent="0" algn="l">
              <a:lnSpc>
                <a:spcPts val="1820"/>
              </a:lnSpc>
              <a:buNone/>
            </a:pPr>
            <a:r>
              <a:rPr lang="en-US" sz="1300" b="1" dirty="0">
                <a:solidFill>
                  <a:srgbClr val="1D2B44"/>
                </a:solidFill>
                <a:latin typeface="Nunito Sans" pitchFamily="34" charset="0"/>
                <a:ea typeface="Nunito Sans" pitchFamily="34" charset="-122"/>
                <a:cs typeface="Nunito Sans" pitchFamily="34" charset="-120"/>
              </a:rPr>
              <a:t>Important:</a:t>
            </a:r>
            <a:r>
              <a:rPr lang="en-US" sz="1300" dirty="0">
                <a:solidFill>
                  <a:srgbClr val="1D2B44"/>
                </a:solidFill>
                <a:latin typeface="Nunito Sans" pitchFamily="34" charset="0"/>
                <a:ea typeface="Nunito Sans" pitchFamily="34" charset="-122"/>
                <a:cs typeface="Nunito Sans" pitchFamily="34" charset="-120"/>
              </a:rPr>
              <a:t> all of this is in computer simulation. None of it has been tested in patients.</a:t>
            </a:r>
            <a:endParaRPr lang="en-US" sz="13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CONCLUSION · LIMITS</a:t>
            </a:r>
            <a:endParaRPr lang="en-US" sz="1300" dirty="0"/>
          </a:p>
        </p:txBody>
      </p:sp>
      <p:sp>
        <p:nvSpPr>
          <p:cNvPr id="3" name="Text 1"/>
          <p:cNvSpPr>
            <a:spLocks noGrp="1"/>
          </p:cNvSpPr>
          <p:nvPr>
            <p:ph type="title"/>
          </p:nvPr>
        </p:nvSpPr>
        <p:spPr>
          <a:xfrm>
            <a:off x="812800" y="112018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this study cannot claim</a:t>
            </a:r>
            <a:endParaRPr lang="en-US" sz="3200" dirty="0"/>
          </a:p>
        </p:txBody>
      </p:sp>
      <p:sp>
        <p:nvSpPr>
          <p:cNvPr id="4" name="Shape 2"/>
          <p:cNvSpPr/>
          <p:nvPr/>
        </p:nvSpPr>
        <p:spPr>
          <a:xfrm>
            <a:off x="812800" y="1819275"/>
            <a:ext cx="10566400" cy="0"/>
          </a:xfrm>
          <a:prstGeom prst="line">
            <a:avLst/>
          </a:prstGeom>
          <a:noFill/>
          <a:ln w="6350">
            <a:solidFill>
              <a:srgbClr val="D6D2C6"/>
            </a:solidFill>
            <a:prstDash val="solid"/>
          </a:ln>
        </p:spPr>
      </p:sp>
      <p:sp>
        <p:nvSpPr>
          <p:cNvPr id="5" name="Text 3"/>
          <p:cNvSpPr/>
          <p:nvPr/>
        </p:nvSpPr>
        <p:spPr>
          <a:xfrm>
            <a:off x="812800" y="1948160"/>
            <a:ext cx="36626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B44"/>
                </a:solidFill>
                <a:latin typeface="Nunito Sans" pitchFamily="34" charset="0"/>
                <a:ea typeface="Nunito Sans" pitchFamily="34" charset="-122"/>
                <a:cs typeface="Nunito Sans" pitchFamily="34" charset="-120"/>
              </a:rPr>
              <a:t>Computer model only</a:t>
            </a:r>
            <a:endParaRPr lang="en-US" sz="1500" dirty="0"/>
          </a:p>
        </p:txBody>
      </p:sp>
      <p:sp>
        <p:nvSpPr>
          <p:cNvPr id="6" name="Text 4"/>
          <p:cNvSpPr/>
          <p:nvPr/>
        </p:nvSpPr>
        <p:spPr>
          <a:xfrm>
            <a:off x="4622800" y="1948160"/>
            <a:ext cx="69590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Two well-mixed cell types; no tumour shape, blood drug levels or cells changing type (except FE1).</a:t>
            </a:r>
            <a:endParaRPr lang="en-US" sz="1400" dirty="0"/>
          </a:p>
        </p:txBody>
      </p:sp>
      <p:sp>
        <p:nvSpPr>
          <p:cNvPr id="7" name="Shape 5"/>
          <p:cNvSpPr/>
          <p:nvPr/>
        </p:nvSpPr>
        <p:spPr>
          <a:xfrm>
            <a:off x="812800" y="2576215"/>
            <a:ext cx="10566400" cy="0"/>
          </a:xfrm>
          <a:prstGeom prst="line">
            <a:avLst/>
          </a:prstGeom>
          <a:noFill/>
          <a:ln w="6350">
            <a:solidFill>
              <a:srgbClr val="D6D2C6"/>
            </a:solidFill>
            <a:prstDash val="solid"/>
          </a:ln>
        </p:spPr>
      </p:sp>
      <p:sp>
        <p:nvSpPr>
          <p:cNvPr id="8" name="Text 6"/>
          <p:cNvSpPr/>
          <p:nvPr/>
        </p:nvSpPr>
        <p:spPr>
          <a:xfrm>
            <a:off x="812800" y="2705100"/>
            <a:ext cx="36626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B44"/>
                </a:solidFill>
                <a:latin typeface="Nunito Sans" pitchFamily="34" charset="0"/>
                <a:ea typeface="Nunito Sans" pitchFamily="34" charset="-122"/>
                <a:cs typeface="Nunito Sans" pitchFamily="34" charset="-120"/>
              </a:rPr>
              <a:t>Few fully tested patients</a:t>
            </a:r>
            <a:endParaRPr lang="en-US" sz="1500" dirty="0"/>
          </a:p>
        </p:txBody>
      </p:sp>
      <p:sp>
        <p:nvSpPr>
          <p:cNvPr id="9" name="Text 7"/>
          <p:cNvSpPr/>
          <p:nvPr/>
        </p:nvSpPr>
        <p:spPr>
          <a:xfrm>
            <a:off x="4622800" y="2705100"/>
            <a:ext cx="69590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Three patients with trained AIs; 25 more with best plans only.</a:t>
            </a:r>
            <a:endParaRPr lang="en-US" sz="1400" dirty="0"/>
          </a:p>
        </p:txBody>
      </p:sp>
      <p:sp>
        <p:nvSpPr>
          <p:cNvPr id="10" name="Shape 8"/>
          <p:cNvSpPr/>
          <p:nvPr/>
        </p:nvSpPr>
        <p:spPr>
          <a:xfrm>
            <a:off x="812800" y="3101975"/>
            <a:ext cx="10566400" cy="0"/>
          </a:xfrm>
          <a:prstGeom prst="line">
            <a:avLst/>
          </a:prstGeom>
          <a:noFill/>
          <a:ln w="6350">
            <a:solidFill>
              <a:srgbClr val="D6D2C6"/>
            </a:solidFill>
            <a:prstDash val="solid"/>
          </a:ln>
        </p:spPr>
      </p:sp>
      <p:sp>
        <p:nvSpPr>
          <p:cNvPr id="11" name="Text 9"/>
          <p:cNvSpPr/>
          <p:nvPr/>
        </p:nvSpPr>
        <p:spPr>
          <a:xfrm>
            <a:off x="812800" y="3230860"/>
            <a:ext cx="36626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B44"/>
                </a:solidFill>
                <a:latin typeface="Nunito Sans" pitchFamily="34" charset="0"/>
                <a:ea typeface="Nunito Sans" pitchFamily="34" charset="-122"/>
                <a:cs typeface="Nunito Sans" pitchFamily="34" charset="-120"/>
              </a:rPr>
              <a:t>An all-seeing AI in most tests</a:t>
            </a:r>
            <a:endParaRPr lang="en-US" sz="1500" dirty="0"/>
          </a:p>
        </p:txBody>
      </p:sp>
      <p:sp>
        <p:nvSpPr>
          <p:cNvPr id="12" name="Text 10"/>
          <p:cNvSpPr/>
          <p:nvPr/>
        </p:nvSpPr>
        <p:spPr>
          <a:xfrm>
            <a:off x="4622800" y="3230860"/>
            <a:ext cx="69590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Most comparisons let the AI see the cell mix, which doctors cannot.</a:t>
            </a:r>
            <a:endParaRPr lang="en-US" sz="1400" dirty="0"/>
          </a:p>
        </p:txBody>
      </p:sp>
      <p:sp>
        <p:nvSpPr>
          <p:cNvPr id="13" name="Shape 11"/>
          <p:cNvSpPr/>
          <p:nvPr/>
        </p:nvSpPr>
        <p:spPr>
          <a:xfrm>
            <a:off x="812800" y="3627735"/>
            <a:ext cx="10566400" cy="0"/>
          </a:xfrm>
          <a:prstGeom prst="line">
            <a:avLst/>
          </a:prstGeom>
          <a:noFill/>
          <a:ln w="6350">
            <a:solidFill>
              <a:srgbClr val="D6D2C6"/>
            </a:solidFill>
            <a:prstDash val="solid"/>
          </a:ln>
        </p:spPr>
      </p:sp>
      <p:sp>
        <p:nvSpPr>
          <p:cNvPr id="14" name="Text 12"/>
          <p:cNvSpPr/>
          <p:nvPr/>
        </p:nvSpPr>
        <p:spPr>
          <a:xfrm>
            <a:off x="812800" y="3756620"/>
            <a:ext cx="36626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B44"/>
                </a:solidFill>
                <a:latin typeface="Nunito Sans" pitchFamily="34" charset="0"/>
                <a:ea typeface="Nunito Sans" pitchFamily="34" charset="-122"/>
                <a:cs typeface="Nunito Sans" pitchFamily="34" charset="-120"/>
              </a:rPr>
              <a:t>Our versions of the goals</a:t>
            </a:r>
            <a:endParaRPr lang="en-US" sz="1500" dirty="0"/>
          </a:p>
        </p:txBody>
      </p:sp>
      <p:sp>
        <p:nvSpPr>
          <p:cNvPr id="15" name="Text 13"/>
          <p:cNvSpPr/>
          <p:nvPr/>
        </p:nvSpPr>
        <p:spPr>
          <a:xfrm>
            <a:off x="4622800" y="3756620"/>
            <a:ext cx="69590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R1–R4 are our adaptations of the original papers’ rewards.</a:t>
            </a:r>
            <a:endParaRPr lang="en-US" sz="1400" dirty="0"/>
          </a:p>
        </p:txBody>
      </p:sp>
      <p:sp>
        <p:nvSpPr>
          <p:cNvPr id="16" name="Shape 14"/>
          <p:cNvSpPr/>
          <p:nvPr/>
        </p:nvSpPr>
        <p:spPr>
          <a:xfrm>
            <a:off x="812800" y="4153495"/>
            <a:ext cx="10566400" cy="0"/>
          </a:xfrm>
          <a:prstGeom prst="line">
            <a:avLst/>
          </a:prstGeom>
          <a:noFill/>
          <a:ln w="6350">
            <a:solidFill>
              <a:srgbClr val="D6D2C6"/>
            </a:solidFill>
            <a:prstDash val="solid"/>
          </a:ln>
        </p:spPr>
      </p:sp>
      <p:sp>
        <p:nvSpPr>
          <p:cNvPr id="17" name="Shape 15"/>
          <p:cNvSpPr/>
          <p:nvPr/>
        </p:nvSpPr>
        <p:spPr>
          <a:xfrm>
            <a:off x="812800" y="4678005"/>
            <a:ext cx="10566400" cy="0"/>
          </a:xfrm>
          <a:prstGeom prst="line">
            <a:avLst/>
          </a:prstGeom>
          <a:noFill/>
          <a:ln w="6350">
            <a:solidFill>
              <a:srgbClr val="D6D2C6"/>
            </a:solidFill>
            <a:prstDash val="solid"/>
          </a:ln>
        </p:spPr>
      </p:sp>
      <p:sp>
        <p:nvSpPr>
          <p:cNvPr id="18" name="Text 16"/>
          <p:cNvSpPr/>
          <p:nvPr/>
        </p:nvSpPr>
        <p:spPr>
          <a:xfrm>
            <a:off x="812800" y="4282480"/>
            <a:ext cx="36626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B44"/>
                </a:solidFill>
                <a:latin typeface="Nunito Sans" pitchFamily="34" charset="0"/>
                <a:ea typeface="Nunito Sans" pitchFamily="34" charset="-122"/>
                <a:cs typeface="Nunito Sans" pitchFamily="34" charset="-120"/>
              </a:rPr>
              <a:t>No clinical claim</a:t>
            </a:r>
            <a:endParaRPr lang="en-US" sz="1500" dirty="0"/>
          </a:p>
        </p:txBody>
      </p:sp>
      <p:sp>
        <p:nvSpPr>
          <p:cNvPr id="19" name="Text 17"/>
          <p:cNvSpPr/>
          <p:nvPr/>
        </p:nvSpPr>
        <p:spPr>
          <a:xfrm>
            <a:off x="4622800" y="4282480"/>
            <a:ext cx="69590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C"/>
                </a:solidFill>
                <a:latin typeface="Nunito Sans" pitchFamily="34" charset="0"/>
                <a:ea typeface="Nunito Sans" pitchFamily="34" charset="-122"/>
                <a:cs typeface="Nunito Sans" pitchFamily="34" charset="-120"/>
              </a:rPr>
              <a:t>Adaptive therapy itself is still being tested in patients (Mistry 2021).</a:t>
            </a:r>
            <a:endParaRPr lang="en-US" sz="14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B6CB0"/>
                </a:solidFill>
                <a:latin typeface="Nunito Sans" pitchFamily="34" charset="0"/>
                <a:ea typeface="Nunito Sans" pitchFamily="34" charset="-122"/>
                <a:cs typeface="Nunito Sans" pitchFamily="34" charset="-120"/>
              </a:rPr>
              <a:t>CONCLUSION · NEXT STEPS</a:t>
            </a:r>
            <a:endParaRPr lang="en-US" sz="1300" dirty="0"/>
          </a:p>
        </p:txBody>
      </p:sp>
      <p:sp>
        <p:nvSpPr>
          <p:cNvPr id="3" name="Text 1"/>
          <p:cNvSpPr>
            <a:spLocks noGrp="1"/>
          </p:cNvSpPr>
          <p:nvPr>
            <p:ph type="title"/>
          </p:nvPr>
        </p:nvSpPr>
        <p:spPr>
          <a:xfrm>
            <a:off x="812800" y="112018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D2B44"/>
                </a:solidFill>
                <a:latin typeface="Rubik" pitchFamily="34" charset="0"/>
                <a:ea typeface="Rubik" pitchFamily="34" charset="-122"/>
                <a:cs typeface="Rubik" pitchFamily="34" charset="-120"/>
              </a:rPr>
              <a:t>What we would do next</a:t>
            </a:r>
            <a:endParaRPr lang="en-US" sz="3200" dirty="0"/>
          </a:p>
        </p:txBody>
      </p:sp>
      <p:sp>
        <p:nvSpPr>
          <p:cNvPr id="4" name="Shape 2"/>
          <p:cNvSpPr/>
          <p:nvPr/>
        </p:nvSpPr>
        <p:spPr>
          <a:xfrm>
            <a:off x="815975" y="1870075"/>
            <a:ext cx="5187950" cy="1192530"/>
          </a:xfrm>
          <a:prstGeom prst="roundRect">
            <a:avLst>
              <a:gd name="adj" fmla="val 8253"/>
            </a:avLst>
          </a:prstGeom>
          <a:solidFill>
            <a:srgbClr val="FFFFFF"/>
          </a:solidFill>
          <a:ln w="6350">
            <a:solidFill>
              <a:srgbClr val="E4E0D6"/>
            </a:solidFill>
            <a:prstDash val="solid"/>
          </a:ln>
        </p:spPr>
      </p:sp>
      <p:sp>
        <p:nvSpPr>
          <p:cNvPr id="5" name="Text 3"/>
          <p:cNvSpPr/>
          <p:nvPr/>
        </p:nvSpPr>
        <p:spPr>
          <a:xfrm>
            <a:off x="1046480" y="2075160"/>
            <a:ext cx="486874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Noisy or late readings</a:t>
            </a:r>
            <a:endParaRPr lang="en-US" sz="1600" dirty="0"/>
          </a:p>
        </p:txBody>
      </p:sp>
      <p:sp>
        <p:nvSpPr>
          <p:cNvPr id="6" name="Text 4"/>
          <p:cNvSpPr/>
          <p:nvPr/>
        </p:nvSpPr>
        <p:spPr>
          <a:xfrm>
            <a:off x="1046480" y="2395240"/>
            <a:ext cx="486874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Real tumour markers are imprecise and delayed. Since what the AI sees matters most, test that next.</a:t>
            </a:r>
            <a:endParaRPr lang="en-US" sz="1300" dirty="0"/>
          </a:p>
        </p:txBody>
      </p:sp>
      <p:sp>
        <p:nvSpPr>
          <p:cNvPr id="7" name="Shape 5"/>
          <p:cNvSpPr/>
          <p:nvPr/>
        </p:nvSpPr>
        <p:spPr>
          <a:xfrm>
            <a:off x="6188075" y="1870075"/>
            <a:ext cx="5187950" cy="1192530"/>
          </a:xfrm>
          <a:prstGeom prst="roundRect">
            <a:avLst>
              <a:gd name="adj" fmla="val 8253"/>
            </a:avLst>
          </a:prstGeom>
          <a:solidFill>
            <a:srgbClr val="FFFFFF"/>
          </a:solidFill>
          <a:ln w="6350">
            <a:solidFill>
              <a:srgbClr val="E4E0D6"/>
            </a:solidFill>
            <a:prstDash val="solid"/>
          </a:ln>
        </p:spPr>
      </p:sp>
      <p:sp>
        <p:nvSpPr>
          <p:cNvPr id="8" name="Text 6"/>
          <p:cNvSpPr/>
          <p:nvPr/>
        </p:nvSpPr>
        <p:spPr>
          <a:xfrm>
            <a:off x="6418580" y="2075160"/>
            <a:ext cx="486874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AIs with a ⅔ dose</a:t>
            </a:r>
            <a:endParaRPr lang="en-US" sz="1600" dirty="0"/>
          </a:p>
        </p:txBody>
      </p:sp>
      <p:sp>
        <p:nvSpPr>
          <p:cNvPr id="9" name="Text 7"/>
          <p:cNvSpPr/>
          <p:nvPr/>
        </p:nvSpPr>
        <p:spPr>
          <a:xfrm>
            <a:off x="6418580" y="2395240"/>
            <a:ext cx="486874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The planner gained most from this one dose; can a trained AI learn to use it?</a:t>
            </a:r>
            <a:endParaRPr lang="en-US" sz="1300" dirty="0"/>
          </a:p>
        </p:txBody>
      </p:sp>
      <p:sp>
        <p:nvSpPr>
          <p:cNvPr id="10" name="Shape 8"/>
          <p:cNvSpPr/>
          <p:nvPr/>
        </p:nvSpPr>
        <p:spPr>
          <a:xfrm>
            <a:off x="815975" y="3246735"/>
            <a:ext cx="5187950" cy="1192530"/>
          </a:xfrm>
          <a:prstGeom prst="roundRect">
            <a:avLst>
              <a:gd name="adj" fmla="val 8253"/>
            </a:avLst>
          </a:prstGeom>
          <a:solidFill>
            <a:srgbClr val="FFFFFF"/>
          </a:solidFill>
          <a:ln w="6350">
            <a:solidFill>
              <a:srgbClr val="E4E0D6"/>
            </a:solidFill>
            <a:prstDash val="solid"/>
          </a:ln>
        </p:spPr>
      </p:sp>
      <p:sp>
        <p:nvSpPr>
          <p:cNvPr id="11" name="Text 9"/>
          <p:cNvSpPr/>
          <p:nvPr/>
        </p:nvSpPr>
        <p:spPr>
          <a:xfrm>
            <a:off x="1046480" y="3451820"/>
            <a:ext cx="486874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AIs that remember last week’s dose</a:t>
            </a:r>
            <a:endParaRPr lang="en-US" sz="1600" dirty="0"/>
          </a:p>
        </p:txBody>
      </p:sp>
      <p:sp>
        <p:nvSpPr>
          <p:cNvPr id="12" name="Text 10"/>
          <p:cNvSpPr/>
          <p:nvPr/>
        </p:nvSpPr>
        <p:spPr>
          <a:xfrm>
            <a:off x="1046480" y="3771900"/>
            <a:ext cx="486874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So they can learn calmer schedules themselves, as the planner did in D4.</a:t>
            </a:r>
            <a:endParaRPr lang="en-US" sz="1300" dirty="0"/>
          </a:p>
        </p:txBody>
      </p:sp>
      <p:sp>
        <p:nvSpPr>
          <p:cNvPr id="13" name="Shape 11"/>
          <p:cNvSpPr/>
          <p:nvPr/>
        </p:nvSpPr>
        <p:spPr>
          <a:xfrm>
            <a:off x="6188075" y="3246735"/>
            <a:ext cx="5187950" cy="1192530"/>
          </a:xfrm>
          <a:prstGeom prst="roundRect">
            <a:avLst>
              <a:gd name="adj" fmla="val 8253"/>
            </a:avLst>
          </a:prstGeom>
          <a:solidFill>
            <a:srgbClr val="FFFFFF"/>
          </a:solidFill>
          <a:ln w="6350">
            <a:solidFill>
              <a:srgbClr val="E4E0D6"/>
            </a:solidFill>
            <a:prstDash val="solid"/>
          </a:ln>
        </p:spPr>
      </p:sp>
      <p:sp>
        <p:nvSpPr>
          <p:cNvPr id="14" name="Text 12"/>
          <p:cNvSpPr/>
          <p:nvPr/>
        </p:nvSpPr>
        <p:spPr>
          <a:xfrm>
            <a:off x="6418580" y="3451820"/>
            <a:ext cx="486874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B44"/>
                </a:solidFill>
                <a:latin typeface="Rubik" pitchFamily="34" charset="0"/>
                <a:ea typeface="Rubik" pitchFamily="34" charset="-122"/>
                <a:cs typeface="Rubik" pitchFamily="34" charset="-120"/>
              </a:rPr>
              <a:t>A side-effects goal</a:t>
            </a:r>
            <a:endParaRPr lang="en-US" sz="1600" dirty="0"/>
          </a:p>
        </p:txBody>
      </p:sp>
      <p:sp>
        <p:nvSpPr>
          <p:cNvPr id="15" name="Text 13"/>
          <p:cNvSpPr/>
          <p:nvPr/>
        </p:nvSpPr>
        <p:spPr>
          <a:xfrm>
            <a:off x="6418580" y="3771900"/>
            <a:ext cx="486874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A5C"/>
                </a:solidFill>
                <a:latin typeface="Nunito Sans" pitchFamily="34" charset="0"/>
                <a:ea typeface="Nunito Sans" pitchFamily="34" charset="-122"/>
                <a:cs typeface="Nunito Sans" pitchFamily="34" charset="-120"/>
              </a:rPr>
              <a:t>Drug toxicity could make lasting control truly differ from survival.</a:t>
            </a:r>
            <a:endParaRPr lang="en-US" sz="13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D2B4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2B48F"/>
                </a:solidFill>
                <a:latin typeface="Nunito Sans" pitchFamily="34" charset="0"/>
                <a:ea typeface="Nunito Sans" pitchFamily="34" charset="-122"/>
                <a:cs typeface="Nunito Sans" pitchFamily="34" charset="-120"/>
              </a:rPr>
              <a:t>IN ONE SENTENCE</a:t>
            </a:r>
            <a:endParaRPr lang="en-US" sz="1300" dirty="0"/>
          </a:p>
        </p:txBody>
      </p:sp>
      <p:sp>
        <p:nvSpPr>
          <p:cNvPr id="3" name="Text 1"/>
          <p:cNvSpPr>
            <a:spLocks noGrp="1"/>
          </p:cNvSpPr>
          <p:nvPr>
            <p:ph type="title"/>
          </p:nvPr>
        </p:nvSpPr>
        <p:spPr>
          <a:xfrm>
            <a:off x="812800" y="2376190"/>
            <a:ext cx="10883392" cy="1732280"/>
          </a:xfrm>
          <a:prstGeom prst="rect">
            <a:avLst/>
          </a:prstGeom>
          <a:noFill/>
          <a:ln/>
        </p:spPr>
        <p:txBody>
          <a:bodyPr wrap="square" lIns="0" tIns="0" rIns="0" bIns="0" rtlCol="0" anchor="t">
            <a:normAutofit/>
          </a:bodyPr>
          <a:lstStyle/>
          <a:p>
            <a:pPr marL="0" indent="0" algn="l">
              <a:lnSpc>
                <a:spcPts val="4480"/>
              </a:lnSpc>
              <a:buNone/>
            </a:pPr>
            <a:r>
              <a:rPr lang="en-US" sz="4000" b="1" i="0" dirty="0">
                <a:solidFill>
                  <a:srgbClr val="F4F1EA"/>
                </a:solidFill>
                <a:latin typeface="Rubik" pitchFamily="34" charset="0"/>
                <a:ea typeface="Rubik" pitchFamily="34" charset="-122"/>
                <a:cs typeface="Rubik" pitchFamily="34" charset="-120"/>
              </a:rPr>
              <a:t>Containment wins, and what the doctor can see decides how much the AI’s goal matters.</a:t>
            </a:r>
            <a:endParaRPr lang="en-US" sz="4000" dirty="0"/>
          </a:p>
        </p:txBody>
      </p:sp>
      <p:pic>
        <p:nvPicPr>
          <p:cNvPr id="4" name="Image 0" descr="line"/>
          <p:cNvPicPr>
            <a:picLocks noChangeAspect="1"/>
          </p:cNvPicPr>
          <p:nvPr/>
        </p:nvPicPr>
        <p:blipFill>
          <a:blip r:embed="rId3"/>
          <a:srcRect/>
          <a:stretch/>
        </p:blipFill>
        <p:spPr>
          <a:xfrm>
            <a:off x="812800" y="4337050"/>
            <a:ext cx="1016000" cy="38100"/>
          </a:xfrm>
          <a:prstGeom prst="rect">
            <a:avLst/>
          </a:prstGeom>
        </p:spPr>
      </p:pic>
      <p:sp>
        <p:nvSpPr>
          <p:cNvPr id="5" name="Text 2"/>
          <p:cNvSpPr/>
          <p:nvPr/>
        </p:nvSpPr>
        <p:spPr>
          <a:xfrm>
            <a:off x="812800" y="5707360"/>
            <a:ext cx="10883392" cy="363220"/>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C5CEDC"/>
                </a:solidFill>
                <a:latin typeface="Nunito Sans" pitchFamily="34" charset="0"/>
                <a:ea typeface="Nunito Sans" pitchFamily="34" charset="-122"/>
                <a:cs typeface="Nunito Sans" pitchFamily="34" charset="-120"/>
              </a:rPr>
              <a:t>Thank you · Questions</a:t>
            </a:r>
            <a:endParaRPr lang="en-US" sz="1900" dirty="0"/>
          </a:p>
        </p:txBody>
      </p:sp>
    </p:spTree>
  </p:cSld>
  <p:clrMapOvr>
    <a:masterClrMapping/>
  </p:clrMapOvr>
</p:sld>
</file>

<file path=ppt/theme/theme1.xml><?xml version="1.0" encoding="utf-8"?>
<a:theme xmlns:a="http://schemas.openxmlformats.org/drawingml/2006/main" name="Adaptive Therapy RL — Every Experiment">
  <a:themeElements>
    <a:clrScheme name="Adaptive Therapy RL — Every Experiment">
      <a:dk1>
        <a:srgbClr val="3F4A5C"/>
      </a:dk1>
      <a:lt1>
        <a:srgbClr val="FAF8F3"/>
      </a:lt1>
      <a:dk2>
        <a:srgbClr val="6E7682"/>
      </a:dk2>
      <a:lt2>
        <a:srgbClr val="E7E7E4"/>
      </a:lt2>
      <a:accent1>
        <a:srgbClr val="2B6CB0"/>
      </a:accent1>
      <a:accent2>
        <a:srgbClr val="1D2B44"/>
      </a:accent2>
      <a:accent3>
        <a:srgbClr val="F2B48F"/>
      </a:accent3>
      <a:accent4>
        <a:srgbClr val="B54A1A"/>
      </a:accent4>
      <a:accent5>
        <a:srgbClr val="1F7A5C"/>
      </a:accent5>
      <a:accent6>
        <a:srgbClr val="C5CEDC"/>
      </a:accent6>
      <a:hlink>
        <a:srgbClr val="0563C1"/>
      </a:hlink>
      <a:folHlink>
        <a:srgbClr val="954F72"/>
      </a:folHlink>
    </a:clrScheme>
    <a:fontScheme name="Adaptive Therapy RL — Every Experiment">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16735</Words>
  <Application>Microsoft Office PowerPoint</Application>
  <PresentationFormat>Widescreen</PresentationFormat>
  <Paragraphs>1501</Paragraphs>
  <Slides>126</Slides>
  <Notes>126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126</vt:i4>
      </vt:variant>
    </vt:vector>
  </HeadingPairs>
  <TitlesOfParts>
    <vt:vector size="130" baseType="lpstr">
      <vt:lpstr>Rubik</vt:lpstr>
      <vt:lpstr>Arial</vt:lpstr>
      <vt:lpstr>Nunito Sans</vt:lpstr>
      <vt:lpstr>Adaptive Therapy RL — Every Experiment</vt:lpstr>
      <vt:lpstr>Teaching an AI to schedule cancer drugs</vt:lpstr>
      <vt:lpstr>Why cancer drugs stop working</vt:lpstr>
      <vt:lpstr>Adaptive therapy: treat less to stay in control</vt:lpstr>
      <vt:lpstr>How an AI learns a treatment schedule</vt:lpstr>
      <vt:lpstr>Which goal should the AI be given?</vt:lpstr>
      <vt:lpstr>Our virtual patient</vt:lpstr>
      <vt:lpstr>Six words used on almost every slide</vt:lpstr>
      <vt:lpstr>30 experiments in five parts</vt:lpstr>
      <vt:lpstr>Building and checking the simulator</vt:lpstr>
      <vt:lpstr>Does our simulator match the published study?</vt:lpstr>
      <vt:lpstr>Both schedules match the paper</vt:lpstr>
      <vt:lpstr>Our simulator is a faithful copy</vt:lpstr>
      <vt:lpstr>How good are simple human rules?</vt:lpstr>
      <vt:lpstr>Pausing helps, and tuning helps more</vt:lpstr>
      <vt:lpstr>Human rules help, but leave a lot of room</vt:lpstr>
      <vt:lpstr>What is the best possible plan for each goal?</vt:lpstr>
      <vt:lpstr>Three goals pick the same plan; R3 does not</vt:lpstr>
      <vt:lpstr>The best plan is “containment”</vt:lpstr>
      <vt:lpstr>Training the AI and comparing the goals</vt:lpstr>
      <vt:lpstr>Can the AI learn each of the four goals?</vt:lpstr>
      <vt:lpstr>All 40 AIs learned; R3 learned the least</vt:lpstr>
      <vt:lpstr>The AI learns every goal and beats every human rule</vt:lpstr>
      <vt:lpstr>Score every strategy on every goal</vt:lpstr>
      <vt:lpstr>Training on R3 costs points everywhere else</vt:lpstr>
      <vt:lpstr>R1, R2 and R4 last as long; R3 fails sooner</vt:lpstr>
      <vt:lpstr>What each AI actually does to the tumour</vt:lpstr>
      <vt:lpstr>Choosing R3 is the costly mistake</vt:lpstr>
      <vt:lpstr>Do different goals produce different strategies?</vt:lpstr>
      <vt:lpstr>Thresholds, and how much the AIs disagree</vt:lpstr>
      <vt:lpstr>Where each AI chooses to treat</vt:lpstr>
      <vt:lpstr>Different goals, different strategies, except R1 and R4</vt:lpstr>
      <vt:lpstr>Stress tests</vt:lpstr>
      <vt:lpstr>Would a different mix target help R3?</vt:lpstr>
      <vt:lpstr>The target makes almost no difference</vt:lpstr>
      <vt:lpstr>You cannot hold a fixed mix in a tumour that will fail</vt:lpstr>
      <vt:lpstr>Does it work on patients the AI has never seen?</vt:lpstr>
      <vt:lpstr>On new patients, R3 still comes last</vt:lpstr>
      <vt:lpstr>The main result carries over to new patients</vt:lpstr>
      <vt:lpstr>What if our model numbers are wrong?</vt:lpstr>
      <vt:lpstr>AIs hold up; the exact best plan breaks</vt:lpstr>
      <vt:lpstr>A safety margin beats a perfect plan for the wrong patient</vt:lpstr>
      <vt:lpstr>What if the patient is checked less often?</vt:lpstr>
      <vt:lpstr>Checking less often than trained is dangerous</vt:lpstr>
      <vt:lpstr>Check at least as often as the AI was trained</vt:lpstr>
      <vt:lpstr>What if the drug works differently?</vt:lpstr>
      <vt:lpstr>The AIs carry over to other drugs</vt:lpstr>
      <vt:lpstr>AIs survive a wrong drug model; some human rules don’t</vt:lpstr>
      <vt:lpstr>Does it hold when resistance has a cost?</vt:lpstr>
      <vt:lpstr>Same pattern, just everything lasts longer</vt:lpstr>
      <vt:lpstr>Strategies: R3 differs, R1 and R4 do not</vt:lpstr>
      <vt:lpstr>Where each AI treats on this patient</vt:lpstr>
      <vt:lpstr>The conclusions carry over</vt:lpstr>
      <vt:lpstr>What the AI is allowed to see</vt:lpstr>
      <vt:lpstr>What if the AI only sees tumour size?</vt:lpstr>
      <vt:lpstr>Size-only AIs failed, but a simple size rule works</vt:lpstr>
      <vt:lpstr>The information was there; the AI couldn’t learn it</vt:lpstr>
      <vt:lpstr>Give the AI a better teacher during training</vt:lpstr>
      <vt:lpstr>Every size-only AI now trains, and does better</vt:lpstr>
      <vt:lpstr>The four goals now end up almost the same</vt:lpstr>
      <vt:lpstr>Strategies still differ, but only slightly</vt:lpstr>
      <vt:lpstr>Seeing less made the AI better, and the goals matter less</vt:lpstr>
      <vt:lpstr>Does a memory of past check-ups help?</vt:lpstr>
      <vt:lpstr>Memory brings back some differences</vt:lpstr>
      <vt:lpstr>Scoring every memory AI on every goal</vt:lpstr>
      <vt:lpstr>Memory AIs disagree much more among themselves</vt:lpstr>
      <vt:lpstr>Memory makes learning harder and noisier</vt:lpstr>
      <vt:lpstr>Was it just too little training?</vt:lpstr>
      <vt:lpstr>More practice helps R1 and R4 the most</vt:lpstr>
      <vt:lpstr>Scoring the longer-trained memory AIs</vt:lpstr>
      <vt:lpstr>Copies still disagree as much as before</vt:lpstr>
      <vt:lpstr>More practice raises scores, not the goal story</vt:lpstr>
      <vt:lpstr>The follow-up round</vt:lpstr>
      <vt:lpstr>Does it hold when cells also die naturally?</vt:lpstr>
      <vt:lpstr>The same shape of results again</vt:lpstr>
      <vt:lpstr>R3 differs; R1 and R4 cannot be told apart</vt:lpstr>
      <vt:lpstr>A third kind of patient, the same answer</vt:lpstr>
      <vt:lpstr>A fair race: the same training for everyone</vt:lpstr>
      <vt:lpstr>Both settings keep improving with practice</vt:lpstr>
      <vt:lpstr>Full information, 3M steps: R3 still costs most</vt:lpstr>
      <vt:lpstr>Size + better judge, 3M: goals almost identical</vt:lpstr>
      <vt:lpstr>In a fair race, size + better judge wins</vt:lpstr>
      <vt:lpstr>Is our “best possible plan” precise enough?</vt:lpstr>
      <vt:lpstr>A 4× finer grid changes almost nothing</vt:lpstr>
      <vt:lpstr>Our yardstick is solid</vt:lpstr>
      <vt:lpstr>Survival versus drug: is anyone wasting drug?</vt:lpstr>
      <vt:lpstr>One line links drug use and survival</vt:lpstr>
      <vt:lpstr>Living longer costs drug, and that is fine</vt:lpstr>
      <vt:lpstr>Was R3 just badly designed?</vt:lpstr>
      <vt:lpstr>Smoother rewards don’t rescue R3</vt:lpstr>
      <vt:lpstr>R3’s problem is the idea, not the details</vt:lpstr>
      <vt:lpstr>How often is the drug switched on and off?</vt:lpstr>
      <vt:lpstr>Best plans and AIs switch about every other week</vt:lpstr>
      <vt:lpstr>The best schedules are busy</vt:lpstr>
      <vt:lpstr>What if “failure” is defined differently?</vt:lpstr>
      <vt:lpstr>Same ranking at every failure line</vt:lpstr>
      <vt:lpstr>The line changes the numbers, not the story</vt:lpstr>
      <vt:lpstr>Does it hold across a whole map of patients?</vt:lpstr>
      <vt:lpstr>The same pattern at all 25 patients</vt:lpstr>
      <vt:lpstr>From “a few patients” to “a whole region”</vt:lpstr>
      <vt:lpstr>What if a half dose is allowed?</vt:lpstr>
      <vt:lpstr>What a fixed dose does on its own</vt:lpstr>
      <vt:lpstr>Best plans with three doses</vt:lpstr>
      <vt:lpstr>AIs with three doses: R1 now trails R2 and R4</vt:lpstr>
      <vt:lpstr>All six pairs of goals now differ</vt:lpstr>
      <vt:lpstr>Half doses help, and expose a detail in R1</vt:lpstr>
      <vt:lpstr>How many dose levels are worth having?</vt:lpstr>
      <vt:lpstr>The planner gains from levels; the AI does not</vt:lpstr>
      <vt:lpstr>More levels help the planner, not the AI</vt:lpstr>
      <vt:lpstr>Does it matter how strong a half dose is?</vt:lpstr>
      <vt:lpstr>A weaker half dose gives a smaller gain</vt:lpstr>
      <vt:lpstr>The drug’s curve sets the size, not the direction</vt:lpstr>
      <vt:lpstr>What does a calmer schedule cost?</vt:lpstr>
      <vt:lpstr>Fewer switches cost surprisingly little</vt:lpstr>
      <vt:lpstr>Clinic-friendly schedules are cheap</vt:lpstr>
      <vt:lpstr>What if sensitive cells can turn resistant?</vt:lpstr>
      <vt:lpstr>Mutation shortens survival for everyone</vt:lpstr>
      <vt:lpstr>The AIs still can’t tell R1 and R4 apart</vt:lpstr>
      <vt:lpstr>Mutation splits R1 and R4, but only on paper</vt:lpstr>
      <vt:lpstr>What if resistant cells are only partly resistant?</vt:lpstr>
      <vt:lpstr>R3 loses about 20%, whatever ε is</vt:lpstr>
      <vt:lpstr>Partial resistance doesn’t rescue R3</vt:lpstr>
      <vt:lpstr>What we found, across all 30 experiments</vt:lpstr>
      <vt:lpstr>What this could mean for treatment</vt:lpstr>
      <vt:lpstr>What this study cannot claim</vt:lpstr>
      <vt:lpstr>What we would do next</vt:lpstr>
      <vt:lpstr>Containment wins, and what the doctor can see decides how much the AI’s goal matters.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Therapy RL — Every Experiment</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ARNAV KUMAR</cp:lastModifiedBy>
  <cp:revision>1</cp:revision>
  <dcterms:created xsi:type="dcterms:W3CDTF">2026-10-22T17:26:08Z</dcterms:created>
  <dcterms:modified xsi:type="dcterms:W3CDTF">2026-10-22T17:53:57Z</dcterms:modified>
</cp:coreProperties>
</file>