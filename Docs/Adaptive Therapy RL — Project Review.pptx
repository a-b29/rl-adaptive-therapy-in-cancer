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reviews the whole project: the question, the methods, the findings from both experiment rounds, and what we learned. A draft research article accompanies it. The one-line version: in this tumour model, most published objectives lead to the same containment policy, coexistence is the outlier and loses, and what the agent can observe matters more than what it optimises.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therapy (Gatenby 2009) exploits competition: drug-sensitive cells suppress resistant ones, so treating less can delay resistance. Choosing when to treat is a sequential decision problem, and several groups have used RL for it. But each paper picks its own reward and its own simulator, so when two papers report different policies you cannot tell whether the objective, the model or the learner caused the difference. Our project isolates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ports are interpretations, not literal copies. R2's progression penalty is calibrated so that dying early never pays; the literal Gluzman form would reward early death in a model with no recovery state. R3 is scaled to the same 0.1-per-week size as R1. R4 is scored every week rather than once at the end, because a terminal durability score is either constant or rewards progressing early. All per-step rewards are about 0.1 in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rule is that everything except the reward is shared. That makes the off-diagonal of the score matrix meaningful: if an R1-trained agent scores badly on R3, it is because of the objective, not the simulator or the learner. Round one (E0 to E11d) trained 315 agents; round two (the follow-up experiments) trained 270 more. PPO, value iteration, the environment and all analysis live in one module, src/atrl.py.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model used by Gallagher's deep-RL papers and Ma 2026, so our numbers are comparable to theirs. General form: dS/dt = rS S (1 − N/K)(1 − dD D) − dT S and dR/dt = rR R (1 − N/K) − dT R, with cost of resistance 1 − rR/rS and turnover dT/rS. The robustness patients vary those two. The full-composition observation is an oracle; later experiments replace it with tumour burden only, which is closer to what a clinician sees through PSA. Gamma 0.999 per week means a horizon of about 19 years, so episodes are effectively undiscounted.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iteration uses the same step and reward code as training, with bilinear interpolation on the grid; it converges in 3 to 10 policy-iteration steps. Doubling the grid (follow-up A3) moved no ceiling by more than 0.36%. PPO hyperparameters: 32 parallel environments, 128-step rollouts, 10 epochs, learning rate 3e-4 annealed, clip 0.2, GAE lambda 0.99 (chosen on pilots for all objectives at once), entropy 0.01. G is an objective's discounted return. The permutation test compares between-objective divergence (symmetric KL and greedy-action disagreement on visited states) against within-objective seed-to-seed divergence, Bonferroni corrected.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Round one (E0 to E11d, 315 agents) implements the Phase 2 plan: validate, compare, stress-test, then relax the oracle observation. Round two (270 agents) answers reviewer-style questions: are budgets equal across observation settings (A2), does it hold on a turnover patient (A1) and across a 25-point cost × turnover map (C1), is the VI grid fine enough (A3), and what changes with graded doses, switching costs, mutation and partially sensitive resistant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E0 reproduces Gallagher 2023 Figure 2. The paper quotes AT50 as both 662 and 672 days; we reproduce 662.8 with daily decisions and exactly 672 with a 28-day cadence checked only at decision points, so the 672 is most likely a monthly-cadence number. E1 then sets the bar: maximum tolerated dose progresses at 452 days, AT50 at 673, AT90 at 932, and a tuned AT-PSC rule at 1135 days. The tuned rule turns into full-cycle containment. The value-iteration optimum reaches 2038 days, so there is a lot of room above the heuristics.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panel is the optimal treat (blue) or withhold (light) decision over burden N/N0 on the x-axis and log resistant fraction on the y-axis; the orange line is the optimal trajectory from the start state. For R1, R2 and R4 the treat region is a thin strip just below the progression line: let the tumour regrow, and pulse the drug only when the next week would cross 1.2 N0. R3 also treats across a wide band at low resistant fraction, because its reward penalises a nearly pure tumour, so it pushes the resistant fraction up early. The grid value matches simulated returns to within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policy is scored on every objective, normalised so 0 is no treatment and 1 is that objective's optimum. The bold diagonal is each agent on its own objective: 0.85 to 0.87 for R1, R2 and R4, and 0.76 for R3. Read across the R3 row: training on coexistence costs 12 to 18 points on every other objective. The other three cost each other at most 2 points. TTP medians: R1 1744, R2 1726, R3 1494, R4 1751 days; Kruskal–Wallis p = 1e-5, and R1, R2, R4 are not significantly different. The Phase 2 headline hypothesis, that coexistence-training would outlast survival-training, fails with p = 1. It holds in reverse: survival-training is the better way to get coexistence.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Median-seed trajectory for each objective. Blue is the sensitive population, orange the resistant one, and the black ticks along the top are weeks on drug. All four agents learn containment with weekly pulses. In the last year the drug is on almost continuously, because the resistant clone has grown big enough that every week threatens progression. Learned thresholds: R1 1.144, R2 1.149, R3 1.084, R4 1.146 of N0, against 1.174 for the optimum. Agents keep a safety margin below the line; that margin costs about 15% of TTP but, as we will see, makes them robust to model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held for both durability definitions we tried: the 180-day regrowth of the resistant population, and the resistant fraction after a 180-day holiday. A heavier durability weight does change the policy, but only through a loophole: the agent learns to stop treating once a week of survival would score negatively, which is giving up early. Closing the loophole with the R2-style progression penalty restores containment. Two follow-ups found the only splits: with graded doses, R1 differs from R4 only because the holiday bonus pays at zero dose alone; and with S to R mutation at 3e-5 per day, the optimum separates the two by a small amount that trained agents cannot detect (p = 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agents reach about 85% of their own optimum and beat every tuned heuristic. The exact optimum rides right at the progression line, so when the true patient differs from the planning model it often crosses the line early. The agents' learned margin (threshold about 1.145 instead of 1.174) protects them. Another robustness result from E9: every learned policy fails badly if it is monitored less often than it was trained; weekly-trained agents evaluated monthly progress at 83 days. Monthly-trained agents survive every cadence. This replicates Gallagher's asymmetry. Values are medians over 10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coexistence fail so consistently? In any patient who eventually progresses, the resistant population grows under every policy, so a two-population mix cannot be held. The entropy reward reduces to treat early, then contain. Changing the coexistence target from 5% to 50% resistant changed nothing (E6). A smooth entropy reward was worse, not better (B2), and making resistant cells partly drug-sensitive did not rescue it (E2). The optimum holds a target exactly only in patients above Strobl's controllability bound, who never progress anyway. Also robust: weekly-trained agents monitored monthly progress at 83 days, so monitoring must match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clinician sees a burden marker such as PSA, not the sensitive/resistant composition. When we gave the agent only N/N0, PPO failed for every objective, learning to treat far too early (at 0.65 to 0.85 N0). That is not an information limit, since a one-line rule on the same input nearly matches the optimum. The diagnosis is critic aliasing: a value function that sees only burden averages over very different futures. The fix is an asymmetric actor–critic: the deployed policy still sees only burden, but the critic sees the full state during training. Every policy then becomes one sharp threshold at about 1.15 N0, and TTP rises to 1779 to 1855 days, above the full-state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Score is each agent on its own objective as a fraction of the optimum. The R1–R3 gap is the difference in median TTP between survival-trained and coexistence-trained agents, and wrong-objective cost is the largest off-diagonal loss in the score matrix. With burden only plus a full-state critic, the objectives nearly collapse together: the gap shrinks from 250 to 76 days and the cost from 0.18 to 0.035. Giving the actor an 8-week chart brings part of the effect back, but R2- and R3-trained memory agents score no better on their own objectives than R1-trained agents, and seed-to-seed noise is about four times higher even at three times the budget. So the memory effect is a learning artefact, not better service of those objectives.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doses: with doses {0, 0.5, 1}, the R4 optimum rises from 2038 to 2143 days. R1 never uses the half dose because Gallagher's holiday bonus is all-or-nothing; making the bonus proportional to the drug withheld reproduces the R4 optimum exactly, so R1 equals R4 again. More dose levels help the planner (2205 days with 5 levels) but hurt PPO; a single growth-halting dose of 2/3 captures most of the gain. Switching: a switching penalty gives clinically legible schedules cheaply. Mutation: at 3e-5 per day, R4's optimum leaves a post-holiday resistant fraction of 0.444 vs 0.490 for R1, at 6 days less TTP. Pareto: R2's apparent failure in the memory setting is a trade-off of about 285 days for 4 points of dose intensity.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in Lotka–Volterra competition the sensitive population is the only lever on the resistant one, so every objective that values time or low resistance ends up maximising sensitive cells under the burden cap, which is containment. Coexistence aims at the wrong quantity: a 50:50 mix is a state of advanced resistance. Two: what the policy can see decides how much the objective can change it; clinicians see burden, not composition. Three: the information was there; the learning signal was not. Four: the agents' threshold sits about 0.03 N0 below the optimum's, costing about 15% of TTP in the nominal model but protecting against misspecification.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lessons we would carry to the next project. Reward ports need a sanity check of what the optimum does with them: Gluzman's dose-plus-time objective, ported literally into a model without a recovery state, is optimised by never treating and progressing at day 41. Engineering lessons too: training ran as a resumable launcher with cached checkpoints, so two runs killed by low memory lost nothing; and every extension of the engine was checked to be bit-identical to the original before any new result was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caveats worth naming if asked. The value-iteration ceiling is a discretised optimum, so an agent can in principle score slightly above 1; doubling the grid moved ceilings by under 0.4%. And the fixed training budget under-trains long episodes: on the cost-0.42 patient half the R3 seeds fell below the 0.7 rule, and daily-cadence agents saw seven times fewer simulated days. The equal-budget rerun (A2) showed the main orderings are stable at three times the budget. We also used a single learning algorithm, PPO.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Noisy or delayed burden readings need new observation plumbing in the environment, but they are now the most relevant gap, because the follow-up round made observation the strongest lever in the study. The {0, 2/3, 1} dose set was solved only by value iteration; 2/3 is the dose that exactly halts sensitive growth. The draft article contains the full methods, results with figures, discussion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for questions: survival, dose and durability objectives all lead to containment in this model; coexistence is the outlier and costs 12 to 18 percent everywhere else; durability equals survival; learned agents beat tuned heuristics by about 50 percent; and once the policy sees only what a clinician sees, the objectives nearly merge, provided the critic gets the full state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AF8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17"/>
            <a:ext cx="10566400" cy="417068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AF8F3"/>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67360"/>
          </a:xfrm>
          <a:prstGeom prst="rect">
            <a:avLst/>
          </a:prstGeom>
          <a:noFill/>
          <a:ln/>
        </p:spPr>
        <p:txBody>
          <a:bodyPr wrap="square" lIns="0" tIns="0" rIns="0" bIns="0" rtlCol="0" anchor="t"/>
          <a:lstStyle>
            <a:lvl1pPr algn="l" indent="0" marL="0">
              <a:lnSpc>
                <a:spcPct val="115000"/>
              </a:lnSpc>
              <a:buNone/>
              <a:defRPr lang="en-US" sz="3200" dirty="0">
                <a:solidFill>
                  <a:srgbClr val="14213D"/>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517"/>
            <a:ext cx="10566400" cy="4170683"/>
          </a:xfrm>
          <a:prstGeom prst="rect">
            <a:avLst/>
          </a:prstGeom>
          <a:noFill/>
          <a:ln/>
        </p:spPr>
        <p:txBody>
          <a:bodyPr wrap="square" lIns="0" tIns="0" rIns="0" bIns="0" rtlCol="0" anchor="t"/>
          <a:lstStyle>
            <a:lvl1pPr algn="l" indent="0" marL="0">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claude.ai/artifact/LN7VDafaZDqmCnsP4tueYi" TargetMode="External"/><Relationship Id="rId1"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A27C"/>
                </a:solidFill>
                <a:latin typeface="IBM Plex Sans" pitchFamily="34" charset="0"/>
                <a:ea typeface="IBM Plex Sans" pitchFamily="34" charset="-122"/>
                <a:cs typeface="IBM Plex Sans" pitchFamily="34" charset="-120"/>
              </a:rPr>
              <a:t>AI IN MEDICINE · COURSE PROJECT REVIEW</a:t>
            </a:r>
            <a:endParaRPr lang="en-US" sz="1200" dirty="0"/>
          </a:p>
        </p:txBody>
      </p:sp>
      <p:sp>
        <p:nvSpPr>
          <p:cNvPr id="3" name="Text 1"/>
          <p:cNvSpPr/>
          <p:nvPr>
            <p:ph type="title"/>
          </p:nvPr>
        </p:nvSpPr>
        <p:spPr>
          <a:xfrm>
            <a:off x="812800" y="2314575"/>
            <a:ext cx="10883392" cy="1412240"/>
          </a:xfrm>
          <a:prstGeom prst="rect">
            <a:avLst/>
          </a:prstGeom>
          <a:noFill/>
          <a:ln/>
        </p:spPr>
        <p:txBody>
          <a:bodyPr wrap="square" lIns="0" tIns="0" rIns="0" bIns="0" rtlCol="0" anchor="t">
            <a:normAutofit/>
          </a:bodyPr>
          <a:lstStyle/>
          <a:p>
            <a:pPr algn="l" indent="0" marL="0">
              <a:lnSpc>
                <a:spcPts val="5460"/>
              </a:lnSpc>
              <a:buNone/>
            </a:pPr>
            <a:r>
              <a:rPr lang="en-US" sz="5200" b="1" i="0" dirty="0">
                <a:solidFill>
                  <a:srgbClr val="F3EFE6"/>
                </a:solidFill>
                <a:latin typeface="Source Serif 4" pitchFamily="18" charset="0"/>
                <a:ea typeface="Source Serif 4" pitchFamily="18" charset="-122"/>
                <a:cs typeface="Source Serif 4" pitchFamily="18" charset="-120"/>
              </a:rPr>
              <a:t>What should adaptive therapy optimise?</a:t>
            </a:r>
            <a:endParaRPr lang="en-US" sz="5200" dirty="0"/>
          </a:p>
        </p:txBody>
      </p:sp>
      <p:pic>
        <p:nvPicPr>
          <p:cNvPr id="4" name="Image 0" descr="line">    </p:cNvPr>
          <p:cNvPicPr>
            <a:picLocks noChangeAspect="1"/>
          </p:cNvPicPr>
          <p:nvPr/>
        </p:nvPicPr>
        <p:blipFill>
          <a:blip r:embed="rId1"/>
          <a:srcRect l="0" r="0" t="0" b="0"/>
          <a:stretch/>
        </p:blipFill>
        <p:spPr>
          <a:xfrm>
            <a:off x="812800" y="3955415"/>
            <a:ext cx="1016000" cy="25400"/>
          </a:xfrm>
          <a:prstGeom prst="rect">
            <a:avLst/>
          </a:prstGeom>
        </p:spPr>
      </p:pic>
      <p:sp>
        <p:nvSpPr>
          <p:cNvPr id="5" name="Text 2"/>
          <p:cNvSpPr/>
          <p:nvPr/>
        </p:nvSpPr>
        <p:spPr>
          <a:xfrm>
            <a:off x="812800" y="4234815"/>
            <a:ext cx="11379200" cy="334010"/>
          </a:xfrm>
          <a:prstGeom prst="rect">
            <a:avLst/>
          </a:prstGeom>
          <a:noFill/>
          <a:ln/>
        </p:spPr>
        <p:txBody>
          <a:bodyPr wrap="square" lIns="0" tIns="0" rIns="0" bIns="0" rtlCol="0" anchor="t">
            <a:normAutofit/>
          </a:bodyPr>
          <a:lstStyle/>
          <a:p>
            <a:pPr algn="l" indent="0" marL="0">
              <a:lnSpc>
                <a:spcPts val="2430"/>
              </a:lnSpc>
              <a:buNone/>
            </a:pPr>
            <a:r>
              <a:rPr lang="en-US" sz="1800" dirty="0">
                <a:solidFill>
                  <a:srgbClr val="BFC8D8"/>
                </a:solidFill>
                <a:latin typeface="IBM Plex Sans" pitchFamily="34" charset="0"/>
                <a:ea typeface="IBM Plex Sans" pitchFamily="34" charset="-122"/>
                <a:cs typeface="IBM Plex Sans" pitchFamily="34" charset="-120"/>
              </a:rPr>
              <a:t>Four reinforcement-learning objectives, one tumour model, and every policy scored on every objective</a:t>
            </a:r>
            <a:endParaRPr lang="en-US" sz="1800" dirty="0"/>
          </a:p>
        </p:txBody>
      </p:sp>
      <p:sp>
        <p:nvSpPr>
          <p:cNvPr id="6" name="Text 3"/>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8"/>
                </a:solidFill>
                <a:latin typeface="IBM Plex Sans" pitchFamily="34" charset="0"/>
                <a:ea typeface="IBM Plex Sans" pitchFamily="34" charset="-122"/>
                <a:cs typeface="IBM Plex Sans" pitchFamily="34" charset="-120"/>
              </a:rPr>
              <a:t>What we did · How we did it · What we found · What we learned · Draft article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THE QUESTION</a:t>
            </a:r>
            <a:endParaRPr lang="en-US" sz="1200" dirty="0"/>
          </a:p>
        </p:txBody>
      </p:sp>
      <p:sp>
        <p:nvSpPr>
          <p:cNvPr id="3" name="Text 1"/>
          <p:cNvSpPr/>
          <p:nvPr>
            <p:ph type="title"/>
          </p:nvPr>
        </p:nvSpPr>
        <p:spPr>
          <a:xfrm>
            <a:off x="812800" y="1102360"/>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Every RL paper on adaptive therapy picks its own objective</a:t>
            </a:r>
            <a:endParaRPr lang="en-US" sz="3200" dirty="0"/>
          </a:p>
        </p:txBody>
      </p:sp>
      <p:sp>
        <p:nvSpPr>
          <p:cNvPr id="4" name="Shape 2"/>
          <p:cNvSpPr/>
          <p:nvPr/>
        </p:nvSpPr>
        <p:spPr>
          <a:xfrm>
            <a:off x="815975" y="2773363"/>
            <a:ext cx="5175250" cy="1634490"/>
          </a:xfrm>
          <a:prstGeom prst="roundRect">
            <a:avLst>
              <a:gd name="adj" fmla="val 6022"/>
            </a:avLst>
          </a:prstGeom>
          <a:solidFill>
            <a:srgbClr val="FFFFFF"/>
          </a:solidFill>
          <a:ln w="6350">
            <a:solidFill>
              <a:srgbClr val="E2DED3"/>
            </a:solidFill>
            <a:prstDash val="solid"/>
          </a:ln>
        </p:spPr>
      </p:sp>
      <p:sp>
        <p:nvSpPr>
          <p:cNvPr id="5" name="Text 3"/>
          <p:cNvSpPr/>
          <p:nvPr/>
        </p:nvSpPr>
        <p:spPr>
          <a:xfrm>
            <a:off x="1071880" y="3029268"/>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ource Serif 4" pitchFamily="18" charset="0"/>
                <a:ea typeface="Source Serif 4" pitchFamily="18" charset="-122"/>
                <a:cs typeface="Source Serif 4" pitchFamily="18" charset="-120"/>
              </a:rPr>
              <a:t>Adaptive therapy</a:t>
            </a:r>
            <a:endParaRPr lang="en-US" sz="1800" dirty="0"/>
          </a:p>
        </p:txBody>
      </p:sp>
      <p:sp>
        <p:nvSpPr>
          <p:cNvPr id="6" name="Text 4"/>
          <p:cNvSpPr/>
          <p:nvPr/>
        </p:nvSpPr>
        <p:spPr>
          <a:xfrm>
            <a:off x="1071880" y="3405188"/>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Treat to contain the tumour, not to eradicate it. Sensitive cells compete with resistant ones, so withholding drug keeps the competitors alive.</a:t>
            </a:r>
            <a:endParaRPr lang="en-US" sz="1400" dirty="0"/>
          </a:p>
        </p:txBody>
      </p:sp>
      <p:sp>
        <p:nvSpPr>
          <p:cNvPr id="7" name="Shape 5"/>
          <p:cNvSpPr/>
          <p:nvPr/>
        </p:nvSpPr>
        <p:spPr>
          <a:xfrm>
            <a:off x="6200775" y="2773363"/>
            <a:ext cx="5175250" cy="1634490"/>
          </a:xfrm>
          <a:prstGeom prst="roundRect">
            <a:avLst>
              <a:gd name="adj" fmla="val 6022"/>
            </a:avLst>
          </a:prstGeom>
          <a:solidFill>
            <a:srgbClr val="FFFFFF"/>
          </a:solidFill>
          <a:ln w="6350">
            <a:solidFill>
              <a:srgbClr val="E2DED3"/>
            </a:solidFill>
            <a:prstDash val="solid"/>
          </a:ln>
        </p:spPr>
      </p:sp>
      <p:sp>
        <p:nvSpPr>
          <p:cNvPr id="8" name="Text 6"/>
          <p:cNvSpPr/>
          <p:nvPr/>
        </p:nvSpPr>
        <p:spPr>
          <a:xfrm>
            <a:off x="6456680" y="3029268"/>
            <a:ext cx="4803343"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4213D"/>
                </a:solidFill>
                <a:latin typeface="Source Serif 4" pitchFamily="18" charset="0"/>
                <a:ea typeface="Source Serif 4" pitchFamily="18" charset="-122"/>
                <a:cs typeface="Source Serif 4" pitchFamily="18" charset="-120"/>
              </a:rPr>
              <a:t>The gap</a:t>
            </a:r>
            <a:endParaRPr lang="en-US" sz="1800" dirty="0"/>
          </a:p>
        </p:txBody>
      </p:sp>
      <p:sp>
        <p:nvSpPr>
          <p:cNvPr id="9" name="Text 7"/>
          <p:cNvSpPr/>
          <p:nvPr/>
        </p:nvSpPr>
        <p:spPr>
          <a:xfrm>
            <a:off x="6456680" y="3405188"/>
            <a:ext cx="4803343"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IBM Plex Sans" pitchFamily="34" charset="0"/>
                <a:ea typeface="IBM Plex Sans" pitchFamily="34" charset="-122"/>
                <a:cs typeface="IBM Plex Sans" pitchFamily="34" charset="-120"/>
              </a:rPr>
              <a:t>Each study optimises one objective inside its own simulator. Survival, dose, coexistence and durability have never been compared on equal terms.</a:t>
            </a:r>
            <a:endParaRPr lang="en-US" sz="1400" dirty="0"/>
          </a:p>
        </p:txBody>
      </p:sp>
      <p:sp>
        <p:nvSpPr>
          <p:cNvPr id="10" name="Text 8"/>
          <p:cNvSpPr/>
          <p:nvPr/>
        </p:nvSpPr>
        <p:spPr>
          <a:xfrm>
            <a:off x="812800" y="5144135"/>
            <a:ext cx="10566400" cy="697865"/>
          </a:xfrm>
          <a:prstGeom prst="rect">
            <a:avLst/>
          </a:prstGeom>
          <a:solidFill>
            <a:srgbClr val="E6EEF8"/>
          </a:solidFill>
          <a:ln/>
        </p:spPr>
        <p:txBody>
          <a:bodyPr wrap="square" lIns="289560" tIns="203200" rIns="0" bIns="177800" rtlCol="0" anchor="t">
            <a:normAutofit/>
          </a:bodyPr>
          <a:lstStyle/>
          <a:p>
            <a:pPr algn="l" indent="0" marL="0">
              <a:lnSpc>
                <a:spcPts val="2295"/>
              </a:lnSpc>
              <a:buNone/>
            </a:pPr>
            <a:r>
              <a:rPr lang="en-US" sz="1700" dirty="0">
                <a:solidFill>
                  <a:srgbClr val="14213D"/>
                </a:solidFill>
                <a:latin typeface="IBM Plex Sans" pitchFamily="34" charset="0"/>
                <a:ea typeface="IBM Plex Sans" pitchFamily="34" charset="-122"/>
                <a:cs typeface="IBM Plex Sans" pitchFamily="34" charset="-120"/>
              </a:rPr>
              <a:t>Does the objective change the learned policy, and what does optimising the wrong one cost?</a:t>
            </a:r>
            <a:endParaRPr lang="en-US" sz="1700" dirty="0"/>
          </a:p>
        </p:txBody>
      </p:sp>
      <p:sp>
        <p:nvSpPr>
          <p:cNvPr id="11" name="Shape 9"/>
          <p:cNvSpPr/>
          <p:nvPr/>
        </p:nvSpPr>
        <p:spPr>
          <a:xfrm>
            <a:off x="831850" y="5144135"/>
            <a:ext cx="0" cy="697865"/>
          </a:xfrm>
          <a:prstGeom prst="line">
            <a:avLst/>
          </a:prstGeom>
          <a:noFill/>
          <a:ln w="38100">
            <a:solidFill>
              <a:srgbClr val="2B6CB0"/>
            </a:solidFill>
            <a:prstDash val="solid"/>
          </a:ln>
        </p:spPr>
      </p:sp>
      <p:sp>
        <p:nvSpPr>
          <p:cNvPr id="12" name="Text 10"/>
          <p:cNvSpPr/>
          <p:nvPr/>
        </p:nvSpPr>
        <p:spPr>
          <a:xfrm>
            <a:off x="812800" y="6238239"/>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3" name="Text 11"/>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FOUR OBJECTIVES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Four published rewards, one environment</a:t>
            </a:r>
            <a:endParaRPr lang="en-US" sz="3200" dirty="0"/>
          </a:p>
        </p:txBody>
      </p:sp>
      <p:sp>
        <p:nvSpPr>
          <p:cNvPr id="4" name="Shape 2"/>
          <p:cNvSpPr/>
          <p:nvPr/>
        </p:nvSpPr>
        <p:spPr>
          <a:xfrm>
            <a:off x="812800" y="1823720"/>
            <a:ext cx="10566400" cy="1932940"/>
          </a:xfrm>
          <a:prstGeom prst="rect">
            <a:avLst/>
          </a:prstGeom>
          <a:solidFill>
            <a:srgbClr val="FFFFFF"/>
          </a:solidFill>
          <a:ln/>
        </p:spPr>
      </p:sp>
      <p:sp>
        <p:nvSpPr>
          <p:cNvPr id="5" name="Shape 3"/>
          <p:cNvSpPr/>
          <p:nvPr/>
        </p:nvSpPr>
        <p:spPr>
          <a:xfrm>
            <a:off x="11376025" y="1823720"/>
            <a:ext cx="0" cy="1932940"/>
          </a:xfrm>
          <a:prstGeom prst="line">
            <a:avLst/>
          </a:prstGeom>
          <a:noFill/>
          <a:ln w="6350">
            <a:solidFill>
              <a:srgbClr val="E2DED3"/>
            </a:solidFill>
            <a:prstDash val="solid"/>
          </a:ln>
        </p:spPr>
      </p:sp>
      <p:sp>
        <p:nvSpPr>
          <p:cNvPr id="6" name="Shape 4"/>
          <p:cNvSpPr/>
          <p:nvPr/>
        </p:nvSpPr>
        <p:spPr>
          <a:xfrm>
            <a:off x="812800" y="3753485"/>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33880"/>
          <a:ext cx="10551160" cy="1917700"/>
        </p:xfrm>
        <a:graphic>
          <a:graphicData uri="http://schemas.openxmlformats.org/drawingml/2006/table">
            <a:tbl>
              <a:tblPr/>
              <a:tblGrid>
                <a:gridCol w="2743302"/>
                <a:gridCol w="2743302"/>
                <a:gridCol w="5064557"/>
              </a:tblGrid>
              <a:tr h="383540">
                <a:tc>
                  <a:txBody>
                    <a:bodyPr/>
                    <a:lstStyle/>
                    <a:p>
                      <a:pPr indent="0" marL="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Objective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Ported from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960"/>
                        </a:lnSpc>
                        <a:buNone/>
                      </a:pPr>
                      <a:r>
                        <a:rPr lang="en-US" sz="1400" b="1" dirty="0">
                          <a:solidFill>
                            <a:srgbClr val="F3EFE6"/>
                          </a:solidFill>
                          <a:latin typeface="IBM Plex Sans" pitchFamily="34" charset="0"/>
                          <a:ea typeface="IBM Plex Sans" pitchFamily="34" charset="-122"/>
                          <a:cs typeface="IBM Plex Sans" pitchFamily="34" charset="-120"/>
                        </a:rPr>
                        <a:t>What it rewards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R1 Survival + holiday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Gallagher 2023, 2024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each week alive, plus drug-free weeks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R2 Dose +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Gluzman 2020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low cumulative dose and low elapsed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R3 Coexistence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Giles &amp; Newton 2026</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entropy of the sensitive/resistant mix</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83540">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R4 Durability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Yao 2024</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a low resistant fraction after a simulated 180-day holiday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bl>
          </a:graphicData>
        </a:graphic>
      </p:graphicFrame>
      <p:sp>
        <p:nvSpPr>
          <p:cNvPr id="8" name="Text 5"/>
          <p:cNvSpPr/>
          <p:nvPr/>
        </p:nvSpPr>
        <p:spPr>
          <a:xfrm>
            <a:off x="812800" y="4988561"/>
            <a:ext cx="10566400" cy="853440"/>
          </a:xfrm>
          <a:prstGeom prst="rect">
            <a:avLst/>
          </a:prstGeom>
          <a:solidFill>
            <a:srgbClr val="E6EEF8"/>
          </a:solidFill>
          <a:ln/>
        </p:spPr>
        <p:txBody>
          <a:bodyPr wrap="square" lIns="289560" tIns="177800" rIns="0" bIns="15240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Shared by all four: tumour model, observation, actions, PPO settings, step budget, seeds and evaluation code. </a:t>
            </a:r>
            <a:r>
              <a:rPr lang="en-US" sz="1400" b="1" dirty="0">
                <a:solidFill>
                  <a:srgbClr val="14213D"/>
                </a:solidFill>
                <a:latin typeface="IBM Plex Sans" pitchFamily="34" charset="0"/>
                <a:ea typeface="IBM Plex Sans" pitchFamily="34" charset="-122"/>
                <a:cs typeface="IBM Plex Sans" pitchFamily="34" charset="-120"/>
              </a:rPr>
              <a:t>Only the reward differs.</a:t>
            </a:r>
            <a:endParaRPr lang="en-US" sz="1400" dirty="0"/>
          </a:p>
        </p:txBody>
      </p:sp>
      <p:sp>
        <p:nvSpPr>
          <p:cNvPr id="9" name="Shape 6"/>
          <p:cNvSpPr/>
          <p:nvPr/>
        </p:nvSpPr>
        <p:spPr>
          <a:xfrm>
            <a:off x="831850" y="4988561"/>
            <a:ext cx="0" cy="853440"/>
          </a:xfrm>
          <a:prstGeom prst="line">
            <a:avLst/>
          </a:prstGeom>
          <a:noFill/>
          <a:ln w="38100">
            <a:solidFill>
              <a:srgbClr val="2B6CB0"/>
            </a:solidFill>
            <a:prstDash val="solid"/>
          </a:ln>
        </p:spPr>
      </p:sp>
      <p:sp>
        <p:nvSpPr>
          <p:cNvPr id="10" name="Text 7"/>
          <p:cNvSpPr/>
          <p:nvPr/>
        </p:nvSpPr>
        <p:spPr>
          <a:xfrm>
            <a:off x="812800" y="6238239"/>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1" name="Text 8"/>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STUDY DESIGN</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One pipeline from tumour model to scorecard</a:t>
            </a:r>
            <a:endParaRPr lang="en-US" sz="3200" dirty="0"/>
          </a:p>
        </p:txBody>
      </p:sp>
      <p:sp>
        <p:nvSpPr>
          <p:cNvPr id="4" name="Shape 2"/>
          <p:cNvSpPr/>
          <p:nvPr/>
        </p:nvSpPr>
        <p:spPr>
          <a:xfrm>
            <a:off x="815975" y="2588895"/>
            <a:ext cx="2343150" cy="1289050"/>
          </a:xfrm>
          <a:prstGeom prst="roundRect">
            <a:avLst>
              <a:gd name="adj" fmla="val 7635"/>
            </a:avLst>
          </a:prstGeom>
          <a:solidFill>
            <a:srgbClr val="FFFFFF"/>
          </a:solidFill>
          <a:ln w="6350">
            <a:solidFill>
              <a:srgbClr val="E2DED3"/>
            </a:solidFill>
            <a:prstDash val="solid"/>
          </a:ln>
        </p:spPr>
      </p:sp>
      <p:sp>
        <p:nvSpPr>
          <p:cNvPr id="5" name="Text 3"/>
          <p:cNvSpPr/>
          <p:nvPr/>
        </p:nvSpPr>
        <p:spPr>
          <a:xfrm>
            <a:off x="995680" y="2768600"/>
            <a:ext cx="204325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Tumour model</a:t>
            </a:r>
            <a:endParaRPr lang="en-US" sz="1400" dirty="0"/>
          </a:p>
        </p:txBody>
      </p:sp>
      <p:sp>
        <p:nvSpPr>
          <p:cNvPr id="6" name="Text 4"/>
          <p:cNvSpPr/>
          <p:nvPr/>
        </p:nvSpPr>
        <p:spPr>
          <a:xfrm>
            <a:off x="995680" y="3058161"/>
            <a:ext cx="20432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Sensitive and resistant cells; weekly dose 0 or 1; stop at progression</a:t>
            </a:r>
            <a:endParaRPr lang="en-US" sz="1200" dirty="0"/>
          </a:p>
        </p:txBody>
      </p:sp>
      <p:pic>
        <p:nvPicPr>
          <p:cNvPr id="7" name="Image 0" descr="arrow-right">    </p:cNvPr>
          <p:cNvPicPr>
            <a:picLocks noChangeAspect="1"/>
          </p:cNvPicPr>
          <p:nvPr/>
        </p:nvPicPr>
        <p:blipFill>
          <a:blip r:embed="rId1"/>
          <a:srcRect l="0" r="0" t="0" b="0"/>
          <a:stretch/>
        </p:blipFill>
        <p:spPr>
          <a:xfrm>
            <a:off x="3289300" y="3169920"/>
            <a:ext cx="254000" cy="127000"/>
          </a:xfrm>
          <a:prstGeom prst="rect">
            <a:avLst/>
          </a:prstGeom>
        </p:spPr>
      </p:pic>
      <p:sp>
        <p:nvSpPr>
          <p:cNvPr id="8" name="Shape 5"/>
          <p:cNvSpPr/>
          <p:nvPr/>
        </p:nvSpPr>
        <p:spPr>
          <a:xfrm>
            <a:off x="3673475" y="2695575"/>
            <a:ext cx="2343150" cy="1075690"/>
          </a:xfrm>
          <a:prstGeom prst="roundRect">
            <a:avLst>
              <a:gd name="adj" fmla="val 9150"/>
            </a:avLst>
          </a:prstGeom>
          <a:solidFill>
            <a:srgbClr val="FFFFFF"/>
          </a:solidFill>
          <a:ln w="6350">
            <a:solidFill>
              <a:srgbClr val="E2DED3"/>
            </a:solidFill>
            <a:prstDash val="solid"/>
          </a:ln>
        </p:spPr>
      </p:sp>
      <p:sp>
        <p:nvSpPr>
          <p:cNvPr id="9" name="Text 6"/>
          <p:cNvSpPr/>
          <p:nvPr/>
        </p:nvSpPr>
        <p:spPr>
          <a:xfrm>
            <a:off x="3853180" y="2875280"/>
            <a:ext cx="204325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Four rewards</a:t>
            </a:r>
            <a:endParaRPr lang="en-US" sz="1400" dirty="0"/>
          </a:p>
        </p:txBody>
      </p:sp>
      <p:sp>
        <p:nvSpPr>
          <p:cNvPr id="10" name="Text 7"/>
          <p:cNvSpPr/>
          <p:nvPr/>
        </p:nvSpPr>
        <p:spPr>
          <a:xfrm>
            <a:off x="3853180" y="3164839"/>
            <a:ext cx="204325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R1 to R4, the only part that changes between runs</a:t>
            </a:r>
            <a:endParaRPr lang="en-US" sz="1200" dirty="0"/>
          </a:p>
        </p:txBody>
      </p:sp>
      <p:pic>
        <p:nvPicPr>
          <p:cNvPr id="11" name="Image 1" descr="arrow-right">    </p:cNvPr>
          <p:cNvPicPr>
            <a:picLocks noChangeAspect="1"/>
          </p:cNvPicPr>
          <p:nvPr/>
        </p:nvPicPr>
        <p:blipFill>
          <a:blip r:embed="rId2"/>
          <a:srcRect l="0" r="0" t="0" b="0"/>
          <a:stretch/>
        </p:blipFill>
        <p:spPr>
          <a:xfrm>
            <a:off x="6146800" y="3169920"/>
            <a:ext cx="254000" cy="127000"/>
          </a:xfrm>
          <a:prstGeom prst="rect">
            <a:avLst/>
          </a:prstGeom>
        </p:spPr>
      </p:pic>
      <p:sp>
        <p:nvSpPr>
          <p:cNvPr id="12" name="Text 8"/>
          <p:cNvSpPr/>
          <p:nvPr/>
        </p:nvSpPr>
        <p:spPr>
          <a:xfrm>
            <a:off x="6527800" y="2082800"/>
            <a:ext cx="1983740" cy="650240"/>
          </a:xfrm>
          <a:prstGeom prst="roundRect">
            <a:avLst>
              <a:gd name="adj" fmla="val 11719"/>
            </a:avLst>
          </a:prstGeom>
          <a:solidFill>
            <a:srgbClr val="14213D"/>
          </a:solidFill>
          <a:ln/>
        </p:spPr>
        <p:txBody>
          <a:bodyPr wrap="square" lIns="130082" tIns="104682" rIns="79282" bIns="79282" rtlCol="0" anchor="t">
            <a:normAutofit/>
          </a:bodyPr>
          <a:lstStyle/>
          <a:p>
            <a:pPr algn="l" indent="0" marL="0">
              <a:lnSpc>
                <a:spcPts val="1560"/>
              </a:lnSpc>
              <a:buNone/>
            </a:pPr>
            <a:r>
              <a:rPr lang="en-US" sz="1200" b="1" dirty="0">
                <a:solidFill>
                  <a:srgbClr val="F3EFE6"/>
                </a:solidFill>
                <a:latin typeface="IBM Plex Sans" pitchFamily="34" charset="0"/>
                <a:ea typeface="IBM Plex Sans" pitchFamily="34" charset="-122"/>
                <a:cs typeface="IBM Plex Sans" pitchFamily="34" charset="-120"/>
              </a:rPr>
              <a:t>Value iteration</a:t>
            </a:r>
            <a:endParaRPr lang="en-US" sz="1200" dirty="0"/>
          </a:p>
          <a:p>
            <a:pPr algn="l" indent="0" marL="0">
              <a:lnSpc>
                <a:spcPts val="1560"/>
              </a:lnSpc>
              <a:buNone/>
            </a:pPr>
            <a:r>
              <a:rPr lang="en-US" sz="1200" dirty="0">
                <a:solidFill>
                  <a:srgbClr val="F3EFE6"/>
                </a:solidFill>
                <a:latin typeface="IBM Plex Sans" pitchFamily="34" charset="0"/>
                <a:ea typeface="IBM Plex Sans" pitchFamily="34" charset="-122"/>
                <a:cs typeface="IBM Plex Sans" pitchFamily="34" charset="-120"/>
              </a:rPr>
              <a:t>exact optimum</a:t>
            </a:r>
            <a:endParaRPr lang="en-US" sz="1200" dirty="0"/>
          </a:p>
        </p:txBody>
      </p:sp>
      <p:sp>
        <p:nvSpPr>
          <p:cNvPr id="13" name="Text 9"/>
          <p:cNvSpPr/>
          <p:nvPr/>
        </p:nvSpPr>
        <p:spPr>
          <a:xfrm>
            <a:off x="6527800" y="2809239"/>
            <a:ext cx="1983740" cy="650240"/>
          </a:xfrm>
          <a:prstGeom prst="roundRect">
            <a:avLst>
              <a:gd name="adj" fmla="val 11719"/>
            </a:avLst>
          </a:prstGeom>
          <a:solidFill>
            <a:srgbClr val="2B6CB0"/>
          </a:solidFill>
          <a:ln/>
        </p:spPr>
        <p:txBody>
          <a:bodyPr wrap="square" lIns="130082" tIns="104682" rIns="79282" bIns="79282" rtlCol="0" anchor="t">
            <a:normAutofit/>
          </a:bodyPr>
          <a:lstStyle/>
          <a:p>
            <a:pPr algn="l" indent="0" marL="0">
              <a:lnSpc>
                <a:spcPts val="1560"/>
              </a:lnSpc>
              <a:buNone/>
            </a:pPr>
            <a:r>
              <a:rPr lang="en-US" sz="1200" b="1" dirty="0">
                <a:solidFill>
                  <a:srgbClr val="FAF8F3"/>
                </a:solidFill>
                <a:latin typeface="IBM Plex Sans" pitchFamily="34" charset="0"/>
                <a:ea typeface="IBM Plex Sans" pitchFamily="34" charset="-122"/>
                <a:cs typeface="IBM Plex Sans" pitchFamily="34" charset="-120"/>
              </a:rPr>
              <a:t>PPO agents</a:t>
            </a:r>
            <a:endParaRPr lang="en-US" sz="1200" dirty="0"/>
          </a:p>
          <a:p>
            <a:pPr algn="l" indent="0" marL="0">
              <a:lnSpc>
                <a:spcPts val="1560"/>
              </a:lnSpc>
              <a:buNone/>
            </a:pPr>
            <a:r>
              <a:rPr lang="en-US" sz="1200" dirty="0">
                <a:solidFill>
                  <a:srgbClr val="FAF8F3"/>
                </a:solidFill>
                <a:latin typeface="IBM Plex Sans" pitchFamily="34" charset="0"/>
                <a:ea typeface="IBM Plex Sans" pitchFamily="34" charset="-122"/>
                <a:cs typeface="IBM Plex Sans" pitchFamily="34" charset="-120"/>
              </a:rPr>
              <a:t>10 seeds each</a:t>
            </a:r>
            <a:endParaRPr lang="en-US" sz="1200" dirty="0"/>
          </a:p>
        </p:txBody>
      </p:sp>
      <p:sp>
        <p:nvSpPr>
          <p:cNvPr id="14" name="Text 10"/>
          <p:cNvSpPr/>
          <p:nvPr/>
        </p:nvSpPr>
        <p:spPr>
          <a:xfrm>
            <a:off x="6527800" y="3535680"/>
            <a:ext cx="1983740" cy="848360"/>
          </a:xfrm>
          <a:prstGeom prst="roundRect">
            <a:avLst>
              <a:gd name="adj" fmla="val 8982"/>
            </a:avLst>
          </a:prstGeom>
          <a:solidFill>
            <a:srgbClr val="E2DED3"/>
          </a:solidFill>
          <a:ln/>
        </p:spPr>
        <p:txBody>
          <a:bodyPr wrap="square" lIns="130082" tIns="104682" rIns="79282" bIns="79282" rtlCol="0" anchor="t">
            <a:normAutofit/>
          </a:bodyPr>
          <a:lstStyle/>
          <a:p>
            <a:pPr algn="l" indent="0" marL="0">
              <a:lnSpc>
                <a:spcPts val="1560"/>
              </a:lnSpc>
              <a:buNone/>
            </a:pPr>
            <a:r>
              <a:rPr lang="en-US" sz="1200" b="1" dirty="0">
                <a:solidFill>
                  <a:srgbClr val="14213D"/>
                </a:solidFill>
                <a:latin typeface="IBM Plex Sans" pitchFamily="34" charset="0"/>
                <a:ea typeface="IBM Plex Sans" pitchFamily="34" charset="-122"/>
                <a:cs typeface="IBM Plex Sans" pitchFamily="34" charset="-120"/>
              </a:rPr>
              <a:t>Heuristics</a:t>
            </a:r>
            <a:endParaRPr lang="en-US" sz="1200" dirty="0"/>
          </a:p>
          <a:p>
            <a:pPr algn="l" indent="0" marL="0">
              <a:lnSpc>
                <a:spcPts val="1560"/>
              </a:lnSpc>
              <a:buNone/>
            </a:pPr>
            <a:r>
              <a:rPr lang="en-US" sz="1200" dirty="0">
                <a:solidFill>
                  <a:srgbClr val="14213D"/>
                </a:solidFill>
                <a:latin typeface="IBM Plex Sans" pitchFamily="34" charset="0"/>
                <a:ea typeface="IBM Plex Sans" pitchFamily="34" charset="-122"/>
                <a:cs typeface="IBM Plex Sans" pitchFamily="34" charset="-120"/>
              </a:rPr>
              <a:t>MTD, AT50, AT90, AT-PSC</a:t>
            </a:r>
            <a:endParaRPr lang="en-US" sz="1200" dirty="0"/>
          </a:p>
        </p:txBody>
      </p:sp>
      <p:pic>
        <p:nvPicPr>
          <p:cNvPr id="15" name="Image 2" descr="arrow-right">    </p:cNvPr>
          <p:cNvPicPr>
            <a:picLocks noChangeAspect="1"/>
          </p:cNvPicPr>
          <p:nvPr/>
        </p:nvPicPr>
        <p:blipFill>
          <a:blip r:embed="rId3"/>
          <a:srcRect l="0" r="0" t="0" b="0"/>
          <a:stretch/>
        </p:blipFill>
        <p:spPr>
          <a:xfrm>
            <a:off x="8638540" y="3169920"/>
            <a:ext cx="254000" cy="127000"/>
          </a:xfrm>
          <a:prstGeom prst="rect">
            <a:avLst/>
          </a:prstGeom>
        </p:spPr>
      </p:pic>
      <p:sp>
        <p:nvSpPr>
          <p:cNvPr id="16" name="Shape 11"/>
          <p:cNvSpPr/>
          <p:nvPr/>
        </p:nvSpPr>
        <p:spPr>
          <a:xfrm>
            <a:off x="9025890" y="2586989"/>
            <a:ext cx="2346960" cy="1292860"/>
          </a:xfrm>
          <a:prstGeom prst="roundRect">
            <a:avLst>
              <a:gd name="adj" fmla="val 7367"/>
            </a:avLst>
          </a:prstGeom>
          <a:solidFill>
            <a:srgbClr val="FFFFFF"/>
          </a:solidFill>
          <a:ln w="12700">
            <a:solidFill>
              <a:srgbClr val="2B6CB0"/>
            </a:solidFill>
            <a:prstDash val="solid"/>
          </a:ln>
        </p:spPr>
      </p:sp>
      <p:sp>
        <p:nvSpPr>
          <p:cNvPr id="17" name="Text 12"/>
          <p:cNvSpPr/>
          <p:nvPr/>
        </p:nvSpPr>
        <p:spPr>
          <a:xfrm>
            <a:off x="9207500" y="2768600"/>
            <a:ext cx="2043252"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Cross-evaluation</a:t>
            </a:r>
            <a:endParaRPr lang="en-US" sz="1400" dirty="0"/>
          </a:p>
        </p:txBody>
      </p:sp>
      <p:sp>
        <p:nvSpPr>
          <p:cNvPr id="18" name="Text 13"/>
          <p:cNvSpPr/>
          <p:nvPr/>
        </p:nvSpPr>
        <p:spPr>
          <a:xfrm>
            <a:off x="9207500" y="3058161"/>
            <a:ext cx="2043252"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Every policy scored on every objective and every clinical metric</a:t>
            </a:r>
            <a:endParaRPr lang="en-US" sz="1200" dirty="0"/>
          </a:p>
        </p:txBody>
      </p:sp>
      <p:sp>
        <p:nvSpPr>
          <p:cNvPr id="19" name="Shape 14"/>
          <p:cNvSpPr/>
          <p:nvPr/>
        </p:nvSpPr>
        <p:spPr>
          <a:xfrm>
            <a:off x="812800" y="4900295"/>
            <a:ext cx="10566400" cy="0"/>
          </a:xfrm>
          <a:prstGeom prst="line">
            <a:avLst/>
          </a:prstGeom>
          <a:noFill/>
          <a:ln w="6350">
            <a:solidFill>
              <a:srgbClr val="D6D2C6"/>
            </a:solidFill>
            <a:prstDash val="solid"/>
          </a:ln>
        </p:spPr>
      </p:sp>
      <p:sp>
        <p:nvSpPr>
          <p:cNvPr id="20" name="Text 15"/>
          <p:cNvSpPr/>
          <p:nvPr/>
        </p:nvSpPr>
        <p:spPr>
          <a:xfrm>
            <a:off x="812800" y="5105400"/>
            <a:ext cx="3488267"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585</a:t>
            </a:r>
            <a:endParaRPr lang="en-US" sz="2800" dirty="0"/>
          </a:p>
        </p:txBody>
      </p:sp>
      <p:sp>
        <p:nvSpPr>
          <p:cNvPr id="21" name="Text 16"/>
          <p:cNvSpPr/>
          <p:nvPr/>
        </p:nvSpPr>
        <p:spPr>
          <a:xfrm>
            <a:off x="812800" y="5628639"/>
            <a:ext cx="3488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PPO agents trained</a:t>
            </a:r>
            <a:endParaRPr lang="en-US" sz="1200" dirty="0"/>
          </a:p>
        </p:txBody>
      </p:sp>
      <p:sp>
        <p:nvSpPr>
          <p:cNvPr id="22" name="Text 17"/>
          <p:cNvSpPr/>
          <p:nvPr/>
        </p:nvSpPr>
        <p:spPr>
          <a:xfrm>
            <a:off x="4402667" y="5105400"/>
            <a:ext cx="3488267"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32</a:t>
            </a:r>
            <a:endParaRPr lang="en-US" sz="2800" dirty="0"/>
          </a:p>
        </p:txBody>
      </p:sp>
      <p:sp>
        <p:nvSpPr>
          <p:cNvPr id="23" name="Text 18"/>
          <p:cNvSpPr/>
          <p:nvPr/>
        </p:nvSpPr>
        <p:spPr>
          <a:xfrm>
            <a:off x="4402667" y="5628639"/>
            <a:ext cx="3488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experiments in two rounds</a:t>
            </a:r>
            <a:endParaRPr lang="en-US" sz="1200" dirty="0"/>
          </a:p>
        </p:txBody>
      </p:sp>
      <p:sp>
        <p:nvSpPr>
          <p:cNvPr id="24" name="Text 19"/>
          <p:cNvSpPr/>
          <p:nvPr/>
        </p:nvSpPr>
        <p:spPr>
          <a:xfrm>
            <a:off x="7992533" y="5105400"/>
            <a:ext cx="3488267"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1</a:t>
            </a:r>
            <a:endParaRPr lang="en-US" sz="2800" dirty="0"/>
          </a:p>
        </p:txBody>
      </p:sp>
      <p:sp>
        <p:nvSpPr>
          <p:cNvPr id="25" name="Text 20"/>
          <p:cNvSpPr/>
          <p:nvPr/>
        </p:nvSpPr>
        <p:spPr>
          <a:xfrm>
            <a:off x="7992533" y="5628639"/>
            <a:ext cx="348826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IBM Plex Sans" pitchFamily="34" charset="0"/>
                <a:ea typeface="IBM Plex Sans" pitchFamily="34" charset="-122"/>
                <a:cs typeface="IBM Plex Sans" pitchFamily="34" charset="-120"/>
              </a:rPr>
              <a:t>Python module, no RL library, no GPU</a:t>
            </a:r>
            <a:endParaRPr lang="en-US" sz="1200" dirty="0"/>
          </a:p>
        </p:txBody>
      </p:sp>
      <p:sp>
        <p:nvSpPr>
          <p:cNvPr id="26" name="Text 21"/>
          <p:cNvSpPr/>
          <p:nvPr/>
        </p:nvSpPr>
        <p:spPr>
          <a:xfrm>
            <a:off x="812800" y="6238239"/>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7" name="Text 22"/>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METHODS · THE ENVIRONMENT</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Two competing cell populations, one drug</a:t>
            </a:r>
            <a:endParaRPr lang="en-US" sz="3200" dirty="0"/>
          </a:p>
        </p:txBody>
      </p:sp>
      <p:sp>
        <p:nvSpPr>
          <p:cNvPr id="4" name="Shape 2"/>
          <p:cNvSpPr/>
          <p:nvPr/>
        </p:nvSpPr>
        <p:spPr>
          <a:xfrm>
            <a:off x="815975" y="1826896"/>
            <a:ext cx="5401310" cy="2912110"/>
          </a:xfrm>
          <a:prstGeom prst="roundRect">
            <a:avLst>
              <a:gd name="adj" fmla="val 3380"/>
            </a:avLst>
          </a:prstGeom>
          <a:solidFill>
            <a:srgbClr val="FFFFFF"/>
          </a:solidFill>
          <a:ln w="6350">
            <a:solidFill>
              <a:srgbClr val="E2DED3"/>
            </a:solidFill>
            <a:prstDash val="solid"/>
          </a:ln>
        </p:spPr>
      </p:sp>
      <p:sp>
        <p:nvSpPr>
          <p:cNvPr id="5" name="Text 3"/>
          <p:cNvSpPr/>
          <p:nvPr/>
        </p:nvSpPr>
        <p:spPr>
          <a:xfrm>
            <a:off x="1071880" y="2082800"/>
            <a:ext cx="5036185" cy="23876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2B6CB0"/>
                </a:solidFill>
                <a:latin typeface="IBM Plex Sans" pitchFamily="34" charset="0"/>
                <a:ea typeface="IBM Plex Sans" pitchFamily="34" charset="-122"/>
                <a:cs typeface="IBM Plex Sans" pitchFamily="34" charset="-120"/>
              </a:rPr>
              <a:t>Strobl 2021 Lotka–Volterra model</a:t>
            </a:r>
            <a:endParaRPr lang="en-US" sz="1400" dirty="0"/>
          </a:p>
        </p:txBody>
      </p:sp>
      <p:sp>
        <p:nvSpPr>
          <p:cNvPr id="6" name="Text 4"/>
          <p:cNvSpPr/>
          <p:nvPr/>
        </p:nvSpPr>
        <p:spPr>
          <a:xfrm>
            <a:off x="1071880" y="2397761"/>
            <a:ext cx="5036185" cy="355600"/>
          </a:xfrm>
          <a:prstGeom prst="rect">
            <a:avLst/>
          </a:prstGeom>
          <a:noFill/>
          <a:ln/>
        </p:spPr>
        <p:txBody>
          <a:bodyPr wrap="square" lIns="0" tIns="0" rIns="0" bIns="0" rtlCol="0" anchor="t">
            <a:normAutofit/>
          </a:bodyPr>
          <a:lstStyle/>
          <a:p>
            <a:pPr algn="l" indent="0" marL="0">
              <a:lnSpc>
                <a:spcPts val="2600"/>
              </a:lnSpc>
              <a:buNone/>
            </a:pPr>
            <a:r>
              <a:rPr lang="en-US" sz="2000" i="1" dirty="0">
                <a:solidFill>
                  <a:srgbClr val="14213D"/>
                </a:solidFill>
                <a:latin typeface="Source Serif 4" pitchFamily="18" charset="0"/>
                <a:ea typeface="Source Serif 4" pitchFamily="18" charset="-122"/>
                <a:cs typeface="Source Serif 4" pitchFamily="18" charset="-120"/>
              </a:rPr>
              <a:t>dS/dt = r S (1 − N/K)(1 − 1.5 D)</a:t>
            </a:r>
            <a:endParaRPr lang="en-US" sz="2000" dirty="0"/>
          </a:p>
        </p:txBody>
      </p:sp>
      <p:sp>
        <p:nvSpPr>
          <p:cNvPr id="7" name="Text 5"/>
          <p:cNvSpPr/>
          <p:nvPr/>
        </p:nvSpPr>
        <p:spPr>
          <a:xfrm>
            <a:off x="1071880" y="2829561"/>
            <a:ext cx="5036185" cy="355600"/>
          </a:xfrm>
          <a:prstGeom prst="rect">
            <a:avLst/>
          </a:prstGeom>
          <a:noFill/>
          <a:ln/>
        </p:spPr>
        <p:txBody>
          <a:bodyPr wrap="square" lIns="0" tIns="0" rIns="0" bIns="0" rtlCol="0" anchor="t">
            <a:normAutofit/>
          </a:bodyPr>
          <a:lstStyle/>
          <a:p>
            <a:pPr algn="l" indent="0" marL="0">
              <a:lnSpc>
                <a:spcPts val="2600"/>
              </a:lnSpc>
              <a:buNone/>
            </a:pPr>
            <a:r>
              <a:rPr lang="en-US" sz="2000" i="1" dirty="0">
                <a:solidFill>
                  <a:srgbClr val="14213D"/>
                </a:solidFill>
                <a:latin typeface="Source Serif 4" pitchFamily="18" charset="0"/>
                <a:ea typeface="Source Serif 4" pitchFamily="18" charset="-122"/>
                <a:cs typeface="Source Serif 4" pitchFamily="18" charset="-120"/>
              </a:rPr>
              <a:t>dR/dt = r R (1 − N/K)</a:t>
            </a:r>
            <a:endParaRPr lang="en-US" sz="2000" dirty="0"/>
          </a:p>
        </p:txBody>
      </p:sp>
      <p:sp>
        <p:nvSpPr>
          <p:cNvPr id="8" name="Text 6"/>
          <p:cNvSpPr/>
          <p:nvPr/>
        </p:nvSpPr>
        <p:spPr>
          <a:xfrm>
            <a:off x="1071880" y="3261361"/>
            <a:ext cx="5036185"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 sensitive, R resistant, N = S + R. Both share one capacity K. A full dose (D = 1) makes the sensitive term negative; resistant cells ignore the drug.</a:t>
            </a:r>
            <a:endParaRPr lang="en-US" sz="1300" dirty="0"/>
          </a:p>
        </p:txBody>
      </p:sp>
      <p:sp>
        <p:nvSpPr>
          <p:cNvPr id="9" name="Text 7"/>
          <p:cNvSpPr/>
          <p:nvPr/>
        </p:nvSpPr>
        <p:spPr>
          <a:xfrm>
            <a:off x="1071880" y="4056379"/>
            <a:ext cx="503618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Shown for the proof-of-principle patient: r = 0.027 per day, no cost of resistance, no turnover.</a:t>
            </a:r>
            <a:endParaRPr lang="en-US" sz="1200" dirty="0"/>
          </a:p>
        </p:txBody>
      </p:sp>
      <p:sp>
        <p:nvSpPr>
          <p:cNvPr id="10" name="Shape 8"/>
          <p:cNvSpPr/>
          <p:nvPr/>
        </p:nvSpPr>
        <p:spPr>
          <a:xfrm>
            <a:off x="6474460" y="1823721"/>
            <a:ext cx="4904740" cy="2870200"/>
          </a:xfrm>
          <a:prstGeom prst="rect">
            <a:avLst/>
          </a:prstGeom>
          <a:solidFill>
            <a:srgbClr val="FFFFFF"/>
          </a:solidFill>
          <a:ln/>
        </p:spPr>
      </p:sp>
      <p:sp>
        <p:nvSpPr>
          <p:cNvPr id="11" name="Shape 9"/>
          <p:cNvSpPr/>
          <p:nvPr/>
        </p:nvSpPr>
        <p:spPr>
          <a:xfrm>
            <a:off x="11376025" y="1823721"/>
            <a:ext cx="0" cy="2870200"/>
          </a:xfrm>
          <a:prstGeom prst="line">
            <a:avLst/>
          </a:prstGeom>
          <a:noFill/>
          <a:ln w="6350">
            <a:solidFill>
              <a:srgbClr val="E2DED3"/>
            </a:solidFill>
            <a:prstDash val="solid"/>
          </a:ln>
        </p:spPr>
      </p:sp>
      <p:sp>
        <p:nvSpPr>
          <p:cNvPr id="12" name="Shape 10"/>
          <p:cNvSpPr/>
          <p:nvPr/>
        </p:nvSpPr>
        <p:spPr>
          <a:xfrm>
            <a:off x="6474460" y="4690746"/>
            <a:ext cx="4904740" cy="0"/>
          </a:xfrm>
          <a:prstGeom prst="line">
            <a:avLst/>
          </a:prstGeom>
          <a:noFill/>
          <a:ln w="6350">
            <a:solidFill>
              <a:srgbClr val="E2DED3"/>
            </a:solidFill>
            <a:prstDash val="solid"/>
          </a:ln>
        </p:spPr>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84620" y="1833881"/>
          <a:ext cx="4889500" cy="2854960"/>
        </p:xfrm>
        <a:graphic>
          <a:graphicData uri="http://schemas.openxmlformats.org/drawingml/2006/table">
            <a:tbl>
              <a:tblPr/>
              <a:tblGrid>
                <a:gridCol w="1955800"/>
                <a:gridCol w="2933700"/>
              </a:tblGrid>
              <a:tr h="356870">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Setting</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Value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Start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N₀ = 0.75 K, 0.1% resistant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Progression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 ≥ 1.2 N₀</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Decision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weekly: dose 0 or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Observation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full composition (S, 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Integrator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RK4, half-day steps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Discount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γ = 0.999 per week</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Episode cap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30 years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4" name="Text 11"/>
          <p:cNvSpPr/>
          <p:nvPr/>
        </p:nvSpPr>
        <p:spPr>
          <a:xfrm>
            <a:off x="812800" y="6238239"/>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5" name="Text 12"/>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METHODS · POLICIES AND SCORING</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Three kinds of policy, one scorecard</a:t>
            </a:r>
            <a:endParaRPr lang="en-US" sz="3200" dirty="0"/>
          </a:p>
        </p:txBody>
      </p:sp>
      <p:sp>
        <p:nvSpPr>
          <p:cNvPr id="4" name="Shape 2"/>
          <p:cNvSpPr/>
          <p:nvPr/>
        </p:nvSpPr>
        <p:spPr>
          <a:xfrm>
            <a:off x="815975" y="2526664"/>
            <a:ext cx="3380317" cy="1438910"/>
          </a:xfrm>
          <a:prstGeom prst="roundRect">
            <a:avLst>
              <a:gd name="adj" fmla="val 5075"/>
            </a:avLst>
          </a:prstGeom>
          <a:solidFill>
            <a:srgbClr val="FFFFFF"/>
          </a:solidFill>
          <a:ln w="6350">
            <a:solidFill>
              <a:srgbClr val="E2DED3"/>
            </a:solidFill>
            <a:prstDash val="solid"/>
          </a:ln>
        </p:spPr>
      </p:sp>
      <p:sp>
        <p:nvSpPr>
          <p:cNvPr id="5" name="Text 3"/>
          <p:cNvSpPr/>
          <p:nvPr/>
        </p:nvSpPr>
        <p:spPr>
          <a:xfrm>
            <a:off x="1021080" y="2731771"/>
            <a:ext cx="305921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Value iteration</a:t>
            </a:r>
            <a:endParaRPr lang="en-US" sz="1700" dirty="0"/>
          </a:p>
        </p:txBody>
      </p:sp>
      <p:sp>
        <p:nvSpPr>
          <p:cNvPr id="6" name="Text 4"/>
          <p:cNvSpPr/>
          <p:nvPr/>
        </p:nvSpPr>
        <p:spPr>
          <a:xfrm>
            <a:off x="1021080" y="3067050"/>
            <a:ext cx="305921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Exact policy iteration on a 161 × 241 grid of burden and log resistant fraction. Each objective’s optimum.</a:t>
            </a:r>
            <a:endParaRPr lang="en-US" sz="1300" dirty="0"/>
          </a:p>
        </p:txBody>
      </p:sp>
      <p:sp>
        <p:nvSpPr>
          <p:cNvPr id="7" name="Shape 5"/>
          <p:cNvSpPr/>
          <p:nvPr/>
        </p:nvSpPr>
        <p:spPr>
          <a:xfrm>
            <a:off x="4405842" y="2526664"/>
            <a:ext cx="3380317" cy="1438910"/>
          </a:xfrm>
          <a:prstGeom prst="roundRect">
            <a:avLst>
              <a:gd name="adj" fmla="val 5075"/>
            </a:avLst>
          </a:prstGeom>
          <a:solidFill>
            <a:srgbClr val="FFFFFF"/>
          </a:solidFill>
          <a:ln w="6350">
            <a:solidFill>
              <a:srgbClr val="E2DED3"/>
            </a:solidFill>
            <a:prstDash val="solid"/>
          </a:ln>
        </p:spPr>
      </p:sp>
      <p:sp>
        <p:nvSpPr>
          <p:cNvPr id="8" name="Text 6"/>
          <p:cNvSpPr/>
          <p:nvPr/>
        </p:nvSpPr>
        <p:spPr>
          <a:xfrm>
            <a:off x="4610946" y="2731771"/>
            <a:ext cx="305921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PPO agents</a:t>
            </a:r>
            <a:endParaRPr lang="en-US" sz="1700" dirty="0"/>
          </a:p>
        </p:txBody>
      </p:sp>
      <p:sp>
        <p:nvSpPr>
          <p:cNvPr id="9" name="Text 7"/>
          <p:cNvSpPr/>
          <p:nvPr/>
        </p:nvSpPr>
        <p:spPr>
          <a:xfrm>
            <a:off x="4610946" y="3067050"/>
            <a:ext cx="305921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Our own vectorised PPO, 2 × 128 actor–critic, 10⁶ steps, 10 seeds. One setting for all objectives.</a:t>
            </a:r>
            <a:endParaRPr lang="en-US" sz="1300" dirty="0"/>
          </a:p>
        </p:txBody>
      </p:sp>
      <p:sp>
        <p:nvSpPr>
          <p:cNvPr id="10" name="Shape 8"/>
          <p:cNvSpPr/>
          <p:nvPr/>
        </p:nvSpPr>
        <p:spPr>
          <a:xfrm>
            <a:off x="7995708" y="2526664"/>
            <a:ext cx="3380317" cy="1438910"/>
          </a:xfrm>
          <a:prstGeom prst="roundRect">
            <a:avLst>
              <a:gd name="adj" fmla="val 5075"/>
            </a:avLst>
          </a:prstGeom>
          <a:solidFill>
            <a:srgbClr val="FFFFFF"/>
          </a:solidFill>
          <a:ln w="6350">
            <a:solidFill>
              <a:srgbClr val="E2DED3"/>
            </a:solidFill>
            <a:prstDash val="solid"/>
          </a:ln>
        </p:spPr>
      </p:sp>
      <p:sp>
        <p:nvSpPr>
          <p:cNvPr id="11" name="Text 9"/>
          <p:cNvSpPr/>
          <p:nvPr/>
        </p:nvSpPr>
        <p:spPr>
          <a:xfrm>
            <a:off x="8200813" y="2731771"/>
            <a:ext cx="3059210"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Heuristics</a:t>
            </a:r>
            <a:endParaRPr lang="en-US" sz="1700" dirty="0"/>
          </a:p>
        </p:txBody>
      </p:sp>
      <p:sp>
        <p:nvSpPr>
          <p:cNvPr id="12" name="Text 10"/>
          <p:cNvSpPr/>
          <p:nvPr/>
        </p:nvSpPr>
        <p:spPr>
          <a:xfrm>
            <a:off x="8200813" y="3067050"/>
            <a:ext cx="305921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MTD treats always. AT50/AT90 treat until burden falls to 50%/90%. AT-PSC is tuned on this patient.</a:t>
            </a:r>
            <a:endParaRPr lang="en-US" sz="1300" dirty="0"/>
          </a:p>
        </p:txBody>
      </p:sp>
      <p:sp>
        <p:nvSpPr>
          <p:cNvPr id="13" name="Shape 11"/>
          <p:cNvSpPr/>
          <p:nvPr/>
        </p:nvSpPr>
        <p:spPr>
          <a:xfrm>
            <a:off x="812800" y="4922521"/>
            <a:ext cx="10566400" cy="919480"/>
          </a:xfrm>
          <a:prstGeom prst="roundRect">
            <a:avLst>
              <a:gd name="adj" fmla="val 11050"/>
            </a:avLst>
          </a:prstGeom>
          <a:solidFill>
            <a:srgbClr val="14213D"/>
          </a:solidFill>
          <a:ln/>
        </p:spPr>
      </p:sp>
      <p:sp>
        <p:nvSpPr>
          <p:cNvPr id="14" name="Text 12"/>
          <p:cNvSpPr/>
          <p:nvPr/>
        </p:nvSpPr>
        <p:spPr>
          <a:xfrm>
            <a:off x="1117600" y="5204461"/>
            <a:ext cx="2934940" cy="381000"/>
          </a:xfrm>
          <a:prstGeom prst="rect">
            <a:avLst/>
          </a:prstGeom>
          <a:noFill/>
          <a:ln/>
        </p:spPr>
        <p:txBody>
          <a:bodyPr wrap="none" lIns="0" tIns="0" rIns="0" bIns="0" rtlCol="0" anchor="t">
            <a:normAutofit/>
          </a:bodyPr>
          <a:lstStyle/>
          <a:p>
            <a:pPr algn="l" indent="0" marL="0">
              <a:lnSpc>
                <a:spcPts val="2800"/>
              </a:lnSpc>
              <a:buNone/>
            </a:pPr>
            <a:r>
              <a:rPr lang="en-US" sz="2000" i="1" dirty="0">
                <a:solidFill>
                  <a:srgbClr val="F3EFE6"/>
                </a:solidFill>
                <a:latin typeface="Source Serif 4" pitchFamily="18" charset="0"/>
                <a:ea typeface="Source Serif 4" pitchFamily="18" charset="-122"/>
                <a:cs typeface="Source Serif 4" pitchFamily="18" charset="-120"/>
              </a:rPr>
              <a:t>score = (G − G</a:t>
            </a:r>
            <a:r>
              <a:rPr lang="en-US" sz="2000" i="1" dirty="0">
                <a:solidFill>
                  <a:srgbClr val="E8A27C"/>
                </a:solidFill>
                <a:latin typeface="Source Serif 4" pitchFamily="18" charset="0"/>
                <a:ea typeface="Source Serif 4" pitchFamily="18" charset="-122"/>
                <a:cs typeface="Source Serif 4" pitchFamily="18" charset="-120"/>
              </a:rPr>
              <a:t>none</a:t>
            </a:r>
            <a:r>
              <a:rPr lang="en-US" sz="2000" i="1" dirty="0">
                <a:solidFill>
                  <a:srgbClr val="F3EFE6"/>
                </a:solidFill>
                <a:latin typeface="Source Serif 4" pitchFamily="18" charset="0"/>
                <a:ea typeface="Source Serif 4" pitchFamily="18" charset="-122"/>
                <a:cs typeface="Source Serif 4" pitchFamily="18" charset="-120"/>
              </a:rPr>
              <a:t>) / (G</a:t>
            </a:r>
            <a:r>
              <a:rPr lang="en-US" sz="2000" i="1" dirty="0">
                <a:solidFill>
                  <a:srgbClr val="E8A27C"/>
                </a:solidFill>
                <a:latin typeface="Source Serif 4" pitchFamily="18" charset="0"/>
                <a:ea typeface="Source Serif 4" pitchFamily="18" charset="-122"/>
                <a:cs typeface="Source Serif 4" pitchFamily="18" charset="-120"/>
              </a:rPr>
              <a:t>VI</a:t>
            </a:r>
            <a:r>
              <a:rPr lang="en-US" sz="2000" i="1" dirty="0">
                <a:solidFill>
                  <a:srgbClr val="F3EFE6"/>
                </a:solidFill>
                <a:latin typeface="Source Serif 4" pitchFamily="18" charset="0"/>
                <a:ea typeface="Source Serif 4" pitchFamily="18" charset="-122"/>
                <a:cs typeface="Source Serif 4" pitchFamily="18" charset="-120"/>
              </a:rPr>
              <a:t> − G</a:t>
            </a:r>
            <a:r>
              <a:rPr lang="en-US" sz="2000" i="1" dirty="0">
                <a:solidFill>
                  <a:srgbClr val="E8A27C"/>
                </a:solidFill>
                <a:latin typeface="Source Serif 4" pitchFamily="18" charset="0"/>
                <a:ea typeface="Source Serif 4" pitchFamily="18" charset="-122"/>
                <a:cs typeface="Source Serif 4" pitchFamily="18" charset="-120"/>
              </a:rPr>
              <a:t>none</a:t>
            </a:r>
            <a:r>
              <a:rPr lang="en-US" sz="2000" i="1" dirty="0">
                <a:solidFill>
                  <a:srgbClr val="F3EFE6"/>
                </a:solidFill>
                <a:latin typeface="Source Serif 4" pitchFamily="18" charset="0"/>
                <a:ea typeface="Source Serif 4" pitchFamily="18" charset="-122"/>
                <a:cs typeface="Source Serif 4" pitchFamily="18" charset="-120"/>
              </a:rPr>
              <a:t>)</a:t>
            </a:r>
            <a:endParaRPr lang="en-US" sz="2000" dirty="0"/>
          </a:p>
        </p:txBody>
      </p:sp>
      <p:sp>
        <p:nvSpPr>
          <p:cNvPr id="15" name="Text 13"/>
          <p:cNvSpPr/>
          <p:nvPr/>
        </p:nvSpPr>
        <p:spPr>
          <a:xfrm>
            <a:off x="4271857" y="5151121"/>
            <a:ext cx="7006619"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8D8"/>
                </a:solidFill>
                <a:latin typeface="IBM Plex Sans" pitchFamily="34" charset="0"/>
                <a:ea typeface="IBM Plex Sans" pitchFamily="34" charset="-122"/>
                <a:cs typeface="IBM Plex Sans" pitchFamily="34" charset="-120"/>
              </a:rPr>
              <a:t>0 = no treatment, 1 = optimum. Agents under 0.7 “did not train”. Policy differences must beat seed noise in a permutation test.</a:t>
            </a:r>
            <a:endParaRPr lang="en-US" sz="1300" dirty="0"/>
          </a:p>
        </p:txBody>
      </p:sp>
      <p:sp>
        <p:nvSpPr>
          <p:cNvPr id="16" name="Text 14"/>
          <p:cNvSpPr/>
          <p:nvPr/>
        </p:nvSpPr>
        <p:spPr>
          <a:xfrm>
            <a:off x="812800" y="6238239"/>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7" name="Text 15"/>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METHODS · EXPERIMENTS</a:t>
            </a:r>
            <a:endParaRPr lang="en-US" sz="1200" dirty="0"/>
          </a:p>
        </p:txBody>
      </p:sp>
      <p:sp>
        <p:nvSpPr>
          <p:cNvPr id="3" name="Text 1"/>
          <p:cNvSpPr/>
          <p:nvPr>
            <p:ph type="title"/>
          </p:nvPr>
        </p:nvSpPr>
        <p:spPr>
          <a:xfrm>
            <a:off x="812800" y="1102361"/>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32 experiments in two rounds</a:t>
            </a:r>
            <a:endParaRPr lang="en-US" sz="3200" dirty="0"/>
          </a:p>
        </p:txBody>
      </p:sp>
      <p:sp>
        <p:nvSpPr>
          <p:cNvPr id="4" name="Shape 2"/>
          <p:cNvSpPr/>
          <p:nvPr/>
        </p:nvSpPr>
        <p:spPr>
          <a:xfrm>
            <a:off x="812800" y="2093596"/>
            <a:ext cx="1940560" cy="0"/>
          </a:xfrm>
          <a:prstGeom prst="line">
            <a:avLst/>
          </a:prstGeom>
          <a:noFill/>
          <a:ln w="19050">
            <a:solidFill>
              <a:srgbClr val="14213D"/>
            </a:solidFill>
            <a:prstDash val="solid"/>
          </a:ln>
        </p:spPr>
      </p:sp>
      <p:sp>
        <p:nvSpPr>
          <p:cNvPr id="5" name="Text 3"/>
          <p:cNvSpPr/>
          <p:nvPr/>
        </p:nvSpPr>
        <p:spPr>
          <a:xfrm>
            <a:off x="812800" y="1823721"/>
            <a:ext cx="19987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Validate</a:t>
            </a:r>
            <a:endParaRPr lang="en-US" sz="1200" dirty="0"/>
          </a:p>
        </p:txBody>
      </p:sp>
      <p:sp>
        <p:nvSpPr>
          <p:cNvPr id="6" name="Text 4"/>
          <p:cNvSpPr/>
          <p:nvPr/>
        </p:nvSpPr>
        <p:spPr>
          <a:xfrm>
            <a:off x="812800" y="2179321"/>
            <a:ext cx="19987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E0</a:t>
            </a:r>
            <a:r>
              <a:rPr lang="en-US" sz="1200" dirty="0">
                <a:solidFill>
                  <a:srgbClr val="4A5568"/>
                </a:solidFill>
                <a:latin typeface="IBM Plex Sans" pitchFamily="34" charset="0"/>
                <a:ea typeface="IBM Plex Sans" pitchFamily="34" charset="-122"/>
                <a:cs typeface="IBM Plex Sans" pitchFamily="34" charset="-120"/>
              </a:rPr>
              <a:t> reproduce Gallagher 2023</a:t>
            </a:r>
            <a:endParaRPr lang="en-US" sz="1200" dirty="0"/>
          </a:p>
        </p:txBody>
      </p:sp>
      <p:sp>
        <p:nvSpPr>
          <p:cNvPr id="7" name="Text 5"/>
          <p:cNvSpPr/>
          <p:nvPr/>
        </p:nvSpPr>
        <p:spPr>
          <a:xfrm>
            <a:off x="812800" y="2667000"/>
            <a:ext cx="2092960"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E1</a:t>
            </a:r>
            <a:r>
              <a:rPr lang="en-US" sz="1200" dirty="0">
                <a:solidFill>
                  <a:srgbClr val="4A5568"/>
                </a:solidFill>
                <a:latin typeface="IBM Plex Sans" pitchFamily="34" charset="0"/>
                <a:ea typeface="IBM Plex Sans" pitchFamily="34" charset="-122"/>
                <a:cs typeface="IBM Plex Sans" pitchFamily="34" charset="-120"/>
              </a:rPr>
              <a:t> heuristics and headroom</a:t>
            </a:r>
            <a:endParaRPr lang="en-US" sz="1200" dirty="0"/>
          </a:p>
        </p:txBody>
      </p:sp>
      <p:sp>
        <p:nvSpPr>
          <p:cNvPr id="8" name="Shape 6"/>
          <p:cNvSpPr/>
          <p:nvPr/>
        </p:nvSpPr>
        <p:spPr>
          <a:xfrm>
            <a:off x="2905760" y="2093596"/>
            <a:ext cx="1940560" cy="0"/>
          </a:xfrm>
          <a:prstGeom prst="line">
            <a:avLst/>
          </a:prstGeom>
          <a:noFill/>
          <a:ln w="19050">
            <a:solidFill>
              <a:srgbClr val="14213D"/>
            </a:solidFill>
            <a:prstDash val="solid"/>
          </a:ln>
        </p:spPr>
      </p:sp>
      <p:sp>
        <p:nvSpPr>
          <p:cNvPr id="9" name="Text 7"/>
          <p:cNvSpPr/>
          <p:nvPr/>
        </p:nvSpPr>
        <p:spPr>
          <a:xfrm>
            <a:off x="2905760" y="1823721"/>
            <a:ext cx="19987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Core comparison</a:t>
            </a:r>
            <a:endParaRPr lang="en-US" sz="1200" dirty="0"/>
          </a:p>
        </p:txBody>
      </p:sp>
      <p:sp>
        <p:nvSpPr>
          <p:cNvPr id="10" name="Text 8"/>
          <p:cNvSpPr/>
          <p:nvPr/>
        </p:nvSpPr>
        <p:spPr>
          <a:xfrm>
            <a:off x="2905760" y="217932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E2</a:t>
            </a:r>
            <a:r>
              <a:rPr lang="en-US" sz="1200" dirty="0">
                <a:solidFill>
                  <a:srgbClr val="4A5568"/>
                </a:solidFill>
                <a:latin typeface="IBM Plex Sans" pitchFamily="34" charset="0"/>
                <a:ea typeface="IBM Plex Sans" pitchFamily="34" charset="-122"/>
                <a:cs typeface="IBM Plex Sans" pitchFamily="34" charset="-120"/>
              </a:rPr>
              <a:t> optimum per objective</a:t>
            </a:r>
            <a:endParaRPr lang="en-US" sz="1200" dirty="0"/>
          </a:p>
        </p:txBody>
      </p:sp>
      <p:sp>
        <p:nvSpPr>
          <p:cNvPr id="11" name="Text 9"/>
          <p:cNvSpPr/>
          <p:nvPr/>
        </p:nvSpPr>
        <p:spPr>
          <a:xfrm>
            <a:off x="2905760" y="246126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E3</a:t>
            </a:r>
            <a:r>
              <a:rPr lang="en-US" sz="1200" dirty="0">
                <a:solidFill>
                  <a:srgbClr val="4A5568"/>
                </a:solidFill>
                <a:latin typeface="IBM Plex Sans" pitchFamily="34" charset="0"/>
                <a:ea typeface="IBM Plex Sans" pitchFamily="34" charset="-122"/>
                <a:cs typeface="IBM Plex Sans" pitchFamily="34" charset="-120"/>
              </a:rPr>
              <a:t> train 4 × 10 agents</a:t>
            </a:r>
            <a:endParaRPr lang="en-US" sz="1200" dirty="0"/>
          </a:p>
        </p:txBody>
      </p:sp>
      <p:sp>
        <p:nvSpPr>
          <p:cNvPr id="12" name="Text 10"/>
          <p:cNvSpPr/>
          <p:nvPr/>
        </p:nvSpPr>
        <p:spPr>
          <a:xfrm>
            <a:off x="2905760" y="2743200"/>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E4</a:t>
            </a:r>
            <a:r>
              <a:rPr lang="en-US" sz="1200" dirty="0">
                <a:solidFill>
                  <a:srgbClr val="4A5568"/>
                </a:solidFill>
                <a:latin typeface="IBM Plex Sans" pitchFamily="34" charset="0"/>
                <a:ea typeface="IBM Plex Sans" pitchFamily="34" charset="-122"/>
                <a:cs typeface="IBM Plex Sans" pitchFamily="34" charset="-120"/>
              </a:rPr>
              <a:t> cross-evaluation</a:t>
            </a:r>
            <a:endParaRPr lang="en-US" sz="1200" dirty="0"/>
          </a:p>
        </p:txBody>
      </p:sp>
      <p:sp>
        <p:nvSpPr>
          <p:cNvPr id="13" name="Text 11"/>
          <p:cNvSpPr/>
          <p:nvPr/>
        </p:nvSpPr>
        <p:spPr>
          <a:xfrm>
            <a:off x="2905760" y="3025139"/>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E5</a:t>
            </a:r>
            <a:r>
              <a:rPr lang="en-US" sz="1200" dirty="0">
                <a:solidFill>
                  <a:srgbClr val="4A5568"/>
                </a:solidFill>
                <a:latin typeface="IBM Plex Sans" pitchFamily="34" charset="0"/>
                <a:ea typeface="IBM Plex Sans" pitchFamily="34" charset="-122"/>
                <a:cs typeface="IBM Plex Sans" pitchFamily="34" charset="-120"/>
              </a:rPr>
              <a:t> policy divergence</a:t>
            </a:r>
            <a:endParaRPr lang="en-US" sz="1200" dirty="0"/>
          </a:p>
        </p:txBody>
      </p:sp>
      <p:sp>
        <p:nvSpPr>
          <p:cNvPr id="14" name="Shape 12"/>
          <p:cNvSpPr/>
          <p:nvPr/>
        </p:nvSpPr>
        <p:spPr>
          <a:xfrm>
            <a:off x="4998720" y="2093596"/>
            <a:ext cx="1940560" cy="0"/>
          </a:xfrm>
          <a:prstGeom prst="line">
            <a:avLst/>
          </a:prstGeom>
          <a:noFill/>
          <a:ln w="19050">
            <a:solidFill>
              <a:srgbClr val="14213D"/>
            </a:solidFill>
            <a:prstDash val="solid"/>
          </a:ln>
        </p:spPr>
      </p:sp>
      <p:sp>
        <p:nvSpPr>
          <p:cNvPr id="15" name="Text 13"/>
          <p:cNvSpPr/>
          <p:nvPr/>
        </p:nvSpPr>
        <p:spPr>
          <a:xfrm>
            <a:off x="4998720" y="1823721"/>
            <a:ext cx="19987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Robustness</a:t>
            </a:r>
            <a:endParaRPr lang="en-US" sz="1200" dirty="0"/>
          </a:p>
        </p:txBody>
      </p:sp>
      <p:sp>
        <p:nvSpPr>
          <p:cNvPr id="16" name="Text 14"/>
          <p:cNvSpPr/>
          <p:nvPr/>
        </p:nvSpPr>
        <p:spPr>
          <a:xfrm>
            <a:off x="4998720" y="217932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E6</a:t>
            </a:r>
            <a:r>
              <a:rPr lang="en-US" sz="1200" dirty="0">
                <a:solidFill>
                  <a:srgbClr val="4A5568"/>
                </a:solidFill>
                <a:latin typeface="IBM Plex Sans" pitchFamily="34" charset="0"/>
                <a:ea typeface="IBM Plex Sans" pitchFamily="34" charset="-122"/>
                <a:cs typeface="IBM Plex Sans" pitchFamily="34" charset="-120"/>
              </a:rPr>
              <a:t> coexistence target</a:t>
            </a:r>
            <a:endParaRPr lang="en-US" sz="1200" dirty="0"/>
          </a:p>
        </p:txBody>
      </p:sp>
      <p:sp>
        <p:nvSpPr>
          <p:cNvPr id="17" name="Text 15"/>
          <p:cNvSpPr/>
          <p:nvPr/>
        </p:nvSpPr>
        <p:spPr>
          <a:xfrm>
            <a:off x="4998720" y="246126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E7</a:t>
            </a:r>
            <a:r>
              <a:rPr lang="en-US" sz="1200" dirty="0">
                <a:solidFill>
                  <a:srgbClr val="4A5568"/>
                </a:solidFill>
                <a:latin typeface="IBM Plex Sans" pitchFamily="34" charset="0"/>
                <a:ea typeface="IBM Plex Sans" pitchFamily="34" charset="-122"/>
                <a:cs typeface="IBM Plex Sans" pitchFamily="34" charset="-120"/>
              </a:rPr>
              <a:t> 20 held-out patients</a:t>
            </a:r>
            <a:endParaRPr lang="en-US" sz="1200" dirty="0"/>
          </a:p>
        </p:txBody>
      </p:sp>
      <p:sp>
        <p:nvSpPr>
          <p:cNvPr id="18" name="Text 16"/>
          <p:cNvSpPr/>
          <p:nvPr/>
        </p:nvSpPr>
        <p:spPr>
          <a:xfrm>
            <a:off x="4998720" y="2743200"/>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E8</a:t>
            </a:r>
            <a:r>
              <a:rPr lang="en-US" sz="1200" dirty="0">
                <a:solidFill>
                  <a:srgbClr val="4A5568"/>
                </a:solidFill>
                <a:latin typeface="IBM Plex Sans" pitchFamily="34" charset="0"/>
                <a:ea typeface="IBM Plex Sans" pitchFamily="34" charset="-122"/>
                <a:cs typeface="IBM Plex Sans" pitchFamily="34" charset="-120"/>
              </a:rPr>
              <a:t> ±25% parameters</a:t>
            </a:r>
            <a:endParaRPr lang="en-US" sz="1200" dirty="0"/>
          </a:p>
        </p:txBody>
      </p:sp>
      <p:sp>
        <p:nvSpPr>
          <p:cNvPr id="19" name="Text 17"/>
          <p:cNvSpPr/>
          <p:nvPr/>
        </p:nvSpPr>
        <p:spPr>
          <a:xfrm>
            <a:off x="4998720" y="3025139"/>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E9</a:t>
            </a:r>
            <a:r>
              <a:rPr lang="en-US" sz="1200" dirty="0">
                <a:solidFill>
                  <a:srgbClr val="4A5568"/>
                </a:solidFill>
                <a:latin typeface="IBM Plex Sans" pitchFamily="34" charset="0"/>
                <a:ea typeface="IBM Plex Sans" pitchFamily="34" charset="-122"/>
                <a:cs typeface="IBM Plex Sans" pitchFamily="34" charset="-120"/>
              </a:rPr>
              <a:t> monitoring cadence</a:t>
            </a:r>
            <a:endParaRPr lang="en-US" sz="1200" dirty="0"/>
          </a:p>
        </p:txBody>
      </p:sp>
      <p:sp>
        <p:nvSpPr>
          <p:cNvPr id="20" name="Text 18"/>
          <p:cNvSpPr/>
          <p:nvPr/>
        </p:nvSpPr>
        <p:spPr>
          <a:xfrm>
            <a:off x="4998720" y="3307079"/>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E10</a:t>
            </a:r>
            <a:r>
              <a:rPr lang="en-US" sz="1200" dirty="0">
                <a:solidFill>
                  <a:srgbClr val="4A5568"/>
                </a:solidFill>
                <a:latin typeface="IBM Plex Sans" pitchFamily="34" charset="0"/>
                <a:ea typeface="IBM Plex Sans" pitchFamily="34" charset="-122"/>
                <a:cs typeface="IBM Plex Sans" pitchFamily="34" charset="-120"/>
              </a:rPr>
              <a:t> drug mechanism</a:t>
            </a:r>
            <a:endParaRPr lang="en-US" sz="1200" dirty="0"/>
          </a:p>
        </p:txBody>
      </p:sp>
      <p:sp>
        <p:nvSpPr>
          <p:cNvPr id="21" name="Text 19"/>
          <p:cNvSpPr/>
          <p:nvPr/>
        </p:nvSpPr>
        <p:spPr>
          <a:xfrm>
            <a:off x="4998720" y="358902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E3c–5c</a:t>
            </a:r>
            <a:r>
              <a:rPr lang="en-US" sz="1200" dirty="0">
                <a:solidFill>
                  <a:srgbClr val="4A5568"/>
                </a:solidFill>
                <a:latin typeface="IBM Plex Sans" pitchFamily="34" charset="0"/>
                <a:ea typeface="IBM Plex Sans" pitchFamily="34" charset="-122"/>
                <a:cs typeface="IBM Plex Sans" pitchFamily="34" charset="-120"/>
              </a:rPr>
              <a:t> cost of resistance</a:t>
            </a:r>
            <a:endParaRPr lang="en-US" sz="1200" dirty="0"/>
          </a:p>
        </p:txBody>
      </p:sp>
      <p:sp>
        <p:nvSpPr>
          <p:cNvPr id="22" name="Shape 20"/>
          <p:cNvSpPr/>
          <p:nvPr/>
        </p:nvSpPr>
        <p:spPr>
          <a:xfrm>
            <a:off x="7091680" y="2093596"/>
            <a:ext cx="1940560" cy="0"/>
          </a:xfrm>
          <a:prstGeom prst="line">
            <a:avLst/>
          </a:prstGeom>
          <a:noFill/>
          <a:ln w="19050">
            <a:solidFill>
              <a:srgbClr val="14213D"/>
            </a:solidFill>
            <a:prstDash val="solid"/>
          </a:ln>
        </p:spPr>
      </p:sp>
      <p:sp>
        <p:nvSpPr>
          <p:cNvPr id="23" name="Text 21"/>
          <p:cNvSpPr/>
          <p:nvPr/>
        </p:nvSpPr>
        <p:spPr>
          <a:xfrm>
            <a:off x="7091680" y="1823721"/>
            <a:ext cx="19987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Observation</a:t>
            </a:r>
            <a:endParaRPr lang="en-US" sz="1200" dirty="0"/>
          </a:p>
        </p:txBody>
      </p:sp>
      <p:sp>
        <p:nvSpPr>
          <p:cNvPr id="24" name="Text 22"/>
          <p:cNvSpPr/>
          <p:nvPr/>
        </p:nvSpPr>
        <p:spPr>
          <a:xfrm>
            <a:off x="7091680" y="217932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E11</a:t>
            </a:r>
            <a:r>
              <a:rPr lang="en-US" sz="1200" dirty="0">
                <a:solidFill>
                  <a:srgbClr val="4A5568"/>
                </a:solidFill>
                <a:latin typeface="IBM Plex Sans" pitchFamily="34" charset="0"/>
                <a:ea typeface="IBM Plex Sans" pitchFamily="34" charset="-122"/>
                <a:cs typeface="IBM Plex Sans" pitchFamily="34" charset="-120"/>
              </a:rPr>
              <a:t> burden only</a:t>
            </a:r>
            <a:endParaRPr lang="en-US" sz="1200" dirty="0"/>
          </a:p>
        </p:txBody>
      </p:sp>
      <p:sp>
        <p:nvSpPr>
          <p:cNvPr id="25" name="Text 23"/>
          <p:cNvSpPr/>
          <p:nvPr/>
        </p:nvSpPr>
        <p:spPr>
          <a:xfrm>
            <a:off x="7091680" y="246126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E11b</a:t>
            </a:r>
            <a:r>
              <a:rPr lang="en-US" sz="1200" dirty="0">
                <a:solidFill>
                  <a:srgbClr val="4A5568"/>
                </a:solidFill>
                <a:latin typeface="IBM Plex Sans" pitchFamily="34" charset="0"/>
                <a:ea typeface="IBM Plex Sans" pitchFamily="34" charset="-122"/>
                <a:cs typeface="IBM Plex Sans" pitchFamily="34" charset="-120"/>
              </a:rPr>
              <a:t> + full-state critic</a:t>
            </a:r>
            <a:endParaRPr lang="en-US" sz="1200" dirty="0"/>
          </a:p>
        </p:txBody>
      </p:sp>
      <p:sp>
        <p:nvSpPr>
          <p:cNvPr id="26" name="Text 24"/>
          <p:cNvSpPr/>
          <p:nvPr/>
        </p:nvSpPr>
        <p:spPr>
          <a:xfrm>
            <a:off x="7091680" y="2743200"/>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E11c</a:t>
            </a:r>
            <a:r>
              <a:rPr lang="en-US" sz="1200" dirty="0">
                <a:solidFill>
                  <a:srgbClr val="4A5568"/>
                </a:solidFill>
                <a:latin typeface="IBM Plex Sans" pitchFamily="34" charset="0"/>
                <a:ea typeface="IBM Plex Sans" pitchFamily="34" charset="-122"/>
                <a:cs typeface="IBM Plex Sans" pitchFamily="34" charset="-120"/>
              </a:rPr>
              <a:t> 8-week memory</a:t>
            </a:r>
            <a:endParaRPr lang="en-US" sz="1200" dirty="0"/>
          </a:p>
        </p:txBody>
      </p:sp>
      <p:sp>
        <p:nvSpPr>
          <p:cNvPr id="27" name="Text 25"/>
          <p:cNvSpPr/>
          <p:nvPr/>
        </p:nvSpPr>
        <p:spPr>
          <a:xfrm>
            <a:off x="7091680" y="3025139"/>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E11d</a:t>
            </a:r>
            <a:r>
              <a:rPr lang="en-US" sz="1200" dirty="0">
                <a:solidFill>
                  <a:srgbClr val="4A5568"/>
                </a:solidFill>
                <a:latin typeface="IBM Plex Sans" pitchFamily="34" charset="0"/>
                <a:ea typeface="IBM Plex Sans" pitchFamily="34" charset="-122"/>
                <a:cs typeface="IBM Plex Sans" pitchFamily="34" charset="-120"/>
              </a:rPr>
              <a:t> memory, 3× budget</a:t>
            </a:r>
            <a:endParaRPr lang="en-US" sz="1200" dirty="0"/>
          </a:p>
        </p:txBody>
      </p:sp>
      <p:sp>
        <p:nvSpPr>
          <p:cNvPr id="28" name="Shape 26"/>
          <p:cNvSpPr/>
          <p:nvPr/>
        </p:nvSpPr>
        <p:spPr>
          <a:xfrm>
            <a:off x="9184640" y="1823721"/>
            <a:ext cx="2194560" cy="2560320"/>
          </a:xfrm>
          <a:prstGeom prst="roundRect">
            <a:avLst>
              <a:gd name="adj" fmla="val 3472"/>
            </a:avLst>
          </a:prstGeom>
          <a:solidFill>
            <a:srgbClr val="E6EEF8"/>
          </a:solidFill>
          <a:ln/>
        </p:spPr>
      </p:sp>
      <p:sp>
        <p:nvSpPr>
          <p:cNvPr id="29" name="Shape 27"/>
          <p:cNvSpPr/>
          <p:nvPr/>
        </p:nvSpPr>
        <p:spPr>
          <a:xfrm>
            <a:off x="9311640" y="2220596"/>
            <a:ext cx="1940560" cy="0"/>
          </a:xfrm>
          <a:prstGeom prst="line">
            <a:avLst/>
          </a:prstGeom>
          <a:noFill/>
          <a:ln w="19050">
            <a:solidFill>
              <a:srgbClr val="2B6CB0"/>
            </a:solidFill>
            <a:prstDash val="solid"/>
          </a:ln>
        </p:spPr>
      </p:sp>
      <p:sp>
        <p:nvSpPr>
          <p:cNvPr id="30" name="Text 28"/>
          <p:cNvSpPr/>
          <p:nvPr/>
        </p:nvSpPr>
        <p:spPr>
          <a:xfrm>
            <a:off x="9311640" y="1950721"/>
            <a:ext cx="1998777"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Round 2</a:t>
            </a:r>
            <a:endParaRPr lang="en-US" sz="1200" dirty="0"/>
          </a:p>
        </p:txBody>
      </p:sp>
      <p:sp>
        <p:nvSpPr>
          <p:cNvPr id="31" name="Text 29"/>
          <p:cNvSpPr/>
          <p:nvPr/>
        </p:nvSpPr>
        <p:spPr>
          <a:xfrm>
            <a:off x="9311640" y="2306321"/>
            <a:ext cx="19987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A</a:t>
            </a:r>
            <a:r>
              <a:rPr lang="en-US" sz="1200" dirty="0">
                <a:solidFill>
                  <a:srgbClr val="4A5568"/>
                </a:solidFill>
                <a:latin typeface="IBM Plex Sans" pitchFamily="34" charset="0"/>
                <a:ea typeface="IBM Plex Sans" pitchFamily="34" charset="-122"/>
                <a:cs typeface="IBM Plex Sans" pitchFamily="34" charset="-120"/>
              </a:rPr>
              <a:t> equal budgets, new patient, finer grid</a:t>
            </a:r>
            <a:endParaRPr lang="en-US" sz="1200" dirty="0"/>
          </a:p>
        </p:txBody>
      </p:sp>
      <p:sp>
        <p:nvSpPr>
          <p:cNvPr id="32" name="Text 30"/>
          <p:cNvSpPr/>
          <p:nvPr/>
        </p:nvSpPr>
        <p:spPr>
          <a:xfrm>
            <a:off x="9311640" y="2794000"/>
            <a:ext cx="19987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B</a:t>
            </a:r>
            <a:r>
              <a:rPr lang="en-US" sz="1200" dirty="0">
                <a:solidFill>
                  <a:srgbClr val="4A5568"/>
                </a:solidFill>
                <a:latin typeface="IBM Plex Sans" pitchFamily="34" charset="0"/>
                <a:ea typeface="IBM Plex Sans" pitchFamily="34" charset="-122"/>
                <a:cs typeface="IBM Plex Sans" pitchFamily="34" charset="-120"/>
              </a:rPr>
              <a:t> Pareto front, reward shape, switching</a:t>
            </a:r>
            <a:endParaRPr lang="en-US" sz="1200" dirty="0"/>
          </a:p>
        </p:txBody>
      </p:sp>
      <p:sp>
        <p:nvSpPr>
          <p:cNvPr id="33" name="Text 31"/>
          <p:cNvSpPr/>
          <p:nvPr/>
        </p:nvSpPr>
        <p:spPr>
          <a:xfrm>
            <a:off x="9311640" y="3281679"/>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C</a:t>
            </a:r>
            <a:r>
              <a:rPr lang="en-US" sz="1200" dirty="0">
                <a:solidFill>
                  <a:srgbClr val="4A5568"/>
                </a:solidFill>
                <a:latin typeface="IBM Plex Sans" pitchFamily="34" charset="0"/>
                <a:ea typeface="IBM Plex Sans" pitchFamily="34" charset="-122"/>
                <a:cs typeface="IBM Plex Sans" pitchFamily="34" charset="-120"/>
              </a:rPr>
              <a:t> cost × turnover map</a:t>
            </a:r>
            <a:endParaRPr lang="en-US" sz="1200" dirty="0"/>
          </a:p>
        </p:txBody>
      </p:sp>
      <p:sp>
        <p:nvSpPr>
          <p:cNvPr id="34" name="Text 32"/>
          <p:cNvSpPr/>
          <p:nvPr/>
        </p:nvSpPr>
        <p:spPr>
          <a:xfrm>
            <a:off x="9311640" y="3563621"/>
            <a:ext cx="1998777" cy="23114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D</a:t>
            </a:r>
            <a:r>
              <a:rPr lang="en-US" sz="1200" dirty="0">
                <a:solidFill>
                  <a:srgbClr val="4A5568"/>
                </a:solidFill>
                <a:latin typeface="IBM Plex Sans" pitchFamily="34" charset="0"/>
                <a:ea typeface="IBM Plex Sans" pitchFamily="34" charset="-122"/>
                <a:cs typeface="IBM Plex Sans" pitchFamily="34" charset="-120"/>
              </a:rPr>
              <a:t> graded doses</a:t>
            </a:r>
            <a:endParaRPr lang="en-US" sz="1200" dirty="0"/>
          </a:p>
        </p:txBody>
      </p:sp>
      <p:sp>
        <p:nvSpPr>
          <p:cNvPr id="35" name="Text 33"/>
          <p:cNvSpPr/>
          <p:nvPr/>
        </p:nvSpPr>
        <p:spPr>
          <a:xfrm>
            <a:off x="9311640" y="3845561"/>
            <a:ext cx="1998777" cy="436880"/>
          </a:xfrm>
          <a:prstGeom prst="rect">
            <a:avLst/>
          </a:prstGeom>
          <a:noFill/>
          <a:ln/>
        </p:spPr>
        <p:txBody>
          <a:bodyPr wrap="square" lIns="0" tIns="0" rIns="0" bIns="0" rtlCol="0" anchor="t">
            <a:normAutofit/>
          </a:bodyPr>
          <a:lstStyle/>
          <a:p>
            <a:pPr algn="l" indent="0" marL="0">
              <a:lnSpc>
                <a:spcPts val="1620"/>
              </a:lnSpc>
              <a:buNone/>
            </a:pPr>
            <a:r>
              <a:rPr lang="en-US" sz="1200" b="1" dirty="0">
                <a:solidFill>
                  <a:srgbClr val="4A5568"/>
                </a:solidFill>
                <a:latin typeface="IBM Plex Sans" pitchFamily="34" charset="0"/>
                <a:ea typeface="IBM Plex Sans" pitchFamily="34" charset="-122"/>
                <a:cs typeface="IBM Plex Sans" pitchFamily="34" charset="-120"/>
              </a:rPr>
              <a:t>E</a:t>
            </a:r>
            <a:r>
              <a:rPr lang="en-US" sz="1200" dirty="0">
                <a:solidFill>
                  <a:srgbClr val="4A5568"/>
                </a:solidFill>
                <a:latin typeface="IBM Plex Sans" pitchFamily="34" charset="0"/>
                <a:ea typeface="IBM Plex Sans" pitchFamily="34" charset="-122"/>
                <a:cs typeface="IBM Plex Sans" pitchFamily="34" charset="-120"/>
              </a:rPr>
              <a:t> mutation, partial sensitivity</a:t>
            </a:r>
            <a:endParaRPr lang="en-US" sz="1200" dirty="0"/>
          </a:p>
        </p:txBody>
      </p:sp>
      <p:sp>
        <p:nvSpPr>
          <p:cNvPr id="36" name="Text 34"/>
          <p:cNvSpPr/>
          <p:nvPr/>
        </p:nvSpPr>
        <p:spPr>
          <a:xfrm>
            <a:off x="812800" y="6238239"/>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37" name="Text 35"/>
          <p:cNvSpPr/>
          <p:nvPr/>
        </p:nvSpPr>
        <p:spPr>
          <a:xfrm>
            <a:off x="11236960" y="6238239"/>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VALIDATION</a:t>
            </a:r>
            <a:endParaRPr lang="en-US" sz="1200" dirty="0"/>
          </a:p>
        </p:txBody>
      </p:sp>
      <p:sp>
        <p:nvSpPr>
          <p:cNvPr id="3" name="Text 1"/>
          <p:cNvSpPr/>
          <p:nvPr>
            <p:ph type="title"/>
          </p:nvPr>
        </p:nvSpPr>
        <p:spPr>
          <a:xfrm>
            <a:off x="812800" y="1102361"/>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The environment reproduces the published benchmark</a:t>
            </a:r>
            <a:endParaRPr lang="en-US" sz="3200" dirty="0"/>
          </a:p>
        </p:txBody>
      </p:sp>
      <p:sp>
        <p:nvSpPr>
          <p:cNvPr id="4" name="Shape 2"/>
          <p:cNvSpPr/>
          <p:nvPr/>
        </p:nvSpPr>
        <p:spPr>
          <a:xfrm>
            <a:off x="815975" y="2693036"/>
            <a:ext cx="3380317" cy="1639570"/>
          </a:xfrm>
          <a:prstGeom prst="roundRect">
            <a:avLst>
              <a:gd name="adj" fmla="val 6003"/>
            </a:avLst>
          </a:prstGeom>
          <a:solidFill>
            <a:srgbClr val="FFFFFF"/>
          </a:solidFill>
          <a:ln w="6350">
            <a:solidFill>
              <a:srgbClr val="E2DED3"/>
            </a:solidFill>
            <a:prstDash val="solid"/>
          </a:ln>
        </p:spPr>
      </p:sp>
      <p:sp>
        <p:nvSpPr>
          <p:cNvPr id="5" name="Text 3"/>
          <p:cNvSpPr/>
          <p:nvPr/>
        </p:nvSpPr>
        <p:spPr>
          <a:xfrm>
            <a:off x="1071880" y="2948939"/>
            <a:ext cx="295456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B6CB0"/>
                </a:solidFill>
                <a:latin typeface="Source Serif 4" pitchFamily="18" charset="0"/>
                <a:ea typeface="Source Serif 4" pitchFamily="18" charset="-122"/>
                <a:cs typeface="Source Serif 4" pitchFamily="18" charset="-120"/>
              </a:rPr>
              <a:t>451.6 d</a:t>
            </a:r>
            <a:endParaRPr lang="en-US" sz="4400" dirty="0"/>
          </a:p>
        </p:txBody>
      </p:sp>
      <p:sp>
        <p:nvSpPr>
          <p:cNvPr id="6" name="Text 4"/>
          <p:cNvSpPr/>
          <p:nvPr/>
        </p:nvSpPr>
        <p:spPr>
          <a:xfrm>
            <a:off x="1071880" y="3614421"/>
            <a:ext cx="29545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Continuous therapy to progression. Paper: 450–451 d.</a:t>
            </a:r>
            <a:endParaRPr lang="en-US" sz="1300" dirty="0"/>
          </a:p>
        </p:txBody>
      </p:sp>
      <p:sp>
        <p:nvSpPr>
          <p:cNvPr id="7" name="Shape 5"/>
          <p:cNvSpPr/>
          <p:nvPr/>
        </p:nvSpPr>
        <p:spPr>
          <a:xfrm>
            <a:off x="4405842" y="2693036"/>
            <a:ext cx="3380317" cy="1639570"/>
          </a:xfrm>
          <a:prstGeom prst="roundRect">
            <a:avLst>
              <a:gd name="adj" fmla="val 6003"/>
            </a:avLst>
          </a:prstGeom>
          <a:solidFill>
            <a:srgbClr val="FFFFFF"/>
          </a:solidFill>
          <a:ln w="6350">
            <a:solidFill>
              <a:srgbClr val="E2DED3"/>
            </a:solidFill>
            <a:prstDash val="solid"/>
          </a:ln>
        </p:spPr>
      </p:sp>
      <p:sp>
        <p:nvSpPr>
          <p:cNvPr id="8" name="Text 6"/>
          <p:cNvSpPr/>
          <p:nvPr/>
        </p:nvSpPr>
        <p:spPr>
          <a:xfrm>
            <a:off x="4661746" y="2948939"/>
            <a:ext cx="295456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B6CB0"/>
                </a:solidFill>
                <a:latin typeface="Source Serif 4" pitchFamily="18" charset="0"/>
                <a:ea typeface="Source Serif 4" pitchFamily="18" charset="-122"/>
                <a:cs typeface="Source Serif 4" pitchFamily="18" charset="-120"/>
              </a:rPr>
              <a:t>662.8 d</a:t>
            </a:r>
            <a:endParaRPr lang="en-US" sz="4400" dirty="0"/>
          </a:p>
        </p:txBody>
      </p:sp>
      <p:sp>
        <p:nvSpPr>
          <p:cNvPr id="9" name="Text 7"/>
          <p:cNvSpPr/>
          <p:nvPr/>
        </p:nvSpPr>
        <p:spPr>
          <a:xfrm>
            <a:off x="4661746" y="3614421"/>
            <a:ext cx="29545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AT50 with daily decisions. Paper: 662 d.</a:t>
            </a:r>
            <a:endParaRPr lang="en-US" sz="1300" dirty="0"/>
          </a:p>
        </p:txBody>
      </p:sp>
      <p:sp>
        <p:nvSpPr>
          <p:cNvPr id="10" name="Shape 8"/>
          <p:cNvSpPr/>
          <p:nvPr/>
        </p:nvSpPr>
        <p:spPr>
          <a:xfrm>
            <a:off x="7995708" y="2693036"/>
            <a:ext cx="3380317" cy="1639570"/>
          </a:xfrm>
          <a:prstGeom prst="roundRect">
            <a:avLst>
              <a:gd name="adj" fmla="val 6003"/>
            </a:avLst>
          </a:prstGeom>
          <a:solidFill>
            <a:srgbClr val="FFFFFF"/>
          </a:solidFill>
          <a:ln w="6350">
            <a:solidFill>
              <a:srgbClr val="E2DED3"/>
            </a:solidFill>
            <a:prstDash val="solid"/>
          </a:ln>
        </p:spPr>
      </p:sp>
      <p:sp>
        <p:nvSpPr>
          <p:cNvPr id="11" name="Text 9"/>
          <p:cNvSpPr/>
          <p:nvPr/>
        </p:nvSpPr>
        <p:spPr>
          <a:xfrm>
            <a:off x="8251613" y="2948939"/>
            <a:ext cx="2954562" cy="640080"/>
          </a:xfrm>
          <a:prstGeom prst="rect">
            <a:avLst/>
          </a:prstGeom>
          <a:noFill/>
          <a:ln/>
        </p:spPr>
        <p:txBody>
          <a:bodyPr wrap="square" lIns="0" tIns="0" rIns="0" bIns="0" rtlCol="0" anchor="t">
            <a:normAutofit/>
          </a:bodyPr>
          <a:lstStyle/>
          <a:p>
            <a:pPr algn="l" indent="0" marL="0">
              <a:lnSpc>
                <a:spcPts val="4840"/>
              </a:lnSpc>
              <a:buNone/>
            </a:pPr>
            <a:r>
              <a:rPr lang="en-US" sz="4400" b="1" dirty="0">
                <a:solidFill>
                  <a:srgbClr val="2B6CB0"/>
                </a:solidFill>
                <a:latin typeface="Source Serif 4" pitchFamily="18" charset="0"/>
                <a:ea typeface="Source Serif 4" pitchFamily="18" charset="-122"/>
                <a:cs typeface="Source Serif 4" pitchFamily="18" charset="-120"/>
              </a:rPr>
              <a:t>&lt; 0.01 d</a:t>
            </a:r>
            <a:endParaRPr lang="en-US" sz="4400" dirty="0"/>
          </a:p>
        </p:txBody>
      </p:sp>
      <p:sp>
        <p:nvSpPr>
          <p:cNvPr id="12" name="Text 10"/>
          <p:cNvSpPr/>
          <p:nvPr/>
        </p:nvSpPr>
        <p:spPr>
          <a:xfrm>
            <a:off x="8251613" y="3614421"/>
            <a:ext cx="295456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Our RK4 against a high-precision ODE solver.</a:t>
            </a:r>
            <a:endParaRPr lang="en-US" sz="1300" dirty="0"/>
          </a:p>
        </p:txBody>
      </p:sp>
      <p:sp>
        <p:nvSpPr>
          <p:cNvPr id="13" name="Text 11"/>
          <p:cNvSpPr/>
          <p:nvPr/>
        </p:nvSpPr>
        <p:spPr>
          <a:xfrm>
            <a:off x="812800" y="4988558"/>
            <a:ext cx="10566400" cy="853440"/>
          </a:xfrm>
          <a:prstGeom prst="rect">
            <a:avLst/>
          </a:prstGeom>
          <a:solidFill>
            <a:srgbClr val="E6EEF8"/>
          </a:solidFill>
          <a:ln/>
        </p:spPr>
        <p:txBody>
          <a:bodyPr wrap="square" lIns="289560" tIns="177800" rIns="0" bIns="152400" rtlCol="0" anchor="t">
            <a:normAutofit/>
          </a:bodyPr>
          <a:lstStyle/>
          <a:p>
            <a:pPr algn="l" indent="0" marL="0">
              <a:lnSpc>
                <a:spcPts val="1960"/>
              </a:lnSpc>
              <a:buNone/>
            </a:pPr>
            <a:r>
              <a:rPr lang="en-US" sz="1400" dirty="0">
                <a:solidFill>
                  <a:srgbClr val="14213D"/>
                </a:solidFill>
                <a:latin typeface="IBM Plex Sans" pitchFamily="34" charset="0"/>
                <a:ea typeface="IBM Plex Sans" pitchFamily="34" charset="-122"/>
                <a:cs typeface="IBM Plex Sans" pitchFamily="34" charset="-120"/>
              </a:rPr>
              <a:t>The plan’s 1% starting resistant fraction reproduced nothing. The authors’ code uses </a:t>
            </a:r>
            <a:r>
              <a:rPr lang="en-US" sz="1400" b="1" dirty="0">
                <a:solidFill>
                  <a:srgbClr val="14213D"/>
                </a:solidFill>
                <a:latin typeface="IBM Plex Sans" pitchFamily="34" charset="0"/>
                <a:ea typeface="IBM Plex Sans" pitchFamily="34" charset="-122"/>
                <a:cs typeface="IBM Plex Sans" pitchFamily="34" charset="-120"/>
              </a:rPr>
              <a:t>0.1%</a:t>
            </a:r>
            <a:r>
              <a:rPr lang="en-US" sz="1400" dirty="0">
                <a:solidFill>
                  <a:srgbClr val="14213D"/>
                </a:solidFill>
                <a:latin typeface="IBM Plex Sans" pitchFamily="34" charset="0"/>
                <a:ea typeface="IBM Plex Sans" pitchFamily="34" charset="-122"/>
                <a:cs typeface="IBM Plex Sans" pitchFamily="34" charset="-120"/>
              </a:rPr>
              <a:t>, and with it every published number matches.</a:t>
            </a:r>
            <a:endParaRPr lang="en-US" sz="1400" dirty="0"/>
          </a:p>
        </p:txBody>
      </p:sp>
      <p:sp>
        <p:nvSpPr>
          <p:cNvPr id="14" name="Shape 12"/>
          <p:cNvSpPr/>
          <p:nvPr/>
        </p:nvSpPr>
        <p:spPr>
          <a:xfrm>
            <a:off x="831850" y="4988558"/>
            <a:ext cx="0" cy="853440"/>
          </a:xfrm>
          <a:prstGeom prst="line">
            <a:avLst/>
          </a:prstGeom>
          <a:noFill/>
          <a:ln w="38100">
            <a:solidFill>
              <a:srgbClr val="2B6CB0"/>
            </a:solidFill>
            <a:prstDash val="solid"/>
          </a:ln>
        </p:spPr>
      </p:sp>
      <p:sp>
        <p:nvSpPr>
          <p:cNvPr id="15" name="Text 13"/>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6" name="Text 14"/>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THE OPTIMUM (E2)</a:t>
            </a:r>
            <a:endParaRPr lang="en-US" sz="1200" dirty="0"/>
          </a:p>
        </p:txBody>
      </p:sp>
      <p:sp>
        <p:nvSpPr>
          <p:cNvPr id="3" name="Text 1"/>
          <p:cNvSpPr/>
          <p:nvPr>
            <p:ph type="title"/>
          </p:nvPr>
        </p:nvSpPr>
        <p:spPr>
          <a:xfrm>
            <a:off x="812800" y="1102358"/>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At the optimum, three objectives choose the same policy</a:t>
            </a:r>
            <a:endParaRPr lang="en-US" sz="3200" dirty="0"/>
          </a:p>
        </p:txBody>
      </p:sp>
      <p:sp>
        <p:nvSpPr>
          <p:cNvPr id="4" name="Shape 2"/>
          <p:cNvSpPr/>
          <p:nvPr/>
        </p:nvSpPr>
        <p:spPr>
          <a:xfrm>
            <a:off x="815975" y="2243454"/>
            <a:ext cx="10560050" cy="2753360"/>
          </a:xfrm>
          <a:prstGeom prst="roundRect">
            <a:avLst>
              <a:gd name="adj" fmla="val 2652"/>
            </a:avLst>
          </a:prstGeom>
          <a:solidFill>
            <a:srgbClr val="FFFFFF"/>
          </a:solidFill>
          <a:ln w="6350">
            <a:solidFill>
              <a:srgbClr val="E2DED3"/>
            </a:solidFill>
            <a:prstDash val="solid"/>
          </a:ln>
        </p:spPr>
      </p:sp>
      <p:pic>
        <p:nvPicPr>
          <p:cNvPr id="5" name="Image 0" descr="Value-iteration policy maps for R1 to R4 over tumour burden and log resistant fraction. R1, R2 and R4 treat only in a thin strip just below the progression line; R3 also treats across a wide band at low resistant fraction.">    </p:cNvPr>
          <p:cNvPicPr>
            <a:picLocks noChangeAspect="1"/>
          </p:cNvPicPr>
          <p:nvPr/>
        </p:nvPicPr>
        <p:blipFill>
          <a:blip r:embed="rId1"/>
          <a:srcRect l="-15" r="-15" t="0" b="0"/>
          <a:stretch/>
        </p:blipFill>
        <p:spPr>
          <a:xfrm>
            <a:off x="919480" y="2346958"/>
            <a:ext cx="9525000" cy="2546350"/>
          </a:xfrm>
          <a:prstGeom prst="rect">
            <a:avLst/>
          </a:prstGeom>
        </p:spPr>
      </p:pic>
      <p:sp>
        <p:nvSpPr>
          <p:cNvPr id="6" name="Text 3"/>
          <p:cNvSpPr/>
          <p:nvPr/>
        </p:nvSpPr>
        <p:spPr>
          <a:xfrm>
            <a:off x="812800" y="5203192"/>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R1, R2, R4: containment.</a:t>
            </a:r>
            <a:r>
              <a:rPr lang="en-US" sz="1300" dirty="0">
                <a:solidFill>
                  <a:srgbClr val="4A5568"/>
                </a:solidFill>
                <a:latin typeface="IBM Plex Sans" pitchFamily="34" charset="0"/>
                <a:ea typeface="IBM Plex Sans" pitchFamily="34" charset="-122"/>
                <a:cs typeface="IBM Plex Sans" pitchFamily="34" charset="-120"/>
              </a:rPr>
              <a:t> Hold the tumour just under 1.2 N₀; treat only when next week would cross it. 2030–2038 d.</a:t>
            </a:r>
            <a:endParaRPr lang="en-US" sz="1300" dirty="0"/>
          </a:p>
        </p:txBody>
      </p:sp>
      <p:sp>
        <p:nvSpPr>
          <p:cNvPr id="7" name="Text 4"/>
          <p:cNvSpPr/>
          <p:nvPr/>
        </p:nvSpPr>
        <p:spPr>
          <a:xfrm>
            <a:off x="6223000" y="5203192"/>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A1A"/>
                </a:solidFill>
                <a:latin typeface="IBM Plex Sans" pitchFamily="34" charset="0"/>
                <a:ea typeface="IBM Plex Sans" pitchFamily="34" charset="-122"/>
                <a:cs typeface="IBM Plex Sans" pitchFamily="34" charset="-120"/>
              </a:rPr>
              <a:t>R3: treats early</a:t>
            </a:r>
            <a:r>
              <a:rPr lang="en-US" sz="1300" dirty="0">
                <a:solidFill>
                  <a:srgbClr val="4A5568"/>
                </a:solidFill>
                <a:latin typeface="IBM Plex Sans" pitchFamily="34" charset="0"/>
                <a:ea typeface="IBM Plex Sans" pitchFamily="34" charset="-122"/>
                <a:cs typeface="IBM Plex Sans" pitchFamily="34" charset="-120"/>
              </a:rPr>
              <a:t> to escape its entropy penalty, then contains. Progresses about 400 days sooner, at 1625 d.</a:t>
            </a:r>
            <a:endParaRPr lang="en-US" sz="1300" dirty="0"/>
          </a:p>
        </p:txBody>
      </p:sp>
      <p:sp>
        <p:nvSpPr>
          <p:cNvPr id="8" name="Text 5"/>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9" name="Text 6"/>
          <p:cNvSpPr/>
          <p:nvPr/>
        </p:nvSpPr>
        <p:spPr>
          <a:xfrm>
            <a:off x="11236960" y="6238242"/>
            <a:ext cx="14224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3"/>
        </a:solidFill>
      </p:bgPr>
    </p:bg>
    <p:spTree>
      <p:nvGrpSpPr>
        <p:cNvPr id="1" name=""/>
        <p:cNvGrpSpPr/>
        <p:nvPr/>
      </p:nvGrpSpPr>
      <p:grpSpPr>
        <a:xfrm>
          <a:off x="0" y="0"/>
          <a:ext cx="0" cy="0"/>
          <a:chOff x="0" y="0"/>
          <a:chExt cx="0" cy="0"/>
        </a:xfrm>
      </p:grpSpPr>
      <p:sp>
        <p:nvSpPr>
          <p:cNvPr id="2" name="Shape 0"/>
          <p:cNvSpPr/>
          <p:nvPr/>
        </p:nvSpPr>
        <p:spPr>
          <a:xfrm>
            <a:off x="815975" y="815975"/>
            <a:ext cx="5045710" cy="4779010"/>
          </a:xfrm>
          <a:prstGeom prst="roundRect">
            <a:avLst>
              <a:gd name="adj" fmla="val 1528"/>
            </a:avLst>
          </a:prstGeom>
          <a:solidFill>
            <a:srgbClr val="FFFFFF"/>
          </a:solidFill>
          <a:ln w="6350">
            <a:solidFill>
              <a:srgbClr val="E2DED3"/>
            </a:solidFill>
            <a:prstDash val="solid"/>
          </a:ln>
        </p:spPr>
      </p:sp>
      <p:pic>
        <p:nvPicPr>
          <p:cNvPr id="3" name="Image 0" descr="Score matrix: rows are policies (PPO agents R1 to R4, value-iteration optima, heuristics), columns are the objective each is scored on. The R3-trained row scores 0.67 to 0.75 on other objectives; R1, R2 and R4 rows score 0.83 to 0.87.">    </p:cNvPr>
          <p:cNvPicPr>
            <a:picLocks noChangeAspect="1"/>
          </p:cNvPicPr>
          <p:nvPr/>
        </p:nvPicPr>
        <p:blipFill>
          <a:blip r:embed="rId1"/>
          <a:srcRect l="0" r="0" t="-26" b="-26"/>
          <a:stretch/>
        </p:blipFill>
        <p:spPr>
          <a:xfrm>
            <a:off x="919480" y="919479"/>
            <a:ext cx="4838700" cy="4572000"/>
          </a:xfrm>
          <a:prstGeom prst="rect">
            <a:avLst/>
          </a:prstGeom>
        </p:spPr>
      </p:pic>
      <p:sp>
        <p:nvSpPr>
          <p:cNvPr id="4" name="Text 1"/>
          <p:cNvSpPr/>
          <p:nvPr/>
        </p:nvSpPr>
        <p:spPr>
          <a:xfrm>
            <a:off x="6220460" y="812800"/>
            <a:ext cx="531350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CROSS-EVALUATION (E4)</a:t>
            </a:r>
            <a:endParaRPr lang="en-US" sz="1200" dirty="0"/>
          </a:p>
        </p:txBody>
      </p:sp>
      <p:sp>
        <p:nvSpPr>
          <p:cNvPr id="5" name="Text 2"/>
          <p:cNvSpPr/>
          <p:nvPr>
            <p:ph type="title"/>
          </p:nvPr>
        </p:nvSpPr>
        <p:spPr>
          <a:xfrm>
            <a:off x="6220460" y="1102358"/>
            <a:ext cx="5313502" cy="843280"/>
          </a:xfrm>
          <a:prstGeom prst="rect">
            <a:avLst/>
          </a:prstGeom>
          <a:noFill/>
          <a:ln/>
        </p:spPr>
        <p:txBody>
          <a:bodyPr wrap="square" lIns="0" tIns="0" rIns="0" bIns="0" rtlCol="0" anchor="t">
            <a:normAutofit/>
          </a:bodyPr>
          <a:lstStyle/>
          <a:p>
            <a:pPr algn="l" indent="0" marL="0">
              <a:lnSpc>
                <a:spcPts val="3220"/>
              </a:lnSpc>
              <a:buNone/>
            </a:pPr>
            <a:r>
              <a:rPr lang="en-US" sz="2800" b="1" i="0" dirty="0">
                <a:solidFill>
                  <a:srgbClr val="14213D"/>
                </a:solidFill>
                <a:latin typeface="Source Serif 4" pitchFamily="18" charset="0"/>
                <a:ea typeface="Source Serif 4" pitchFamily="18" charset="-122"/>
                <a:cs typeface="Source Serif 4" pitchFamily="18" charset="-120"/>
              </a:rPr>
              <a:t>Training on coexistence costs 12–18% everywhere else</a:t>
            </a:r>
            <a:endParaRPr lang="en-US" sz="2800" dirty="0"/>
          </a:p>
        </p:txBody>
      </p:sp>
      <p:sp>
        <p:nvSpPr>
          <p:cNvPr id="6" name="Shape 3"/>
          <p:cNvSpPr/>
          <p:nvPr/>
        </p:nvSpPr>
        <p:spPr>
          <a:xfrm>
            <a:off x="6239510" y="2148842"/>
            <a:ext cx="0" cy="754380"/>
          </a:xfrm>
          <a:prstGeom prst="line">
            <a:avLst/>
          </a:prstGeom>
          <a:noFill/>
          <a:ln w="38100">
            <a:solidFill>
              <a:srgbClr val="B54A1A"/>
            </a:solidFill>
            <a:prstDash val="solid"/>
          </a:ln>
        </p:spPr>
      </p:sp>
      <p:sp>
        <p:nvSpPr>
          <p:cNvPr id="7" name="Text 4"/>
          <p:cNvSpPr/>
          <p:nvPr/>
        </p:nvSpPr>
        <p:spPr>
          <a:xfrm>
            <a:off x="6433820" y="2148842"/>
            <a:ext cx="509374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B54A1A"/>
                </a:solidFill>
                <a:latin typeface="Source Serif 4" pitchFamily="18" charset="0"/>
                <a:ea typeface="Source Serif 4" pitchFamily="18" charset="-122"/>
                <a:cs typeface="Source Serif 4" pitchFamily="18" charset="-120"/>
              </a:rPr>
              <a:t>0.12–0.18</a:t>
            </a:r>
            <a:endParaRPr lang="en-US" sz="2800" dirty="0"/>
          </a:p>
        </p:txBody>
      </p:sp>
      <p:sp>
        <p:nvSpPr>
          <p:cNvPr id="8" name="Text 5"/>
          <p:cNvSpPr/>
          <p:nvPr/>
        </p:nvSpPr>
        <p:spPr>
          <a:xfrm>
            <a:off x="6433820" y="2672079"/>
            <a:ext cx="5093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lost on each other objective by R3-trained agents</a:t>
            </a:r>
            <a:endParaRPr lang="en-US" sz="1300" dirty="0"/>
          </a:p>
        </p:txBody>
      </p:sp>
      <p:sp>
        <p:nvSpPr>
          <p:cNvPr id="9" name="Shape 6"/>
          <p:cNvSpPr/>
          <p:nvPr/>
        </p:nvSpPr>
        <p:spPr>
          <a:xfrm>
            <a:off x="6239510" y="3131821"/>
            <a:ext cx="0" cy="754380"/>
          </a:xfrm>
          <a:prstGeom prst="line">
            <a:avLst/>
          </a:prstGeom>
          <a:noFill/>
          <a:ln w="38100">
            <a:solidFill>
              <a:srgbClr val="2B6CB0"/>
            </a:solidFill>
            <a:prstDash val="solid"/>
          </a:ln>
        </p:spPr>
      </p:sp>
      <p:sp>
        <p:nvSpPr>
          <p:cNvPr id="10" name="Text 7"/>
          <p:cNvSpPr/>
          <p:nvPr/>
        </p:nvSpPr>
        <p:spPr>
          <a:xfrm>
            <a:off x="6433820" y="3131821"/>
            <a:ext cx="509374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2B6CB0"/>
                </a:solidFill>
                <a:latin typeface="Source Serif 4" pitchFamily="18" charset="0"/>
                <a:ea typeface="Source Serif 4" pitchFamily="18" charset="-122"/>
                <a:cs typeface="Source Serif 4" pitchFamily="18" charset="-120"/>
              </a:rPr>
              <a:t>≤ 0.02</a:t>
            </a:r>
            <a:endParaRPr lang="en-US" sz="2800" dirty="0"/>
          </a:p>
        </p:txBody>
      </p:sp>
      <p:sp>
        <p:nvSpPr>
          <p:cNvPr id="11" name="Text 8"/>
          <p:cNvSpPr/>
          <p:nvPr/>
        </p:nvSpPr>
        <p:spPr>
          <a:xfrm>
            <a:off x="6433820" y="3655058"/>
            <a:ext cx="5093741"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lost among survival, dose and durability</a:t>
            </a:r>
            <a:endParaRPr lang="en-US" sz="1300" dirty="0"/>
          </a:p>
        </p:txBody>
      </p:sp>
      <p:sp>
        <p:nvSpPr>
          <p:cNvPr id="12" name="Shape 9"/>
          <p:cNvSpPr/>
          <p:nvPr/>
        </p:nvSpPr>
        <p:spPr>
          <a:xfrm>
            <a:off x="6239510" y="4114800"/>
            <a:ext cx="0" cy="985520"/>
          </a:xfrm>
          <a:prstGeom prst="line">
            <a:avLst/>
          </a:prstGeom>
          <a:noFill/>
          <a:ln w="38100">
            <a:solidFill>
              <a:srgbClr val="14213D"/>
            </a:solidFill>
            <a:prstDash val="solid"/>
          </a:ln>
        </p:spPr>
      </p:sp>
      <p:sp>
        <p:nvSpPr>
          <p:cNvPr id="13" name="Text 10"/>
          <p:cNvSpPr/>
          <p:nvPr/>
        </p:nvSpPr>
        <p:spPr>
          <a:xfrm>
            <a:off x="6433820" y="4114800"/>
            <a:ext cx="5093741" cy="52324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4213D"/>
                </a:solidFill>
                <a:latin typeface="Source Serif 4" pitchFamily="18" charset="0"/>
                <a:ea typeface="Source Serif 4" pitchFamily="18" charset="-122"/>
                <a:cs typeface="Source Serif 4" pitchFamily="18" charset="-120"/>
              </a:rPr>
              <a:t>0.78 vs 0.76</a:t>
            </a:r>
            <a:endParaRPr lang="en-US" sz="2800" dirty="0"/>
          </a:p>
        </p:txBody>
      </p:sp>
      <p:sp>
        <p:nvSpPr>
          <p:cNvPr id="14" name="Text 11"/>
          <p:cNvSpPr/>
          <p:nvPr/>
        </p:nvSpPr>
        <p:spPr>
          <a:xfrm>
            <a:off x="6433820" y="4638042"/>
            <a:ext cx="5093741"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Survival-trained agents beat coexistence-trained ones on coexistence itself</a:t>
            </a:r>
            <a:endParaRPr lang="en-US" sz="1300" dirty="0"/>
          </a:p>
        </p:txBody>
      </p:sp>
      <p:sp>
        <p:nvSpPr>
          <p:cNvPr id="15" name="Text 12"/>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6" name="Text 13"/>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TRAINED AGENTS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What containment looks like in a trained agent</a:t>
            </a:r>
            <a:endParaRPr lang="en-US" sz="3200" dirty="0"/>
          </a:p>
        </p:txBody>
      </p:sp>
      <p:sp>
        <p:nvSpPr>
          <p:cNvPr id="4" name="Shape 2"/>
          <p:cNvSpPr/>
          <p:nvPr/>
        </p:nvSpPr>
        <p:spPr>
          <a:xfrm>
            <a:off x="815975" y="1776096"/>
            <a:ext cx="10560050" cy="2791460"/>
          </a:xfrm>
          <a:prstGeom prst="roundRect">
            <a:avLst>
              <a:gd name="adj" fmla="val 2616"/>
            </a:avLst>
          </a:prstGeom>
          <a:solidFill>
            <a:srgbClr val="FFFFFF"/>
          </a:solidFill>
          <a:ln w="6350">
            <a:solidFill>
              <a:srgbClr val="E2DED3"/>
            </a:solidFill>
            <a:prstDash val="solid"/>
          </a:ln>
        </p:spPr>
      </p:sp>
      <p:pic>
        <p:nvPicPr>
          <p:cNvPr id="5" name="Image 0" descr="Median-seed trajectories for agents trained on R1 to R4: stacked sensitive (blue) and resistant (orange) populations over time, with drug-on periods marked above. All hold burden just under the 1.2 progression line; the R3 agent treats from the start and progresses at 1484 days versus 1728 to 1752 for the others.">    </p:cNvPr>
          <p:cNvPicPr>
            <a:picLocks noChangeAspect="1"/>
          </p:cNvPicPr>
          <p:nvPr/>
        </p:nvPicPr>
        <p:blipFill>
          <a:blip r:embed="rId1"/>
          <a:srcRect l="0" r="0" t="-20" b="-20"/>
          <a:stretch/>
        </p:blipFill>
        <p:spPr>
          <a:xfrm>
            <a:off x="919480" y="1879600"/>
            <a:ext cx="9525000" cy="2584450"/>
          </a:xfrm>
          <a:prstGeom prst="rect">
            <a:avLst/>
          </a:prstGeom>
        </p:spPr>
      </p:pic>
      <p:sp>
        <p:nvSpPr>
          <p:cNvPr id="6" name="Text 3"/>
          <p:cNvSpPr/>
          <p:nvPr/>
        </p:nvSpPr>
        <p:spPr>
          <a:xfrm>
            <a:off x="812800" y="4773929"/>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Weekly pulses hold the tumour under 1.2 N₀.</a:t>
            </a:r>
            <a:r>
              <a:rPr lang="en-US" sz="1300" dirty="0">
                <a:solidFill>
                  <a:srgbClr val="4A5568"/>
                </a:solidFill>
                <a:latin typeface="IBM Plex Sans" pitchFamily="34" charset="0"/>
                <a:ea typeface="IBM Plex Sans" pitchFamily="34" charset="-122"/>
                <a:cs typeface="IBM Plex Sans" pitchFamily="34" charset="-120"/>
              </a:rPr>
              <a:t> Sensitive cells stay abundant; the resistant clone grows anyway and finally fills the space.</a:t>
            </a:r>
            <a:endParaRPr lang="en-US" sz="1300" dirty="0"/>
          </a:p>
        </p:txBody>
      </p:sp>
      <p:sp>
        <p:nvSpPr>
          <p:cNvPr id="7" name="Text 4"/>
          <p:cNvSpPr/>
          <p:nvPr/>
        </p:nvSpPr>
        <p:spPr>
          <a:xfrm>
            <a:off x="6223000" y="4773929"/>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A1A"/>
                </a:solidFill>
                <a:latin typeface="IBM Plex Sans" pitchFamily="34" charset="0"/>
                <a:ea typeface="IBM Plex Sans" pitchFamily="34" charset="-122"/>
                <a:cs typeface="IBM Plex Sans" pitchFamily="34" charset="-120"/>
              </a:rPr>
              <a:t>The R3 agent treats from day one,</a:t>
            </a:r>
            <a:r>
              <a:rPr lang="en-US" sz="1300" dirty="0">
                <a:solidFill>
                  <a:srgbClr val="4A5568"/>
                </a:solidFill>
                <a:latin typeface="IBM Plex Sans" pitchFamily="34" charset="0"/>
                <a:ea typeface="IBM Plex Sans" pitchFamily="34" charset="-122"/>
                <a:cs typeface="IBM Plex Sans" pitchFamily="34" charset="-120"/>
              </a:rPr>
              <a:t> lowering burden early and progressing about 260 days sooner (1484 d vs 1743 d).</a:t>
            </a:r>
            <a:endParaRPr lang="en-US" sz="1300" dirty="0"/>
          </a:p>
        </p:txBody>
      </p:sp>
      <p:sp>
        <p:nvSpPr>
          <p:cNvPr id="8" name="Text 5"/>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6CB0"/>
        </a:solidFill>
      </p:bgPr>
    </p:bg>
    <p:spTree>
      <p:nvGrpSpPr>
        <p:cNvPr id="1" name=""/>
        <p:cNvGrpSpPr/>
        <p:nvPr/>
      </p:nvGrpSpPr>
      <p:grpSpPr>
        <a:xfrm>
          <a:off x="0" y="0"/>
          <a:ext cx="0" cy="0"/>
          <a:chOff x="0" y="0"/>
          <a:chExt cx="0" cy="0"/>
        </a:xfrm>
      </p:grpSpPr>
      <p:sp>
        <p:nvSpPr>
          <p:cNvPr id="2" name="Text 0"/>
          <p:cNvSpPr/>
          <p:nvPr/>
        </p:nvSpPr>
        <p:spPr>
          <a:xfrm>
            <a:off x="812800" y="1673858"/>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EF3FA"/>
                </a:solidFill>
                <a:latin typeface="IBM Plex Sans" pitchFamily="34" charset="0"/>
                <a:ea typeface="IBM Plex Sans" pitchFamily="34" charset="-122"/>
                <a:cs typeface="IBM Plex Sans" pitchFamily="34" charset="-120"/>
              </a:rPr>
              <a:t>FINDING · R1 ≡ R4</a:t>
            </a:r>
            <a:endParaRPr lang="en-US" sz="1200" dirty="0"/>
          </a:p>
        </p:txBody>
      </p:sp>
      <p:sp>
        <p:nvSpPr>
          <p:cNvPr id="3" name="Text 1"/>
          <p:cNvSpPr/>
          <p:nvPr>
            <p:ph type="title"/>
          </p:nvPr>
        </p:nvSpPr>
        <p:spPr>
          <a:xfrm>
            <a:off x="812800" y="2141221"/>
            <a:ext cx="10883392" cy="1254760"/>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AF8F3"/>
                </a:solidFill>
                <a:latin typeface="Source Serif 4" pitchFamily="18" charset="0"/>
                <a:ea typeface="Source Serif 4" pitchFamily="18" charset="-122"/>
                <a:cs typeface="Source Serif 4" pitchFamily="18" charset="-120"/>
              </a:rPr>
              <a:t>Durability is not a separate objective in this model</a:t>
            </a:r>
            <a:endParaRPr lang="en-US" sz="4400" dirty="0"/>
          </a:p>
        </p:txBody>
      </p:sp>
      <p:sp>
        <p:nvSpPr>
          <p:cNvPr id="4" name="Text 2"/>
          <p:cNvSpPr/>
          <p:nvPr/>
        </p:nvSpPr>
        <p:spPr>
          <a:xfrm>
            <a:off x="812800" y="3624579"/>
            <a:ext cx="10883392" cy="6299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AF8F3"/>
                </a:solidFill>
                <a:latin typeface="IBM Plex Sans" pitchFamily="34" charset="0"/>
                <a:ea typeface="IBM Plex Sans" pitchFamily="34" charset="-122"/>
                <a:cs typeface="IBM Plex Sans" pitchFamily="34" charset="-120"/>
              </a:rPr>
              <a:t>Long survival, slow resistant regrowth and a low resistant fraction are all maximised by one thing: keeping sensitive competitors abundant.</a:t>
            </a:r>
            <a:endParaRPr lang="en-US" sz="1700" dirty="0"/>
          </a:p>
        </p:txBody>
      </p:sp>
      <p:sp>
        <p:nvSpPr>
          <p:cNvPr id="5" name="Text 3"/>
          <p:cNvSpPr/>
          <p:nvPr/>
        </p:nvSpPr>
        <p:spPr>
          <a:xfrm>
            <a:off x="812800" y="4483100"/>
            <a:ext cx="10883392"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3FA"/>
                </a:solidFill>
                <a:latin typeface="IBM Plex Sans" pitchFamily="34" charset="0"/>
                <a:ea typeface="IBM Plex Sans" pitchFamily="34" charset="-122"/>
                <a:cs typeface="IBM Plex Sans" pitchFamily="34" charset="-120"/>
              </a:rPr>
              <a:t>R1 and R4 match at the optimum and in trained agents, on all three reference patients and at 25 of 25 points of the cost × turnover map.</a:t>
            </a:r>
            <a:endParaRPr lang="en-US" sz="1400" dirty="0"/>
          </a:p>
        </p:txBody>
      </p:sp>
      <p:sp>
        <p:nvSpPr>
          <p:cNvPr id="6" name="Text 4"/>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3FA"/>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7" name="Text 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EF3FA"/>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RL VS OPTIMUM VS HEURISTICS</a:t>
            </a:r>
            <a:endParaRPr lang="en-US" sz="1200" dirty="0"/>
          </a:p>
        </p:txBody>
      </p:sp>
      <p:sp>
        <p:nvSpPr>
          <p:cNvPr id="3" name="Text 1"/>
          <p:cNvSpPr/>
          <p:nvPr>
            <p:ph type="title"/>
          </p:nvPr>
        </p:nvSpPr>
        <p:spPr>
          <a:xfrm>
            <a:off x="812800" y="1102358"/>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Learned policies outlast the best heuristic by about 50%</a:t>
            </a:r>
            <a:endParaRPr lang="en-US" sz="3200" dirty="0"/>
          </a:p>
        </p:txBody>
      </p:sp>
      <p:sp>
        <p:nvSpPr>
          <p:cNvPr id="4" name="Text 2"/>
          <p:cNvSpPr/>
          <p:nvPr/>
        </p:nvSpPr>
        <p:spPr>
          <a:xfrm>
            <a:off x="812800" y="226567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Time to progression, proof-of-principle patient (days)</a:t>
            </a:r>
            <a:endParaRPr lang="en-US" sz="1200" dirty="0"/>
          </a:p>
        </p:txBody>
      </p:sp>
      <p:sp>
        <p:nvSpPr>
          <p:cNvPr id="5" name="Text 3"/>
          <p:cNvSpPr/>
          <p:nvPr/>
        </p:nvSpPr>
        <p:spPr>
          <a:xfrm>
            <a:off x="812800" y="25793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Max tolerated dose</a:t>
            </a:r>
            <a:endParaRPr lang="en-US" sz="1300" dirty="0"/>
          </a:p>
        </p:txBody>
      </p:sp>
      <p:sp>
        <p:nvSpPr>
          <p:cNvPr id="6" name="Shape 4"/>
          <p:cNvSpPr/>
          <p:nvPr/>
        </p:nvSpPr>
        <p:spPr>
          <a:xfrm>
            <a:off x="3759200" y="2567942"/>
            <a:ext cx="1409700" cy="254000"/>
          </a:xfrm>
          <a:prstGeom prst="roundRect">
            <a:avLst>
              <a:gd name="adj" fmla="val 10000"/>
            </a:avLst>
          </a:prstGeom>
          <a:solidFill>
            <a:srgbClr val="B8B3A6"/>
          </a:solidFill>
          <a:ln/>
        </p:spPr>
      </p:sp>
      <p:sp>
        <p:nvSpPr>
          <p:cNvPr id="7" name="Text 5"/>
          <p:cNvSpPr/>
          <p:nvPr/>
        </p:nvSpPr>
        <p:spPr>
          <a:xfrm>
            <a:off x="5321300" y="2579371"/>
            <a:ext cx="35661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452</a:t>
            </a:r>
            <a:endParaRPr lang="en-US" sz="1300" dirty="0"/>
          </a:p>
        </p:txBody>
      </p:sp>
      <p:sp>
        <p:nvSpPr>
          <p:cNvPr id="8" name="Text 6"/>
          <p:cNvSpPr/>
          <p:nvPr/>
        </p:nvSpPr>
        <p:spPr>
          <a:xfrm>
            <a:off x="812800" y="29222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AT50 (trial rule)</a:t>
            </a:r>
            <a:endParaRPr lang="en-US" sz="1300" dirty="0"/>
          </a:p>
        </p:txBody>
      </p:sp>
      <p:sp>
        <p:nvSpPr>
          <p:cNvPr id="9" name="Shape 7"/>
          <p:cNvSpPr/>
          <p:nvPr/>
        </p:nvSpPr>
        <p:spPr>
          <a:xfrm>
            <a:off x="3759200" y="2910842"/>
            <a:ext cx="2095500" cy="254000"/>
          </a:xfrm>
          <a:prstGeom prst="roundRect">
            <a:avLst>
              <a:gd name="adj" fmla="val 10000"/>
            </a:avLst>
          </a:prstGeom>
          <a:solidFill>
            <a:srgbClr val="B8B3A6"/>
          </a:solidFill>
          <a:ln/>
        </p:spPr>
      </p:sp>
      <p:sp>
        <p:nvSpPr>
          <p:cNvPr id="10" name="Text 8"/>
          <p:cNvSpPr/>
          <p:nvPr/>
        </p:nvSpPr>
        <p:spPr>
          <a:xfrm>
            <a:off x="6007100" y="2922271"/>
            <a:ext cx="35661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673</a:t>
            </a:r>
            <a:endParaRPr lang="en-US" sz="1300" dirty="0"/>
          </a:p>
        </p:txBody>
      </p:sp>
      <p:sp>
        <p:nvSpPr>
          <p:cNvPr id="11" name="Text 9"/>
          <p:cNvSpPr/>
          <p:nvPr/>
        </p:nvSpPr>
        <p:spPr>
          <a:xfrm>
            <a:off x="812800" y="32651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AT90</a:t>
            </a:r>
            <a:endParaRPr lang="en-US" sz="1300" dirty="0"/>
          </a:p>
        </p:txBody>
      </p:sp>
      <p:sp>
        <p:nvSpPr>
          <p:cNvPr id="12" name="Shape 10"/>
          <p:cNvSpPr/>
          <p:nvPr/>
        </p:nvSpPr>
        <p:spPr>
          <a:xfrm>
            <a:off x="3759200" y="3253742"/>
            <a:ext cx="2901950" cy="254000"/>
          </a:xfrm>
          <a:prstGeom prst="roundRect">
            <a:avLst>
              <a:gd name="adj" fmla="val 10000"/>
            </a:avLst>
          </a:prstGeom>
          <a:solidFill>
            <a:srgbClr val="B8B3A6"/>
          </a:solidFill>
          <a:ln/>
        </p:spPr>
      </p:sp>
      <p:sp>
        <p:nvSpPr>
          <p:cNvPr id="13" name="Text 11"/>
          <p:cNvSpPr/>
          <p:nvPr/>
        </p:nvSpPr>
        <p:spPr>
          <a:xfrm>
            <a:off x="6813550" y="3265171"/>
            <a:ext cx="35661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932</a:t>
            </a:r>
            <a:endParaRPr lang="en-US" sz="1300" dirty="0"/>
          </a:p>
        </p:txBody>
      </p:sp>
      <p:sp>
        <p:nvSpPr>
          <p:cNvPr id="14" name="Text 12"/>
          <p:cNvSpPr/>
          <p:nvPr/>
        </p:nvSpPr>
        <p:spPr>
          <a:xfrm>
            <a:off x="812800" y="36080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AT-PSC, tuned (best heuristic)</a:t>
            </a:r>
            <a:endParaRPr lang="en-US" sz="1300" dirty="0"/>
          </a:p>
        </p:txBody>
      </p:sp>
      <p:sp>
        <p:nvSpPr>
          <p:cNvPr id="15" name="Shape 13"/>
          <p:cNvSpPr/>
          <p:nvPr/>
        </p:nvSpPr>
        <p:spPr>
          <a:xfrm>
            <a:off x="3759200" y="3596642"/>
            <a:ext cx="3536950" cy="254000"/>
          </a:xfrm>
          <a:prstGeom prst="roundRect">
            <a:avLst>
              <a:gd name="adj" fmla="val 10000"/>
            </a:avLst>
          </a:prstGeom>
          <a:solidFill>
            <a:srgbClr val="8C8677"/>
          </a:solidFill>
          <a:ln/>
        </p:spPr>
      </p:sp>
      <p:sp>
        <p:nvSpPr>
          <p:cNvPr id="16" name="Text 14"/>
          <p:cNvSpPr/>
          <p:nvPr/>
        </p:nvSpPr>
        <p:spPr>
          <a:xfrm>
            <a:off x="7448550" y="3608071"/>
            <a:ext cx="4754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1135</a:t>
            </a:r>
            <a:endParaRPr lang="en-US" sz="1300" dirty="0"/>
          </a:p>
        </p:txBody>
      </p:sp>
      <p:sp>
        <p:nvSpPr>
          <p:cNvPr id="17" name="Text 15"/>
          <p:cNvSpPr/>
          <p:nvPr/>
        </p:nvSpPr>
        <p:spPr>
          <a:xfrm>
            <a:off x="812800" y="39509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PPO, full state (R1)</a:t>
            </a:r>
            <a:endParaRPr lang="en-US" sz="1300" dirty="0"/>
          </a:p>
        </p:txBody>
      </p:sp>
      <p:sp>
        <p:nvSpPr>
          <p:cNvPr id="18" name="Shape 16"/>
          <p:cNvSpPr/>
          <p:nvPr/>
        </p:nvSpPr>
        <p:spPr>
          <a:xfrm>
            <a:off x="3759200" y="3939542"/>
            <a:ext cx="5435600" cy="254000"/>
          </a:xfrm>
          <a:prstGeom prst="roundRect">
            <a:avLst>
              <a:gd name="adj" fmla="val 10000"/>
            </a:avLst>
          </a:prstGeom>
          <a:solidFill>
            <a:srgbClr val="2B6CB0"/>
          </a:solidFill>
          <a:ln/>
        </p:spPr>
      </p:sp>
      <p:sp>
        <p:nvSpPr>
          <p:cNvPr id="19" name="Text 17"/>
          <p:cNvSpPr/>
          <p:nvPr/>
        </p:nvSpPr>
        <p:spPr>
          <a:xfrm>
            <a:off x="9347200" y="3950971"/>
            <a:ext cx="4754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1744</a:t>
            </a:r>
            <a:endParaRPr lang="en-US" sz="1300" dirty="0"/>
          </a:p>
        </p:txBody>
      </p:sp>
      <p:sp>
        <p:nvSpPr>
          <p:cNvPr id="20" name="Text 18"/>
          <p:cNvSpPr/>
          <p:nvPr/>
        </p:nvSpPr>
        <p:spPr>
          <a:xfrm>
            <a:off x="812800" y="42938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PPO, burden + critic (R1)</a:t>
            </a:r>
            <a:endParaRPr lang="en-US" sz="1300" dirty="0"/>
          </a:p>
        </p:txBody>
      </p:sp>
      <p:sp>
        <p:nvSpPr>
          <p:cNvPr id="21" name="Shape 19"/>
          <p:cNvSpPr/>
          <p:nvPr/>
        </p:nvSpPr>
        <p:spPr>
          <a:xfrm>
            <a:off x="3759200" y="4282442"/>
            <a:ext cx="5778500" cy="254000"/>
          </a:xfrm>
          <a:prstGeom prst="roundRect">
            <a:avLst>
              <a:gd name="adj" fmla="val 10000"/>
            </a:avLst>
          </a:prstGeom>
          <a:solidFill>
            <a:srgbClr val="2B6CB0"/>
          </a:solidFill>
          <a:ln/>
        </p:spPr>
      </p:sp>
      <p:sp>
        <p:nvSpPr>
          <p:cNvPr id="22" name="Text 20"/>
          <p:cNvSpPr/>
          <p:nvPr/>
        </p:nvSpPr>
        <p:spPr>
          <a:xfrm>
            <a:off x="9690100" y="4293871"/>
            <a:ext cx="4754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1855</a:t>
            </a:r>
            <a:endParaRPr lang="en-US" sz="1300" dirty="0"/>
          </a:p>
        </p:txBody>
      </p:sp>
      <p:sp>
        <p:nvSpPr>
          <p:cNvPr id="23" name="Text 21"/>
          <p:cNvSpPr/>
          <p:nvPr/>
        </p:nvSpPr>
        <p:spPr>
          <a:xfrm>
            <a:off x="812800" y="4636771"/>
            <a:ext cx="287782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Value-iteration optimum</a:t>
            </a:r>
            <a:endParaRPr lang="en-US" sz="1300" dirty="0"/>
          </a:p>
        </p:txBody>
      </p:sp>
      <p:sp>
        <p:nvSpPr>
          <p:cNvPr id="24" name="Shape 22"/>
          <p:cNvSpPr/>
          <p:nvPr/>
        </p:nvSpPr>
        <p:spPr>
          <a:xfrm>
            <a:off x="3759200" y="4625342"/>
            <a:ext cx="6350000" cy="254000"/>
          </a:xfrm>
          <a:prstGeom prst="roundRect">
            <a:avLst>
              <a:gd name="adj" fmla="val 10000"/>
            </a:avLst>
          </a:prstGeom>
          <a:solidFill>
            <a:srgbClr val="14213D"/>
          </a:solidFill>
          <a:ln/>
        </p:spPr>
      </p:sp>
      <p:sp>
        <p:nvSpPr>
          <p:cNvPr id="25" name="Text 23"/>
          <p:cNvSpPr/>
          <p:nvPr/>
        </p:nvSpPr>
        <p:spPr>
          <a:xfrm>
            <a:off x="10261600" y="4636771"/>
            <a:ext cx="47548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2038</a:t>
            </a:r>
            <a:endParaRPr lang="en-US" sz="1300" dirty="0"/>
          </a:p>
        </p:txBody>
      </p:sp>
      <p:sp>
        <p:nvSpPr>
          <p:cNvPr id="26" name="Text 24"/>
          <p:cNvSpPr/>
          <p:nvPr/>
        </p:nvSpPr>
        <p:spPr>
          <a:xfrm>
            <a:off x="812800" y="5107942"/>
            <a:ext cx="10566400" cy="535940"/>
          </a:xfrm>
          <a:prstGeom prst="rect">
            <a:avLst/>
          </a:prstGeom>
          <a:solidFill>
            <a:srgbClr val="F6E6DD"/>
          </a:solidFill>
          <a:ln/>
        </p:spPr>
        <p:txBody>
          <a:bodyPr wrap="square" lIns="289560" tIns="152400" rIns="0" bIns="12700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But the optimum is brittle.</a:t>
            </a:r>
            <a:r>
              <a:rPr lang="en-US" sz="1300" dirty="0">
                <a:solidFill>
                  <a:srgbClr val="14213D"/>
                </a:solidFill>
                <a:latin typeface="IBM Plex Sans" pitchFamily="34" charset="0"/>
                <a:ea typeface="IBM Plex Sans" pitchFamily="34" charset="-122"/>
                <a:cs typeface="IBM Plex Sans" pitchFamily="34" charset="-120"/>
              </a:rPr>
              <a:t> With ±25% parameter error its lower-quartile TTP falls to about 110–160 d; agents keep 1680–1730 d.</a:t>
            </a:r>
            <a:endParaRPr lang="en-US" sz="1300" dirty="0"/>
          </a:p>
        </p:txBody>
      </p:sp>
      <p:sp>
        <p:nvSpPr>
          <p:cNvPr id="27" name="Shape 25"/>
          <p:cNvSpPr/>
          <p:nvPr/>
        </p:nvSpPr>
        <p:spPr>
          <a:xfrm>
            <a:off x="831850" y="5107942"/>
            <a:ext cx="0" cy="535940"/>
          </a:xfrm>
          <a:prstGeom prst="line">
            <a:avLst/>
          </a:prstGeom>
          <a:noFill/>
          <a:ln w="38100">
            <a:solidFill>
              <a:srgbClr val="B54A1A"/>
            </a:solidFill>
            <a:prstDash val="solid"/>
          </a:ln>
        </p:spPr>
      </p:sp>
      <p:sp>
        <p:nvSpPr>
          <p:cNvPr id="28" name="Text 26"/>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9" name="Text 2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ROBUSTNESS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Coexistence comes last under every stress test</a:t>
            </a:r>
            <a:endParaRPr lang="en-US" sz="3200" dirty="0"/>
          </a:p>
        </p:txBody>
      </p:sp>
      <p:sp>
        <p:nvSpPr>
          <p:cNvPr id="4" name="Shape 2"/>
          <p:cNvSpPr/>
          <p:nvPr/>
        </p:nvSpPr>
        <p:spPr>
          <a:xfrm>
            <a:off x="812800" y="1798321"/>
            <a:ext cx="10566400" cy="2870200"/>
          </a:xfrm>
          <a:prstGeom prst="rect">
            <a:avLst/>
          </a:prstGeom>
          <a:solidFill>
            <a:srgbClr val="FFFFFF"/>
          </a:solidFill>
          <a:ln/>
        </p:spPr>
      </p:sp>
      <p:sp>
        <p:nvSpPr>
          <p:cNvPr id="5" name="Shape 3"/>
          <p:cNvSpPr/>
          <p:nvPr/>
        </p:nvSpPr>
        <p:spPr>
          <a:xfrm>
            <a:off x="11376025" y="1798321"/>
            <a:ext cx="0" cy="2870200"/>
          </a:xfrm>
          <a:prstGeom prst="line">
            <a:avLst/>
          </a:prstGeom>
          <a:noFill/>
          <a:ln w="6350">
            <a:solidFill>
              <a:srgbClr val="E2DED3"/>
            </a:solidFill>
            <a:prstDash val="solid"/>
          </a:ln>
        </p:spPr>
      </p:sp>
      <p:sp>
        <p:nvSpPr>
          <p:cNvPr id="6" name="Shape 4"/>
          <p:cNvSpPr/>
          <p:nvPr/>
        </p:nvSpPr>
        <p:spPr>
          <a:xfrm>
            <a:off x="812800" y="4665346"/>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1808481"/>
          <a:ext cx="10551160" cy="2854960"/>
        </p:xfrm>
        <a:graphic>
          <a:graphicData uri="http://schemas.openxmlformats.org/drawingml/2006/table">
            <a:tbl>
              <a:tblPr/>
              <a:tblGrid>
                <a:gridCol w="6541719"/>
                <a:gridCol w="4009441"/>
              </a:tblGrid>
              <a:tr h="356870">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Stress test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Coexistence (R3)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 held-out virtual patients (E7)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last for 20 of 20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Parameters off by ±15–25% (E8)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still last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Log-kill and cytostatic drug models (E10)</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still last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Cost of resistance 0.42 (E3c)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costs 0.13–0.17 elsewhere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Turnover 0.04 (A1)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costs 0.17 elsewhere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25-patient cost × turnover map (C1)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20–23% shorter survival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Progression line at 1.1–1.3 N₀ (B4)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14–27% shorter survival</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4897121"/>
            <a:ext cx="10566400" cy="535940"/>
          </a:xfrm>
          <a:prstGeom prst="rect">
            <a:avLst/>
          </a:prstGeom>
          <a:solidFill>
            <a:srgbClr val="E6EEF8"/>
          </a:solidFill>
          <a:ln/>
        </p:spPr>
        <p:txBody>
          <a:bodyPr wrap="square" lIns="289560" tIns="152400" rIns="0" bIns="127000"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Not robust, so not claimed:</a:t>
            </a:r>
            <a:r>
              <a:rPr lang="en-US" sz="1300" dirty="0">
                <a:solidFill>
                  <a:srgbClr val="14213D"/>
                </a:solidFill>
                <a:latin typeface="IBM Plex Sans" pitchFamily="34" charset="0"/>
                <a:ea typeface="IBM Plex Sans" pitchFamily="34" charset="-122"/>
                <a:cs typeface="IBM Plex Sans" pitchFamily="34" charset="-120"/>
              </a:rPr>
              <a:t> the order among R1, R2 and R4.</a:t>
            </a:r>
            <a:endParaRPr lang="en-US" sz="1300" dirty="0"/>
          </a:p>
        </p:txBody>
      </p:sp>
      <p:sp>
        <p:nvSpPr>
          <p:cNvPr id="9" name="Shape 6"/>
          <p:cNvSpPr/>
          <p:nvPr/>
        </p:nvSpPr>
        <p:spPr>
          <a:xfrm>
            <a:off x="831850" y="4897121"/>
            <a:ext cx="0" cy="535940"/>
          </a:xfrm>
          <a:prstGeom prst="line">
            <a:avLst/>
          </a:prstGeom>
          <a:noFill/>
          <a:ln w="38100">
            <a:solidFill>
              <a:srgbClr val="2B6CB0"/>
            </a:solidFill>
            <a:prstDash val="solid"/>
          </a:ln>
        </p:spPr>
      </p:sp>
      <p:sp>
        <p:nvSpPr>
          <p:cNvPr id="10" name="Text 7"/>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1"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REALISTIC OBSERVATION (E11, E11B)</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Burden-only agents fail until the critic sees more</a:t>
            </a:r>
            <a:endParaRPr lang="en-US" sz="3200" dirty="0"/>
          </a:p>
        </p:txBody>
      </p:sp>
      <p:sp>
        <p:nvSpPr>
          <p:cNvPr id="4" name="Shape 2"/>
          <p:cNvSpPr/>
          <p:nvPr/>
        </p:nvSpPr>
        <p:spPr>
          <a:xfrm>
            <a:off x="815975" y="1750696"/>
            <a:ext cx="10560050" cy="2747010"/>
          </a:xfrm>
          <a:prstGeom prst="roundRect">
            <a:avLst>
              <a:gd name="adj" fmla="val 2658"/>
            </a:avLst>
          </a:prstGeom>
          <a:solidFill>
            <a:srgbClr val="FFFFFF"/>
          </a:solidFill>
          <a:ln w="6350">
            <a:solidFill>
              <a:srgbClr val="E2DED3"/>
            </a:solidFill>
            <a:prstDash val="solid"/>
          </a:ln>
        </p:spPr>
      </p:sp>
      <p:pic>
        <p:nvPicPr>
          <p:cNvPr id="5" name="Image 0" descr="Left: probability of treating against burden for burden-only agents trained with a full-state critic; all four objectives switch sharply at about 1.15 N0, near the best burden rule at 1.17. Right: TTP per objective for full-state agents (about 1500 to 1750 days), burden-only agents (about 600 to 770 days) and burden-only agents with a full-state critic (about 1780 to 1855 days).">    </p:cNvPr>
          <p:cNvPicPr>
            <a:picLocks noChangeAspect="1"/>
          </p:cNvPicPr>
          <p:nvPr/>
        </p:nvPicPr>
        <p:blipFill>
          <a:blip r:embed="rId1"/>
          <a:srcRect l="0" r="0" t="-107" b="-107"/>
          <a:stretch/>
        </p:blipFill>
        <p:spPr>
          <a:xfrm>
            <a:off x="919480" y="1854200"/>
            <a:ext cx="8255000" cy="2540000"/>
          </a:xfrm>
          <a:prstGeom prst="rect">
            <a:avLst/>
          </a:prstGeom>
        </p:spPr>
      </p:pic>
      <p:sp>
        <p:nvSpPr>
          <p:cNvPr id="6" name="Text 3"/>
          <p:cNvSpPr/>
          <p:nvPr/>
        </p:nvSpPr>
        <p:spPr>
          <a:xfrm>
            <a:off x="812800" y="4678679"/>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54A1A"/>
                </a:solidFill>
                <a:latin typeface="IBM Plex Sans" pitchFamily="34" charset="0"/>
                <a:ea typeface="IBM Plex Sans" pitchFamily="34" charset="-122"/>
                <a:cs typeface="IBM Plex Sans" pitchFamily="34" charset="-120"/>
              </a:rPr>
              <a:t>Burden only:</a:t>
            </a:r>
            <a:r>
              <a:rPr lang="en-US" sz="1300" dirty="0">
                <a:solidFill>
                  <a:srgbClr val="4A5568"/>
                </a:solidFill>
                <a:latin typeface="IBM Plex Sans" pitchFamily="34" charset="0"/>
                <a:ea typeface="IBM Plex Sans" pitchFamily="34" charset="-122"/>
                <a:cs typeface="IBM Plex Sans" pitchFamily="34" charset="-120"/>
              </a:rPr>
              <a:t> 0.21–0.37 of the optimum, about 700 d. Yet the rule “treat if N ≥ 1.17 N₀” reaches 0.96.</a:t>
            </a:r>
            <a:endParaRPr lang="en-US" sz="1300" dirty="0"/>
          </a:p>
        </p:txBody>
      </p:sp>
      <p:sp>
        <p:nvSpPr>
          <p:cNvPr id="7" name="Text 4"/>
          <p:cNvSpPr/>
          <p:nvPr/>
        </p:nvSpPr>
        <p:spPr>
          <a:xfrm>
            <a:off x="6223000" y="4678679"/>
            <a:ext cx="5310886" cy="48768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CB0"/>
                </a:solidFill>
                <a:latin typeface="IBM Plex Sans" pitchFamily="34" charset="0"/>
                <a:ea typeface="IBM Plex Sans" pitchFamily="34" charset="-122"/>
                <a:cs typeface="IBM Plex Sans" pitchFamily="34" charset="-120"/>
              </a:rPr>
              <a:t>Full-state critic in training only:</a:t>
            </a:r>
            <a:r>
              <a:rPr lang="en-US" sz="1300" dirty="0">
                <a:solidFill>
                  <a:srgbClr val="4A5568"/>
                </a:solidFill>
                <a:latin typeface="IBM Plex Sans" pitchFamily="34" charset="0"/>
                <a:ea typeface="IBM Plex Sans" pitchFamily="34" charset="-122"/>
                <a:cs typeface="IBM Plex Sans" pitchFamily="34" charset="-120"/>
              </a:rPr>
              <a:t> all 40 train, and every objective beats the full-state agents.</a:t>
            </a:r>
            <a:endParaRPr lang="en-US" sz="1300" dirty="0"/>
          </a:p>
        </p:txBody>
      </p:sp>
      <p:sp>
        <p:nvSpPr>
          <p:cNvPr id="8" name="Text 5"/>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9" name="Text 6"/>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OBSERVATION VS OBJECTIVE</a:t>
            </a:r>
            <a:endParaRPr lang="en-US" sz="1200" dirty="0"/>
          </a:p>
        </p:txBody>
      </p:sp>
      <p:sp>
        <p:nvSpPr>
          <p:cNvPr id="3" name="Text 1"/>
          <p:cNvSpPr/>
          <p:nvPr>
            <p:ph type="title"/>
          </p:nvPr>
        </p:nvSpPr>
        <p:spPr>
          <a:xfrm>
            <a:off x="812800" y="1102358"/>
            <a:ext cx="10883392" cy="9601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What the agent sees matters more than what it optimises</a:t>
            </a:r>
            <a:endParaRPr lang="en-US" sz="3200" dirty="0"/>
          </a:p>
        </p:txBody>
      </p:sp>
      <p:sp>
        <p:nvSpPr>
          <p:cNvPr id="4" name="Shape 2"/>
          <p:cNvSpPr/>
          <p:nvPr/>
        </p:nvSpPr>
        <p:spPr>
          <a:xfrm>
            <a:off x="812800" y="2265685"/>
            <a:ext cx="10566400" cy="2156460"/>
          </a:xfrm>
          <a:prstGeom prst="rect">
            <a:avLst/>
          </a:prstGeom>
          <a:solidFill>
            <a:srgbClr val="FFFFFF"/>
          </a:solidFill>
          <a:ln/>
        </p:spPr>
      </p:sp>
      <p:sp>
        <p:nvSpPr>
          <p:cNvPr id="5" name="Shape 3"/>
          <p:cNvSpPr/>
          <p:nvPr/>
        </p:nvSpPr>
        <p:spPr>
          <a:xfrm>
            <a:off x="11376025" y="2265685"/>
            <a:ext cx="0" cy="2156460"/>
          </a:xfrm>
          <a:prstGeom prst="line">
            <a:avLst/>
          </a:prstGeom>
          <a:noFill/>
          <a:ln w="6350">
            <a:solidFill>
              <a:srgbClr val="E2DED3"/>
            </a:solidFill>
            <a:prstDash val="solid"/>
          </a:ln>
        </p:spPr>
      </p:sp>
      <p:sp>
        <p:nvSpPr>
          <p:cNvPr id="6" name="Shape 4"/>
          <p:cNvSpPr/>
          <p:nvPr/>
        </p:nvSpPr>
        <p:spPr>
          <a:xfrm>
            <a:off x="812800" y="4418970"/>
            <a:ext cx="10566400" cy="0"/>
          </a:xfrm>
          <a:prstGeom prst="line">
            <a:avLst/>
          </a:prstGeom>
          <a:noFill/>
          <a:ln w="6350">
            <a:solidFill>
              <a:srgbClr val="E2DED3"/>
            </a:solidFill>
            <a:prstDash val="solid"/>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22960" y="2275845"/>
          <a:ext cx="10551160" cy="2141220"/>
        </p:xfrm>
        <a:graphic>
          <a:graphicData uri="http://schemas.openxmlformats.org/drawingml/2006/table">
            <a:tbl>
              <a:tblPr/>
              <a:tblGrid>
                <a:gridCol w="4220464"/>
                <a:gridCol w="2110232"/>
                <a:gridCol w="2110232"/>
                <a:gridCol w="2110232"/>
              </a:tblGrid>
              <a:tr h="356870">
                <a:tc>
                  <a:txBody>
                    <a:bodyPr/>
                    <a:lstStyle/>
                    <a:p>
                      <a:pP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Actor sees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Score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R1–R3 gap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algn="r" indent="0" marL="0">
                        <a:lnSpc>
                          <a:spcPts val="1820"/>
                        </a:lnSpc>
                        <a:buNone/>
                      </a:pPr>
                      <a:r>
                        <a:rPr lang="en-US" sz="1300" b="1" dirty="0">
                          <a:solidFill>
                            <a:srgbClr val="F3EFE6"/>
                          </a:solidFill>
                          <a:latin typeface="IBM Plex Sans" pitchFamily="34" charset="0"/>
                          <a:ea typeface="IBM Plex Sans" pitchFamily="34" charset="-122"/>
                          <a:cs typeface="IBM Plex Sans" pitchFamily="34" charset="-120"/>
                        </a:rPr>
                        <a:t>Wrong-obj. cost</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Full composition (E4)</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0.76–0.87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250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0.18</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Burden only (E11)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0.21–0.37</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not trained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not tested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Burden + full critic (E11b)</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0.80–0.92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EC6"/>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76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EC6"/>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0.035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8BEC6"/>
                      </a:solidFill>
                      <a:prstDash val="solid"/>
                      <a:round/>
                      <a:headEnd type="none" w="med" len="med"/>
                      <a:tailEnd type="none" w="med" len="med"/>
                    </a:lnL>
                    <a:lnR w="12700" cap="flat" cmpd="sng" algn="ctr">
                      <a:solidFill>
                        <a:srgbClr val="B8BEC6"/>
                      </a:solidFill>
                      <a:prstDash val="solid"/>
                      <a:round/>
                      <a:headEnd type="none" w="med" len="med"/>
                      <a:tailEnd type="none" w="med" len="med"/>
                    </a:lnR>
                    <a:lnT w="12700" cap="flat" cmpd="sng" algn="ctr">
                      <a:solidFill>
                        <a:srgbClr val="C3C1BC"/>
                      </a:solidFill>
                      <a:prstDash val="solid"/>
                      <a:round/>
                      <a:headEnd type="none" w="med" len="med"/>
                      <a:tailEnd type="none" w="med" len="med"/>
                    </a:lnT>
                    <a:lnB w="12700" cap="flat" cmpd="sng" algn="ctr">
                      <a:solidFill>
                        <a:srgbClr val="B8BEC6"/>
                      </a:solidFill>
                      <a:prstDash val="solid"/>
                      <a:round/>
                      <a:headEnd type="none" w="med" len="med"/>
                      <a:tailEnd type="none" w="med" len="med"/>
                    </a:lnB>
                    <a:solidFill>
                      <a:srgbClr val="E6EEF8"/>
                    </a:solidFill>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8-week burden chart (E11c)</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0.71–0.86</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220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0.105</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8BEC6"/>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56870">
                <a:tc>
                  <a:txBody>
                    <a:bodyPr/>
                    <a:lstStyle/>
                    <a:p>
                      <a:pP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Chart, 3× budget (E11d)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0.80–0.92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235 d</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c>
                  <a:txBody>
                    <a:bodyPr/>
                    <a:lstStyle/>
                    <a:p>
                      <a:pPr algn="r" indent="0" marL="0">
                        <a:lnSpc>
                          <a:spcPts val="1820"/>
                        </a:lnSpc>
                        <a:buNone/>
                      </a:pPr>
                      <a:r>
                        <a:rPr lang="en-US" sz="1300" dirty="0">
                          <a:solidFill>
                            <a:srgbClr val="14213D"/>
                          </a:solidFill>
                          <a:latin typeface="IBM Plex Sans" pitchFamily="34" charset="0"/>
                          <a:ea typeface="IBM Plex Sans" pitchFamily="34" charset="-122"/>
                          <a:cs typeface="IBM Plex Sans" pitchFamily="34" charset="-120"/>
                        </a:rPr>
                        <a:t>0.133</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3C1BC"/>
                      </a:solidFill>
                      <a:prstDash val="solid"/>
                      <a:round/>
                      <a:headEnd type="none" w="med" len="med"/>
                      <a:tailEnd type="none" w="med" len="med"/>
                    </a:lnL>
                    <a:lnR w="12700" cap="flat" cmpd="sng" algn="ctr">
                      <a:solidFill>
                        <a:srgbClr val="C3C1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3C1BC"/>
                      </a:solidFill>
                      <a:prstDash val="solid"/>
                      <a:round/>
                      <a:headEnd type="none" w="med" len="med"/>
                      <a:tailEnd type="none" w="med" len="med"/>
                    </a:lnB>
                    <a:solidFill>
                      <a:srgbClr val="F4F2EC"/>
                    </a:solidFill>
                  </a:tcPr>
                </a:tc>
              </a:tr>
            </a:tbl>
          </a:graphicData>
        </a:graphic>
      </p:graphicFrame>
      <p:sp>
        <p:nvSpPr>
          <p:cNvPr id="8" name="Text 5"/>
          <p:cNvSpPr/>
          <p:nvPr/>
        </p:nvSpPr>
        <p:spPr>
          <a:xfrm>
            <a:off x="815975" y="4653917"/>
            <a:ext cx="5180330" cy="821690"/>
          </a:xfrm>
          <a:prstGeom prst="roundRect">
            <a:avLst>
              <a:gd name="adj" fmla="val 8887"/>
            </a:avLst>
          </a:prstGeom>
          <a:solidFill>
            <a:srgbClr val="FFFFFF"/>
          </a:solidFill>
          <a:ln w="6350">
            <a:solidFill>
              <a:srgbClr val="E2DED3"/>
            </a:solidFill>
            <a:prstDash val="solid"/>
          </a:ln>
        </p:spPr>
        <p:txBody>
          <a:bodyPr wrap="square" lIns="183717" tIns="158317" rIns="40613" bIns="132917" rtlCol="0" anchor="t">
            <a:normAutofit/>
          </a:bodyPr>
          <a:lstStyle/>
          <a:p>
            <a:pPr algn="l" indent="0" marL="0">
              <a:lnSpc>
                <a:spcPts val="1820"/>
              </a:lnSpc>
              <a:buNone/>
            </a:pPr>
            <a:r>
              <a:rPr lang="en-US" sz="1300" b="1" dirty="0">
                <a:solidFill>
                  <a:srgbClr val="14213D"/>
                </a:solidFill>
                <a:latin typeface="IBM Plex Sans" pitchFamily="34" charset="0"/>
                <a:ea typeface="IBM Plex Sans" pitchFamily="34" charset="-122"/>
                <a:cs typeface="IBM Plex Sans" pitchFamily="34" charset="-120"/>
              </a:rPr>
              <a:t>Equal 3M-step budget (A2):</a:t>
            </a:r>
            <a:r>
              <a:rPr lang="en-US" sz="1300" dirty="0">
                <a:solidFill>
                  <a:srgbClr val="4A5568"/>
                </a:solidFill>
                <a:latin typeface="IBM Plex Sans" pitchFamily="34" charset="0"/>
                <a:ea typeface="IBM Plex Sans" pitchFamily="34" charset="-122"/>
                <a:cs typeface="IBM Plex Sans" pitchFamily="34" charset="-120"/>
              </a:rPr>
              <a:t> burden + critic 0.97 &gt; full state 0.94 &gt; memory 0.92 of the optimum.</a:t>
            </a:r>
            <a:endParaRPr lang="en-US" sz="1300" dirty="0"/>
          </a:p>
        </p:txBody>
      </p:sp>
      <p:sp>
        <p:nvSpPr>
          <p:cNvPr id="9" name="Text 6"/>
          <p:cNvSpPr/>
          <p:nvPr/>
        </p:nvSpPr>
        <p:spPr>
          <a:xfrm>
            <a:off x="6202680" y="4650742"/>
            <a:ext cx="5176520" cy="828040"/>
          </a:xfrm>
          <a:prstGeom prst="roundRect">
            <a:avLst>
              <a:gd name="adj" fmla="val 9202"/>
            </a:avLst>
          </a:prstGeom>
          <a:solidFill>
            <a:srgbClr val="14213D"/>
          </a:solidFill>
          <a:ln/>
        </p:spPr>
        <p:txBody>
          <a:bodyPr wrap="square" lIns="180882" tIns="155482" rIns="37778" bIns="140242" rtlCol="0" anchor="t">
            <a:normAutofit/>
          </a:bodyPr>
          <a:lstStyle/>
          <a:p>
            <a:pPr algn="l"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Most of the objective effect depends on composition information a clinician does not have.</a:t>
            </a:r>
            <a:endParaRPr lang="en-US" sz="1300" dirty="0"/>
          </a:p>
        </p:txBody>
      </p:sp>
      <p:sp>
        <p:nvSpPr>
          <p:cNvPr id="10" name="Text 7"/>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1" name="Text 8"/>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FINDINGS · ROUND 2 FOLLOW-UPS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Graded doses, switching and mutation</a:t>
            </a:r>
            <a:endParaRPr lang="en-US" sz="3200" dirty="0"/>
          </a:p>
        </p:txBody>
      </p:sp>
      <p:sp>
        <p:nvSpPr>
          <p:cNvPr id="4" name="Shape 2"/>
          <p:cNvSpPr/>
          <p:nvPr/>
        </p:nvSpPr>
        <p:spPr>
          <a:xfrm>
            <a:off x="815975" y="1801490"/>
            <a:ext cx="5175250" cy="1489710"/>
          </a:xfrm>
          <a:prstGeom prst="roundRect">
            <a:avLst>
              <a:gd name="adj" fmla="val 6607"/>
            </a:avLst>
          </a:prstGeom>
          <a:solidFill>
            <a:srgbClr val="FFFFFF"/>
          </a:solidFill>
          <a:ln w="6350">
            <a:solidFill>
              <a:srgbClr val="E2DED3"/>
            </a:solidFill>
            <a:prstDash val="solid"/>
          </a:ln>
        </p:spPr>
      </p:sp>
      <p:sp>
        <p:nvSpPr>
          <p:cNvPr id="5" name="Text 3"/>
          <p:cNvSpPr/>
          <p:nvPr/>
        </p:nvSpPr>
        <p:spPr>
          <a:xfrm>
            <a:off x="1071880" y="203200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Graded doses (D1–D3)</a:t>
            </a:r>
            <a:endParaRPr lang="en-US" sz="1700" dirty="0"/>
          </a:p>
        </p:txBody>
      </p:sp>
      <p:sp>
        <p:nvSpPr>
          <p:cNvPr id="6" name="Text 4"/>
          <p:cNvSpPr/>
          <p:nvPr/>
        </p:nvSpPr>
        <p:spPr>
          <a:xfrm>
            <a:off x="1071880" y="2367285"/>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half dose adds 70–168 days. R1 and R4 split, but only because R1’s holiday bonus pays at zero dose alone.</a:t>
            </a:r>
            <a:endParaRPr lang="en-US" sz="1300" dirty="0"/>
          </a:p>
        </p:txBody>
      </p:sp>
      <p:sp>
        <p:nvSpPr>
          <p:cNvPr id="7" name="Shape 5"/>
          <p:cNvSpPr/>
          <p:nvPr/>
        </p:nvSpPr>
        <p:spPr>
          <a:xfrm>
            <a:off x="6200775" y="1801490"/>
            <a:ext cx="5175250" cy="1489710"/>
          </a:xfrm>
          <a:prstGeom prst="roundRect">
            <a:avLst>
              <a:gd name="adj" fmla="val 6607"/>
            </a:avLst>
          </a:prstGeom>
          <a:solidFill>
            <a:srgbClr val="FFFFFF"/>
          </a:solidFill>
          <a:ln w="6350">
            <a:solidFill>
              <a:srgbClr val="E2DED3"/>
            </a:solidFill>
            <a:prstDash val="solid"/>
          </a:ln>
        </p:spPr>
      </p:sp>
      <p:sp>
        <p:nvSpPr>
          <p:cNvPr id="8" name="Text 6"/>
          <p:cNvSpPr/>
          <p:nvPr/>
        </p:nvSpPr>
        <p:spPr>
          <a:xfrm>
            <a:off x="6456680" y="2032000"/>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Fewer switches (B3, D4)</a:t>
            </a:r>
            <a:endParaRPr lang="en-US" sz="1700" dirty="0"/>
          </a:p>
        </p:txBody>
      </p:sp>
      <p:sp>
        <p:nvSpPr>
          <p:cNvPr id="9" name="Text 7"/>
          <p:cNvSpPr/>
          <p:nvPr/>
        </p:nvSpPr>
        <p:spPr>
          <a:xfrm>
            <a:off x="6456680" y="2367285"/>
            <a:ext cx="4803343"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Optima switch dose on 54% of weeks. Halving that costs 3–8%; at 9 switches a year the optimum still beats AT-PSC by 55%.</a:t>
            </a:r>
            <a:endParaRPr lang="en-US" sz="1300" dirty="0"/>
          </a:p>
        </p:txBody>
      </p:sp>
      <p:sp>
        <p:nvSpPr>
          <p:cNvPr id="10" name="Shape 8"/>
          <p:cNvSpPr/>
          <p:nvPr/>
        </p:nvSpPr>
        <p:spPr>
          <a:xfrm>
            <a:off x="815975" y="3500760"/>
            <a:ext cx="5175250" cy="1258570"/>
          </a:xfrm>
          <a:prstGeom prst="roundRect">
            <a:avLst>
              <a:gd name="adj" fmla="val 7820"/>
            </a:avLst>
          </a:prstGeom>
          <a:solidFill>
            <a:srgbClr val="FFFFFF"/>
          </a:solidFill>
          <a:ln w="6350">
            <a:solidFill>
              <a:srgbClr val="E2DED3"/>
            </a:solidFill>
            <a:prstDash val="solid"/>
          </a:ln>
        </p:spPr>
      </p:sp>
      <p:sp>
        <p:nvSpPr>
          <p:cNvPr id="11" name="Text 9"/>
          <p:cNvSpPr/>
          <p:nvPr/>
        </p:nvSpPr>
        <p:spPr>
          <a:xfrm>
            <a:off x="1071880" y="3731258"/>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Mutation, S → R (E1)</a:t>
            </a:r>
            <a:endParaRPr lang="en-US" sz="1700" dirty="0"/>
          </a:p>
        </p:txBody>
      </p:sp>
      <p:sp>
        <p:nvSpPr>
          <p:cNvPr id="12" name="Text 10"/>
          <p:cNvSpPr/>
          <p:nvPr/>
        </p:nvSpPr>
        <p:spPr>
          <a:xfrm>
            <a:off x="1071880" y="4066542"/>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first split of durability from survival at the optimum, but small, and invisible to trained agents (p = 0.18).</a:t>
            </a:r>
            <a:endParaRPr lang="en-US" sz="1300" dirty="0"/>
          </a:p>
        </p:txBody>
      </p:sp>
      <p:sp>
        <p:nvSpPr>
          <p:cNvPr id="13" name="Shape 11"/>
          <p:cNvSpPr/>
          <p:nvPr/>
        </p:nvSpPr>
        <p:spPr>
          <a:xfrm>
            <a:off x="6200775" y="3500760"/>
            <a:ext cx="5175250" cy="1258570"/>
          </a:xfrm>
          <a:prstGeom prst="roundRect">
            <a:avLst>
              <a:gd name="adj" fmla="val 7820"/>
            </a:avLst>
          </a:prstGeom>
          <a:solidFill>
            <a:srgbClr val="FFFFFF"/>
          </a:solidFill>
          <a:ln w="6350">
            <a:solidFill>
              <a:srgbClr val="E2DED3"/>
            </a:solidFill>
            <a:prstDash val="solid"/>
          </a:ln>
        </p:spPr>
      </p:sp>
      <p:sp>
        <p:nvSpPr>
          <p:cNvPr id="14" name="Text 12"/>
          <p:cNvSpPr/>
          <p:nvPr/>
        </p:nvSpPr>
        <p:spPr>
          <a:xfrm>
            <a:off x="6456680" y="3731258"/>
            <a:ext cx="4803343" cy="28448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13D"/>
                </a:solidFill>
                <a:latin typeface="Source Serif 4" pitchFamily="18" charset="0"/>
                <a:ea typeface="Source Serif 4" pitchFamily="18" charset="-122"/>
                <a:cs typeface="Source Serif 4" pitchFamily="18" charset="-120"/>
              </a:rPr>
              <a:t>Pareto view (B1)</a:t>
            </a:r>
            <a:endParaRPr lang="en-US" sz="1700" dirty="0"/>
          </a:p>
        </p:txBody>
      </p:sp>
      <p:sp>
        <p:nvSpPr>
          <p:cNvPr id="15" name="Text 13"/>
          <p:cNvSpPr/>
          <p:nvPr/>
        </p:nvSpPr>
        <p:spPr>
          <a:xfrm>
            <a:off x="6456680" y="4066542"/>
            <a:ext cx="4803343"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Good policies all run at about 72% dose intensity. R2’s memory agents trade time for less drug and sit on the frontier.</a:t>
            </a:r>
            <a:endParaRPr lang="en-US" sz="1300" dirty="0"/>
          </a:p>
        </p:txBody>
      </p:sp>
      <p:sp>
        <p:nvSpPr>
          <p:cNvPr id="16" name="Text 14"/>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17" name="Text 15"/>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WHAT WE LEARNED · THE PROBLEM</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Four lessons about adaptive therapy</a:t>
            </a:r>
            <a:endParaRPr lang="en-US" sz="3200" dirty="0"/>
          </a:p>
        </p:txBody>
      </p:sp>
      <p:sp>
        <p:nvSpPr>
          <p:cNvPr id="4" name="Shape 2"/>
          <p:cNvSpPr/>
          <p:nvPr/>
        </p:nvSpPr>
        <p:spPr>
          <a:xfrm>
            <a:off x="815975" y="1801490"/>
            <a:ext cx="5175250" cy="1215390"/>
          </a:xfrm>
          <a:prstGeom prst="roundRect">
            <a:avLst>
              <a:gd name="adj" fmla="val 8098"/>
            </a:avLst>
          </a:prstGeom>
          <a:solidFill>
            <a:srgbClr val="FFFFFF"/>
          </a:solidFill>
          <a:ln w="6350">
            <a:solidFill>
              <a:srgbClr val="E2DED3"/>
            </a:solidFill>
            <a:prstDash val="solid"/>
          </a:ln>
        </p:spPr>
      </p:sp>
      <p:sp>
        <p:nvSpPr>
          <p:cNvPr id="5" name="Text 3"/>
          <p:cNvSpPr/>
          <p:nvPr/>
        </p:nvSpPr>
        <p:spPr>
          <a:xfrm>
            <a:off x="1046480" y="2032000"/>
            <a:ext cx="273473" cy="77978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B6CB0"/>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1446953" y="2032000"/>
            <a:ext cx="44431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The objective matters less than expected</a:t>
            </a:r>
            <a:endParaRPr lang="en-US" sz="1500" dirty="0"/>
          </a:p>
        </p:txBody>
      </p:sp>
      <p:sp>
        <p:nvSpPr>
          <p:cNvPr id="7" name="Text 5"/>
          <p:cNvSpPr/>
          <p:nvPr/>
        </p:nvSpPr>
        <p:spPr>
          <a:xfrm>
            <a:off x="1446953" y="2324100"/>
            <a:ext cx="44431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Survival, dose and durability converge on containment. Only coexistence differs, and it loses.</a:t>
            </a:r>
            <a:endParaRPr lang="en-US" sz="1300" dirty="0"/>
          </a:p>
        </p:txBody>
      </p:sp>
      <p:sp>
        <p:nvSpPr>
          <p:cNvPr id="8" name="Shape 6"/>
          <p:cNvSpPr/>
          <p:nvPr/>
        </p:nvSpPr>
        <p:spPr>
          <a:xfrm>
            <a:off x="6200775" y="1801490"/>
            <a:ext cx="5175250" cy="1215390"/>
          </a:xfrm>
          <a:prstGeom prst="roundRect">
            <a:avLst>
              <a:gd name="adj" fmla="val 8098"/>
            </a:avLst>
          </a:prstGeom>
          <a:solidFill>
            <a:srgbClr val="FFFFFF"/>
          </a:solidFill>
          <a:ln w="6350">
            <a:solidFill>
              <a:srgbClr val="E2DED3"/>
            </a:solidFill>
            <a:prstDash val="solid"/>
          </a:ln>
        </p:spPr>
      </p:sp>
      <p:sp>
        <p:nvSpPr>
          <p:cNvPr id="9" name="Text 7"/>
          <p:cNvSpPr/>
          <p:nvPr/>
        </p:nvSpPr>
        <p:spPr>
          <a:xfrm>
            <a:off x="6431280" y="2032000"/>
            <a:ext cx="273473" cy="77978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B6CB0"/>
                </a:solidFill>
                <a:latin typeface="Source Serif 4" pitchFamily="18" charset="0"/>
                <a:ea typeface="Source Serif 4" pitchFamily="18" charset="-122"/>
                <a:cs typeface="Source Serif 4" pitchFamily="18" charset="-120"/>
              </a:rPr>
              <a:t>2</a:t>
            </a:r>
            <a:endParaRPr lang="en-US" sz="3200" dirty="0"/>
          </a:p>
        </p:txBody>
      </p:sp>
      <p:sp>
        <p:nvSpPr>
          <p:cNvPr id="10" name="Text 8"/>
          <p:cNvSpPr/>
          <p:nvPr/>
        </p:nvSpPr>
        <p:spPr>
          <a:xfrm>
            <a:off x="6831754" y="2032000"/>
            <a:ext cx="44431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The observation matters more</a:t>
            </a:r>
            <a:endParaRPr lang="en-US" sz="1500" dirty="0"/>
          </a:p>
        </p:txBody>
      </p:sp>
      <p:sp>
        <p:nvSpPr>
          <p:cNvPr id="11" name="Text 9"/>
          <p:cNvSpPr/>
          <p:nvPr/>
        </p:nvSpPr>
        <p:spPr>
          <a:xfrm>
            <a:off x="6831754" y="2324100"/>
            <a:ext cx="44431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Hide the composition from the policy and the four objectives nearly merge.</a:t>
            </a:r>
            <a:endParaRPr lang="en-US" sz="1300" dirty="0"/>
          </a:p>
        </p:txBody>
      </p:sp>
      <p:sp>
        <p:nvSpPr>
          <p:cNvPr id="12" name="Shape 10"/>
          <p:cNvSpPr/>
          <p:nvPr/>
        </p:nvSpPr>
        <p:spPr>
          <a:xfrm>
            <a:off x="815975" y="3226433"/>
            <a:ext cx="5175250" cy="1215390"/>
          </a:xfrm>
          <a:prstGeom prst="roundRect">
            <a:avLst>
              <a:gd name="adj" fmla="val 8098"/>
            </a:avLst>
          </a:prstGeom>
          <a:solidFill>
            <a:srgbClr val="FFFFFF"/>
          </a:solidFill>
          <a:ln w="6350">
            <a:solidFill>
              <a:srgbClr val="E2DED3"/>
            </a:solidFill>
            <a:prstDash val="solid"/>
          </a:ln>
        </p:spPr>
      </p:sp>
      <p:sp>
        <p:nvSpPr>
          <p:cNvPr id="13" name="Text 11"/>
          <p:cNvSpPr/>
          <p:nvPr/>
        </p:nvSpPr>
        <p:spPr>
          <a:xfrm>
            <a:off x="1046480" y="3456942"/>
            <a:ext cx="273473" cy="77978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B6CB0"/>
                </a:solidFill>
                <a:latin typeface="Source Serif 4" pitchFamily="18" charset="0"/>
                <a:ea typeface="Source Serif 4" pitchFamily="18" charset="-122"/>
                <a:cs typeface="Source Serif 4" pitchFamily="18" charset="-120"/>
              </a:rPr>
              <a:t>3</a:t>
            </a:r>
            <a:endParaRPr lang="en-US" sz="3200" dirty="0"/>
          </a:p>
        </p:txBody>
      </p:sp>
      <p:sp>
        <p:nvSpPr>
          <p:cNvPr id="14" name="Text 12"/>
          <p:cNvSpPr/>
          <p:nvPr/>
        </p:nvSpPr>
        <p:spPr>
          <a:xfrm>
            <a:off x="1446953" y="3456942"/>
            <a:ext cx="44431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Learning is the bottleneck</a:t>
            </a:r>
            <a:endParaRPr lang="en-US" sz="1500" dirty="0"/>
          </a:p>
        </p:txBody>
      </p:sp>
      <p:sp>
        <p:nvSpPr>
          <p:cNvPr id="15" name="Text 13"/>
          <p:cNvSpPr/>
          <p:nvPr/>
        </p:nvSpPr>
        <p:spPr>
          <a:xfrm>
            <a:off x="1446953" y="3749042"/>
            <a:ext cx="44431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one-line burden rule beat naive PPO. A full-state critic during training fixed it.</a:t>
            </a:r>
            <a:endParaRPr lang="en-US" sz="1300" dirty="0"/>
          </a:p>
        </p:txBody>
      </p:sp>
      <p:sp>
        <p:nvSpPr>
          <p:cNvPr id="16" name="Shape 14"/>
          <p:cNvSpPr/>
          <p:nvPr/>
        </p:nvSpPr>
        <p:spPr>
          <a:xfrm>
            <a:off x="6200775" y="3226433"/>
            <a:ext cx="5175250" cy="1215390"/>
          </a:xfrm>
          <a:prstGeom prst="roundRect">
            <a:avLst>
              <a:gd name="adj" fmla="val 8098"/>
            </a:avLst>
          </a:prstGeom>
          <a:solidFill>
            <a:srgbClr val="FFFFFF"/>
          </a:solidFill>
          <a:ln w="6350">
            <a:solidFill>
              <a:srgbClr val="E2DED3"/>
            </a:solidFill>
            <a:prstDash val="solid"/>
          </a:ln>
        </p:spPr>
      </p:sp>
      <p:sp>
        <p:nvSpPr>
          <p:cNvPr id="17" name="Text 15"/>
          <p:cNvSpPr/>
          <p:nvPr/>
        </p:nvSpPr>
        <p:spPr>
          <a:xfrm>
            <a:off x="6431280" y="3456942"/>
            <a:ext cx="273473" cy="779780"/>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2B6CB0"/>
                </a:solidFill>
                <a:latin typeface="Source Serif 4" pitchFamily="18" charset="0"/>
                <a:ea typeface="Source Serif 4" pitchFamily="18" charset="-122"/>
                <a:cs typeface="Source Serif 4" pitchFamily="18" charset="-120"/>
              </a:rPr>
              <a:t>4</a:t>
            </a:r>
            <a:endParaRPr lang="en-US" sz="3200" dirty="0"/>
          </a:p>
        </p:txBody>
      </p:sp>
      <p:sp>
        <p:nvSpPr>
          <p:cNvPr id="18" name="Text 16"/>
          <p:cNvSpPr/>
          <p:nvPr/>
        </p:nvSpPr>
        <p:spPr>
          <a:xfrm>
            <a:off x="6831754" y="3456942"/>
            <a:ext cx="4443180"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 margin buys robustness</a:t>
            </a:r>
            <a:endParaRPr lang="en-US" sz="1500" dirty="0"/>
          </a:p>
        </p:txBody>
      </p:sp>
      <p:sp>
        <p:nvSpPr>
          <p:cNvPr id="19" name="Text 17"/>
          <p:cNvSpPr/>
          <p:nvPr/>
        </p:nvSpPr>
        <p:spPr>
          <a:xfrm>
            <a:off x="6831754" y="3749042"/>
            <a:ext cx="444318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exact optimum breaks under model error; agents keep a margin. Monitor as often as you trained.</a:t>
            </a:r>
            <a:endParaRPr lang="en-US" sz="1300" dirty="0"/>
          </a:p>
        </p:txBody>
      </p:sp>
      <p:sp>
        <p:nvSpPr>
          <p:cNvPr id="20" name="Text 18"/>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WHAT WE LEARNED · THE METHOD</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Five lessons about RL for medicine</a:t>
            </a:r>
            <a:endParaRPr lang="en-US" sz="3200" dirty="0"/>
          </a:p>
        </p:txBody>
      </p:sp>
      <p:sp>
        <p:nvSpPr>
          <p:cNvPr id="4" name="Shape 2"/>
          <p:cNvSpPr/>
          <p:nvPr/>
        </p:nvSpPr>
        <p:spPr>
          <a:xfrm>
            <a:off x="812800" y="1776090"/>
            <a:ext cx="10566400" cy="0"/>
          </a:xfrm>
          <a:prstGeom prst="line">
            <a:avLst/>
          </a:prstGeom>
          <a:noFill/>
          <a:ln w="6350">
            <a:solidFill>
              <a:srgbClr val="D6D2C6"/>
            </a:solidFill>
            <a:prstDash val="solid"/>
          </a:ln>
        </p:spPr>
      </p:sp>
      <p:sp>
        <p:nvSpPr>
          <p:cNvPr id="5" name="Text 3"/>
          <p:cNvSpPr/>
          <p:nvPr/>
        </p:nvSpPr>
        <p:spPr>
          <a:xfrm>
            <a:off x="812800" y="1905000"/>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Rewards hide loopholes</a:t>
            </a:r>
            <a:endParaRPr lang="en-US" sz="1500" dirty="0"/>
          </a:p>
        </p:txBody>
      </p:sp>
      <p:sp>
        <p:nvSpPr>
          <p:cNvPr id="6" name="Text 4"/>
          <p:cNvSpPr/>
          <p:nvPr/>
        </p:nvSpPr>
        <p:spPr>
          <a:xfrm>
            <a:off x="4876800" y="1905000"/>
            <a:ext cx="66974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literal dose reward pays for early death; a heavy durability weight pays for giving up. Check the optimum first.</a:t>
            </a:r>
            <a:endParaRPr lang="en-US" sz="1300" dirty="0"/>
          </a:p>
        </p:txBody>
      </p:sp>
      <p:sp>
        <p:nvSpPr>
          <p:cNvPr id="7" name="Shape 5"/>
          <p:cNvSpPr/>
          <p:nvPr/>
        </p:nvSpPr>
        <p:spPr>
          <a:xfrm>
            <a:off x="812800" y="2497460"/>
            <a:ext cx="10566400" cy="0"/>
          </a:xfrm>
          <a:prstGeom prst="line">
            <a:avLst/>
          </a:prstGeom>
          <a:noFill/>
          <a:ln w="6350">
            <a:solidFill>
              <a:srgbClr val="D6D2C6"/>
            </a:solidFill>
            <a:prstDash val="solid"/>
          </a:ln>
        </p:spPr>
      </p:sp>
      <p:sp>
        <p:nvSpPr>
          <p:cNvPr id="8" name="Text 6"/>
          <p:cNvSpPr/>
          <p:nvPr/>
        </p:nvSpPr>
        <p:spPr>
          <a:xfrm>
            <a:off x="812800" y="2626358"/>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Score off the diagonal</a:t>
            </a:r>
            <a:endParaRPr lang="en-US" sz="1500" dirty="0"/>
          </a:p>
        </p:txBody>
      </p:sp>
      <p:sp>
        <p:nvSpPr>
          <p:cNvPr id="9" name="Text 7"/>
          <p:cNvSpPr/>
          <p:nvPr/>
        </p:nvSpPr>
        <p:spPr>
          <a:xfrm>
            <a:off x="4876800" y="2626358"/>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Scoring every policy on every objective is what reveals the cost of the wrong one.</a:t>
            </a:r>
            <a:endParaRPr lang="en-US" sz="1300" dirty="0"/>
          </a:p>
        </p:txBody>
      </p:sp>
      <p:sp>
        <p:nvSpPr>
          <p:cNvPr id="10" name="Shape 8"/>
          <p:cNvSpPr/>
          <p:nvPr/>
        </p:nvSpPr>
        <p:spPr>
          <a:xfrm>
            <a:off x="812800" y="3023233"/>
            <a:ext cx="10566400" cy="0"/>
          </a:xfrm>
          <a:prstGeom prst="line">
            <a:avLst/>
          </a:prstGeom>
          <a:noFill/>
          <a:ln w="6350">
            <a:solidFill>
              <a:srgbClr val="D6D2C6"/>
            </a:solidFill>
            <a:prstDash val="solid"/>
          </a:ln>
        </p:spPr>
      </p:sp>
      <p:sp>
        <p:nvSpPr>
          <p:cNvPr id="11" name="Text 9"/>
          <p:cNvSpPr/>
          <p:nvPr/>
        </p:nvSpPr>
        <p:spPr>
          <a:xfrm>
            <a:off x="812800" y="3152142"/>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Benchmark against an exact optimum</a:t>
            </a:r>
            <a:endParaRPr lang="en-US" sz="1500" dirty="0"/>
          </a:p>
        </p:txBody>
      </p:sp>
      <p:sp>
        <p:nvSpPr>
          <p:cNvPr id="12" name="Text 10"/>
          <p:cNvSpPr/>
          <p:nvPr/>
        </p:nvSpPr>
        <p:spPr>
          <a:xfrm>
            <a:off x="4876800" y="3152142"/>
            <a:ext cx="66974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 ceiling and tuned heuristics turn “the agent learned” into “85% of optimal, 50% above the best rule”.</a:t>
            </a:r>
            <a:endParaRPr lang="en-US" sz="1300" dirty="0"/>
          </a:p>
        </p:txBody>
      </p:sp>
      <p:sp>
        <p:nvSpPr>
          <p:cNvPr id="13" name="Shape 11"/>
          <p:cNvSpPr/>
          <p:nvPr/>
        </p:nvSpPr>
        <p:spPr>
          <a:xfrm>
            <a:off x="812800" y="3744590"/>
            <a:ext cx="10566400" cy="0"/>
          </a:xfrm>
          <a:prstGeom prst="line">
            <a:avLst/>
          </a:prstGeom>
          <a:noFill/>
          <a:ln w="6350">
            <a:solidFill>
              <a:srgbClr val="D6D2C6"/>
            </a:solidFill>
            <a:prstDash val="solid"/>
          </a:ln>
        </p:spPr>
      </p:sp>
      <p:sp>
        <p:nvSpPr>
          <p:cNvPr id="14" name="Text 12"/>
          <p:cNvSpPr/>
          <p:nvPr/>
        </p:nvSpPr>
        <p:spPr>
          <a:xfrm>
            <a:off x="812800" y="3873500"/>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Compare against seed noise</a:t>
            </a:r>
            <a:endParaRPr lang="en-US" sz="1500" dirty="0"/>
          </a:p>
        </p:txBody>
      </p:sp>
      <p:sp>
        <p:nvSpPr>
          <p:cNvPr id="15" name="Text 13"/>
          <p:cNvSpPr/>
          <p:nvPr/>
        </p:nvSpPr>
        <p:spPr>
          <a:xfrm>
            <a:off x="4876800" y="3873500"/>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Ten seeds and permutation tests separate real policy differences from luck.</a:t>
            </a:r>
            <a:endParaRPr lang="en-US" sz="1300" dirty="0"/>
          </a:p>
        </p:txBody>
      </p:sp>
      <p:sp>
        <p:nvSpPr>
          <p:cNvPr id="16" name="Shape 14"/>
          <p:cNvSpPr/>
          <p:nvPr/>
        </p:nvSpPr>
        <p:spPr>
          <a:xfrm>
            <a:off x="812800" y="4270375"/>
            <a:ext cx="10566400" cy="0"/>
          </a:xfrm>
          <a:prstGeom prst="line">
            <a:avLst/>
          </a:prstGeom>
          <a:noFill/>
          <a:ln w="6350">
            <a:solidFill>
              <a:srgbClr val="D6D2C6"/>
            </a:solidFill>
            <a:prstDash val="solid"/>
          </a:ln>
        </p:spPr>
      </p:sp>
      <p:sp>
        <p:nvSpPr>
          <p:cNvPr id="17" name="Shape 15"/>
          <p:cNvSpPr/>
          <p:nvPr/>
        </p:nvSpPr>
        <p:spPr>
          <a:xfrm>
            <a:off x="812800" y="4990465"/>
            <a:ext cx="10566400" cy="0"/>
          </a:xfrm>
          <a:prstGeom prst="line">
            <a:avLst/>
          </a:prstGeom>
          <a:noFill/>
          <a:ln w="6350">
            <a:solidFill>
              <a:srgbClr val="D6D2C6"/>
            </a:solidFill>
            <a:prstDash val="solid"/>
          </a:ln>
        </p:spPr>
      </p:sp>
      <p:sp>
        <p:nvSpPr>
          <p:cNvPr id="18" name="Text 16"/>
          <p:cNvSpPr/>
          <p:nvPr/>
        </p:nvSpPr>
        <p:spPr>
          <a:xfrm>
            <a:off x="812800" y="4399285"/>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Reproduce before you extend</a:t>
            </a:r>
            <a:endParaRPr lang="en-US" sz="1500" dirty="0"/>
          </a:p>
        </p:txBody>
      </p:sp>
      <p:sp>
        <p:nvSpPr>
          <p:cNvPr id="19" name="Text 17"/>
          <p:cNvSpPr/>
          <p:nvPr/>
        </p:nvSpPr>
        <p:spPr>
          <a:xfrm>
            <a:off x="4876800" y="4399285"/>
            <a:ext cx="6697472"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One wrong starting parameter, 1% instead of 0.1% resistant, broke every published number.</a:t>
            </a:r>
            <a:endParaRPr lang="en-US" sz="1300" dirty="0"/>
          </a:p>
        </p:txBody>
      </p:sp>
      <p:sp>
        <p:nvSpPr>
          <p:cNvPr id="20" name="Text 18"/>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CEFF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LIMITATIONS</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What this study cannot claim</a:t>
            </a:r>
            <a:endParaRPr lang="en-US" sz="3200" dirty="0"/>
          </a:p>
        </p:txBody>
      </p:sp>
      <p:sp>
        <p:nvSpPr>
          <p:cNvPr id="4" name="Shape 2"/>
          <p:cNvSpPr/>
          <p:nvPr/>
        </p:nvSpPr>
        <p:spPr>
          <a:xfrm>
            <a:off x="812800" y="1776090"/>
            <a:ext cx="10566400" cy="0"/>
          </a:xfrm>
          <a:prstGeom prst="line">
            <a:avLst/>
          </a:prstGeom>
          <a:noFill/>
          <a:ln w="6350">
            <a:solidFill>
              <a:srgbClr val="C9CFD9"/>
            </a:solidFill>
            <a:prstDash val="solid"/>
          </a:ln>
        </p:spPr>
      </p:sp>
      <p:sp>
        <p:nvSpPr>
          <p:cNvPr id="5" name="Text 3"/>
          <p:cNvSpPr/>
          <p:nvPr/>
        </p:nvSpPr>
        <p:spPr>
          <a:xfrm>
            <a:off x="812800" y="1905000"/>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In silico, one model class</a:t>
            </a:r>
            <a:endParaRPr lang="en-US" sz="1500" dirty="0"/>
          </a:p>
        </p:txBody>
      </p:sp>
      <p:sp>
        <p:nvSpPr>
          <p:cNvPr id="6" name="Text 4"/>
          <p:cNvSpPr/>
          <p:nvPr/>
        </p:nvSpPr>
        <p:spPr>
          <a:xfrm>
            <a:off x="4876800" y="1905000"/>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Two well-mixed populations; no space, pharmacokinetics or plasticity.</a:t>
            </a:r>
            <a:endParaRPr lang="en-US" sz="1300" dirty="0"/>
          </a:p>
        </p:txBody>
      </p:sp>
      <p:sp>
        <p:nvSpPr>
          <p:cNvPr id="7" name="Shape 5"/>
          <p:cNvSpPr/>
          <p:nvPr/>
        </p:nvSpPr>
        <p:spPr>
          <a:xfrm>
            <a:off x="812800" y="2301875"/>
            <a:ext cx="10566400" cy="0"/>
          </a:xfrm>
          <a:prstGeom prst="line">
            <a:avLst/>
          </a:prstGeom>
          <a:noFill/>
          <a:ln w="6350">
            <a:solidFill>
              <a:srgbClr val="C9CFD9"/>
            </a:solidFill>
            <a:prstDash val="solid"/>
          </a:ln>
        </p:spPr>
      </p:sp>
      <p:sp>
        <p:nvSpPr>
          <p:cNvPr id="8" name="Text 6"/>
          <p:cNvSpPr/>
          <p:nvPr/>
        </p:nvSpPr>
        <p:spPr>
          <a:xfrm>
            <a:off x="812800" y="2430785"/>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Few full-matrix patients</a:t>
            </a:r>
            <a:endParaRPr lang="en-US" sz="1500" dirty="0"/>
          </a:p>
        </p:txBody>
      </p:sp>
      <p:sp>
        <p:nvSpPr>
          <p:cNvPr id="9" name="Text 7"/>
          <p:cNvSpPr/>
          <p:nvPr/>
        </p:nvSpPr>
        <p:spPr>
          <a:xfrm>
            <a:off x="4876800" y="2430785"/>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Three reference patients, plus optimum-only maps over 25 more.</a:t>
            </a:r>
            <a:endParaRPr lang="en-US" sz="1300" dirty="0"/>
          </a:p>
        </p:txBody>
      </p:sp>
      <p:sp>
        <p:nvSpPr>
          <p:cNvPr id="10" name="Shape 8"/>
          <p:cNvSpPr/>
          <p:nvPr/>
        </p:nvSpPr>
        <p:spPr>
          <a:xfrm>
            <a:off x="812800" y="2827660"/>
            <a:ext cx="10566400" cy="0"/>
          </a:xfrm>
          <a:prstGeom prst="line">
            <a:avLst/>
          </a:prstGeom>
          <a:noFill/>
          <a:ln w="6350">
            <a:solidFill>
              <a:srgbClr val="C9CFD9"/>
            </a:solidFill>
            <a:prstDash val="solid"/>
          </a:ln>
        </p:spPr>
      </p:sp>
      <p:sp>
        <p:nvSpPr>
          <p:cNvPr id="11" name="Text 9"/>
          <p:cNvSpPr/>
          <p:nvPr/>
        </p:nvSpPr>
        <p:spPr>
          <a:xfrm>
            <a:off x="812800" y="2956558"/>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Oracle observation</a:t>
            </a:r>
            <a:endParaRPr lang="en-US" sz="1500" dirty="0"/>
          </a:p>
        </p:txBody>
      </p:sp>
      <p:sp>
        <p:nvSpPr>
          <p:cNvPr id="12" name="Text 10"/>
          <p:cNvSpPr/>
          <p:nvPr/>
        </p:nvSpPr>
        <p:spPr>
          <a:xfrm>
            <a:off x="4876800" y="2956558"/>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main comparison lets the agent see composition, which clinicians cannot.</a:t>
            </a:r>
            <a:endParaRPr lang="en-US" sz="1300" dirty="0"/>
          </a:p>
        </p:txBody>
      </p:sp>
      <p:sp>
        <p:nvSpPr>
          <p:cNvPr id="13" name="Shape 11"/>
          <p:cNvSpPr/>
          <p:nvPr/>
        </p:nvSpPr>
        <p:spPr>
          <a:xfrm>
            <a:off x="812800" y="3353433"/>
            <a:ext cx="10566400" cy="0"/>
          </a:xfrm>
          <a:prstGeom prst="line">
            <a:avLst/>
          </a:prstGeom>
          <a:noFill/>
          <a:ln w="6350">
            <a:solidFill>
              <a:srgbClr val="C9CFD9"/>
            </a:solidFill>
            <a:prstDash val="solid"/>
          </a:ln>
        </p:spPr>
      </p:sp>
      <p:sp>
        <p:nvSpPr>
          <p:cNvPr id="14" name="Text 12"/>
          <p:cNvSpPr/>
          <p:nvPr/>
        </p:nvSpPr>
        <p:spPr>
          <a:xfrm>
            <a:off x="812800" y="3482342"/>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Ports are interpretations</a:t>
            </a:r>
            <a:endParaRPr lang="en-US" sz="1500" dirty="0"/>
          </a:p>
        </p:txBody>
      </p:sp>
      <p:sp>
        <p:nvSpPr>
          <p:cNvPr id="15" name="Text 13"/>
          <p:cNvSpPr/>
          <p:nvPr/>
        </p:nvSpPr>
        <p:spPr>
          <a:xfrm>
            <a:off x="4876800" y="3482342"/>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R2’s penalty, R3’s scaling and R4’s weekly form are our choices.</a:t>
            </a:r>
            <a:endParaRPr lang="en-US" sz="1300" dirty="0"/>
          </a:p>
        </p:txBody>
      </p:sp>
      <p:sp>
        <p:nvSpPr>
          <p:cNvPr id="16" name="Shape 14"/>
          <p:cNvSpPr/>
          <p:nvPr/>
        </p:nvSpPr>
        <p:spPr>
          <a:xfrm>
            <a:off x="812800" y="3879217"/>
            <a:ext cx="10566400" cy="0"/>
          </a:xfrm>
          <a:prstGeom prst="line">
            <a:avLst/>
          </a:prstGeom>
          <a:noFill/>
          <a:ln w="6350">
            <a:solidFill>
              <a:srgbClr val="C9CFD9"/>
            </a:solidFill>
            <a:prstDash val="solid"/>
          </a:ln>
        </p:spPr>
      </p:sp>
      <p:sp>
        <p:nvSpPr>
          <p:cNvPr id="17" name="Shape 15"/>
          <p:cNvSpPr/>
          <p:nvPr/>
        </p:nvSpPr>
        <p:spPr>
          <a:xfrm>
            <a:off x="812800" y="4403728"/>
            <a:ext cx="10566400" cy="0"/>
          </a:xfrm>
          <a:prstGeom prst="line">
            <a:avLst/>
          </a:prstGeom>
          <a:noFill/>
          <a:ln w="6350">
            <a:solidFill>
              <a:srgbClr val="C9CFD9"/>
            </a:solidFill>
            <a:prstDash val="solid"/>
          </a:ln>
        </p:spPr>
      </p:sp>
      <p:sp>
        <p:nvSpPr>
          <p:cNvPr id="18" name="Text 16"/>
          <p:cNvSpPr/>
          <p:nvPr/>
        </p:nvSpPr>
        <p:spPr>
          <a:xfrm>
            <a:off x="812800" y="4008115"/>
            <a:ext cx="39243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3D"/>
                </a:solidFill>
                <a:latin typeface="IBM Plex Sans" pitchFamily="34" charset="0"/>
                <a:ea typeface="IBM Plex Sans" pitchFamily="34" charset="-122"/>
                <a:cs typeface="IBM Plex Sans" pitchFamily="34" charset="-120"/>
              </a:rPr>
              <a:t>No clinical claim</a:t>
            </a:r>
            <a:endParaRPr lang="en-US" sz="1500" dirty="0"/>
          </a:p>
        </p:txBody>
      </p:sp>
      <p:sp>
        <p:nvSpPr>
          <p:cNvPr id="19" name="Text 17"/>
          <p:cNvSpPr/>
          <p:nvPr/>
        </p:nvSpPr>
        <p:spPr>
          <a:xfrm>
            <a:off x="4876800" y="4008115"/>
            <a:ext cx="669747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Adaptive therapy itself is not clinically established (Mistry 2021).</a:t>
            </a:r>
            <a:endParaRPr lang="en-US" sz="1300" dirty="0"/>
          </a:p>
        </p:txBody>
      </p:sp>
      <p:sp>
        <p:nvSpPr>
          <p:cNvPr id="20" name="Text 18"/>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1" name="Text 19"/>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3"/>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B6CB0"/>
                </a:solidFill>
                <a:latin typeface="IBM Plex Sans" pitchFamily="34" charset="0"/>
                <a:ea typeface="IBM Plex Sans" pitchFamily="34" charset="-122"/>
                <a:cs typeface="IBM Plex Sans" pitchFamily="34" charset="-120"/>
              </a:rPr>
              <a:t>WHAT COMES NEXT</a:t>
            </a:r>
            <a:endParaRPr lang="en-US" sz="1200" dirty="0"/>
          </a:p>
        </p:txBody>
      </p:sp>
      <p:sp>
        <p:nvSpPr>
          <p:cNvPr id="3" name="Text 1"/>
          <p:cNvSpPr/>
          <p:nvPr>
            <p:ph type="title"/>
          </p:nvPr>
        </p:nvSpPr>
        <p:spPr>
          <a:xfrm>
            <a:off x="812800" y="1102358"/>
            <a:ext cx="10883392" cy="49276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13D"/>
                </a:solidFill>
                <a:latin typeface="Source Serif 4" pitchFamily="18" charset="0"/>
                <a:ea typeface="Source Serif 4" pitchFamily="18" charset="-122"/>
                <a:cs typeface="Source Serif 4" pitchFamily="18" charset="-120"/>
              </a:rPr>
              <a:t>Next experiments, and the article</a:t>
            </a:r>
            <a:endParaRPr lang="en-US" sz="3200" dirty="0"/>
          </a:p>
        </p:txBody>
      </p:sp>
      <p:sp>
        <p:nvSpPr>
          <p:cNvPr id="4" name="Shape 2"/>
          <p:cNvSpPr/>
          <p:nvPr/>
        </p:nvSpPr>
        <p:spPr>
          <a:xfrm>
            <a:off x="815975" y="1776090"/>
            <a:ext cx="5187950" cy="1113790"/>
          </a:xfrm>
          <a:prstGeom prst="roundRect">
            <a:avLst>
              <a:gd name="adj" fmla="val 6556"/>
            </a:avLst>
          </a:prstGeom>
          <a:solidFill>
            <a:srgbClr val="FFFFFF"/>
          </a:solidFill>
          <a:ln w="6350">
            <a:solidFill>
              <a:srgbClr val="E2DED3"/>
            </a:solidFill>
            <a:prstDash val="solid"/>
          </a:ln>
        </p:spPr>
      </p:sp>
      <p:sp>
        <p:nvSpPr>
          <p:cNvPr id="5" name="Text 3"/>
          <p:cNvSpPr/>
          <p:nvPr/>
        </p:nvSpPr>
        <p:spPr>
          <a:xfrm>
            <a:off x="1046480" y="1955800"/>
            <a:ext cx="48687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Noisy or delayed readings</a:t>
            </a:r>
            <a:endParaRPr lang="en-US" sz="1500" dirty="0"/>
          </a:p>
        </p:txBody>
      </p:sp>
      <p:sp>
        <p:nvSpPr>
          <p:cNvPr id="6" name="Text 4"/>
          <p:cNvSpPr/>
          <p:nvPr/>
        </p:nvSpPr>
        <p:spPr>
          <a:xfrm>
            <a:off x="1046480" y="2247900"/>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Observation is our strongest lever; test it with realistic measurements.</a:t>
            </a:r>
            <a:endParaRPr lang="en-US" sz="1300" dirty="0"/>
          </a:p>
        </p:txBody>
      </p:sp>
      <p:sp>
        <p:nvSpPr>
          <p:cNvPr id="7" name="Shape 5"/>
          <p:cNvSpPr/>
          <p:nvPr/>
        </p:nvSpPr>
        <p:spPr>
          <a:xfrm>
            <a:off x="6188075" y="1776090"/>
            <a:ext cx="5187950" cy="1113790"/>
          </a:xfrm>
          <a:prstGeom prst="roundRect">
            <a:avLst>
              <a:gd name="adj" fmla="val 6556"/>
            </a:avLst>
          </a:prstGeom>
          <a:solidFill>
            <a:srgbClr val="FFFFFF"/>
          </a:solidFill>
          <a:ln w="6350">
            <a:solidFill>
              <a:srgbClr val="E2DED3"/>
            </a:solidFill>
            <a:prstDash val="solid"/>
          </a:ln>
        </p:spPr>
      </p:sp>
      <p:sp>
        <p:nvSpPr>
          <p:cNvPr id="8" name="Text 6"/>
          <p:cNvSpPr/>
          <p:nvPr/>
        </p:nvSpPr>
        <p:spPr>
          <a:xfrm>
            <a:off x="6418580" y="1955800"/>
            <a:ext cx="48687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PPO on doses {0, 2/3, 1}</a:t>
            </a:r>
            <a:endParaRPr lang="en-US" sz="1500" dirty="0"/>
          </a:p>
        </p:txBody>
      </p:sp>
      <p:sp>
        <p:nvSpPr>
          <p:cNvPr id="9" name="Text 7"/>
          <p:cNvSpPr/>
          <p:nvPr/>
        </p:nvSpPr>
        <p:spPr>
          <a:xfrm>
            <a:off x="6418580" y="2247900"/>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growth-halting dose gave the planner most of its gain. Can agents learn it?</a:t>
            </a:r>
            <a:endParaRPr lang="en-US" sz="1300" dirty="0"/>
          </a:p>
        </p:txBody>
      </p:sp>
      <p:sp>
        <p:nvSpPr>
          <p:cNvPr id="10" name="Shape 8"/>
          <p:cNvSpPr/>
          <p:nvPr/>
        </p:nvSpPr>
        <p:spPr>
          <a:xfrm>
            <a:off x="815975" y="3074033"/>
            <a:ext cx="5187950" cy="1113790"/>
          </a:xfrm>
          <a:prstGeom prst="roundRect">
            <a:avLst>
              <a:gd name="adj" fmla="val 6556"/>
            </a:avLst>
          </a:prstGeom>
          <a:solidFill>
            <a:srgbClr val="FFFFFF"/>
          </a:solidFill>
          <a:ln w="6350">
            <a:solidFill>
              <a:srgbClr val="E2DED3"/>
            </a:solidFill>
            <a:prstDash val="solid"/>
          </a:ln>
        </p:spPr>
      </p:sp>
      <p:sp>
        <p:nvSpPr>
          <p:cNvPr id="11" name="Text 9"/>
          <p:cNvSpPr/>
          <p:nvPr/>
        </p:nvSpPr>
        <p:spPr>
          <a:xfrm>
            <a:off x="1046480" y="3253742"/>
            <a:ext cx="48687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Previous dose in the input</a:t>
            </a:r>
            <a:endParaRPr lang="en-US" sz="1500" dirty="0"/>
          </a:p>
        </p:txBody>
      </p:sp>
      <p:sp>
        <p:nvSpPr>
          <p:cNvPr id="12" name="Text 10"/>
          <p:cNvSpPr/>
          <p:nvPr/>
        </p:nvSpPr>
        <p:spPr>
          <a:xfrm>
            <a:off x="1046480" y="3545842"/>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Let PPO learn switching costs that we so far solved only by value iteration.</a:t>
            </a:r>
            <a:endParaRPr lang="en-US" sz="1300" dirty="0"/>
          </a:p>
        </p:txBody>
      </p:sp>
      <p:sp>
        <p:nvSpPr>
          <p:cNvPr id="13" name="Shape 11"/>
          <p:cNvSpPr/>
          <p:nvPr/>
        </p:nvSpPr>
        <p:spPr>
          <a:xfrm>
            <a:off x="6188075" y="3074033"/>
            <a:ext cx="5187950" cy="1113790"/>
          </a:xfrm>
          <a:prstGeom prst="roundRect">
            <a:avLst>
              <a:gd name="adj" fmla="val 6556"/>
            </a:avLst>
          </a:prstGeom>
          <a:solidFill>
            <a:srgbClr val="FFFFFF"/>
          </a:solidFill>
          <a:ln w="6350">
            <a:solidFill>
              <a:srgbClr val="E2DED3"/>
            </a:solidFill>
            <a:prstDash val="solid"/>
          </a:ln>
        </p:spPr>
      </p:sp>
      <p:sp>
        <p:nvSpPr>
          <p:cNvPr id="14" name="Text 12"/>
          <p:cNvSpPr/>
          <p:nvPr/>
        </p:nvSpPr>
        <p:spPr>
          <a:xfrm>
            <a:off x="6418580" y="3253742"/>
            <a:ext cx="48687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4213D"/>
                </a:solidFill>
                <a:latin typeface="IBM Plex Sans" pitchFamily="34" charset="0"/>
                <a:ea typeface="IBM Plex Sans" pitchFamily="34" charset="-122"/>
                <a:cs typeface="IBM Plex Sans" pitchFamily="34" charset="-120"/>
              </a:rPr>
              <a:t>A toxicity objective</a:t>
            </a:r>
            <a:endParaRPr lang="en-US" sz="1500" dirty="0"/>
          </a:p>
        </p:txBody>
      </p:sp>
      <p:sp>
        <p:nvSpPr>
          <p:cNvPr id="15" name="Text 13"/>
          <p:cNvSpPr/>
          <p:nvPr/>
        </p:nvSpPr>
        <p:spPr>
          <a:xfrm>
            <a:off x="6418580" y="3545842"/>
            <a:ext cx="4868748"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IBM Plex Sans" pitchFamily="34" charset="0"/>
                <a:ea typeface="IBM Plex Sans" pitchFamily="34" charset="-122"/>
                <a:cs typeface="IBM Plex Sans" pitchFamily="34" charset="-120"/>
              </a:rPr>
              <a:t>The likeliest route to a durability goal that truly conflicts with survival.</a:t>
            </a:r>
            <a:endParaRPr lang="en-US" sz="1300" dirty="0"/>
          </a:p>
        </p:txBody>
      </p:sp>
      <p:sp>
        <p:nvSpPr>
          <p:cNvPr id="16" name="Shape 14"/>
          <p:cNvSpPr/>
          <p:nvPr/>
        </p:nvSpPr>
        <p:spPr>
          <a:xfrm>
            <a:off x="812800" y="4394200"/>
            <a:ext cx="10566400" cy="558800"/>
          </a:xfrm>
          <a:prstGeom prst="roundRect">
            <a:avLst>
              <a:gd name="adj" fmla="val 13636"/>
            </a:avLst>
          </a:prstGeom>
          <a:solidFill>
            <a:srgbClr val="14213D"/>
          </a:solidFill>
          <a:ln/>
        </p:spPr>
      </p:sp>
      <p:pic>
        <p:nvPicPr>
          <p:cNvPr id="17" name="Image 0" descr="Book">    </p:cNvPr>
          <p:cNvPicPr>
            <a:picLocks noChangeAspect="1"/>
          </p:cNvPicPr>
          <p:nvPr/>
        </p:nvPicPr>
        <p:blipFill>
          <a:blip r:embed="rId1"/>
          <a:srcRect l="0" r="0" t="0" b="0"/>
          <a:stretch/>
        </p:blipFill>
        <p:spPr>
          <a:xfrm>
            <a:off x="1041400" y="4546600"/>
            <a:ext cx="254000" cy="254000"/>
          </a:xfrm>
          <a:prstGeom prst="rect">
            <a:avLst/>
          </a:prstGeom>
        </p:spPr>
      </p:pic>
      <p:sp>
        <p:nvSpPr>
          <p:cNvPr id="18" name="Text 15"/>
          <p:cNvSpPr/>
          <p:nvPr/>
        </p:nvSpPr>
        <p:spPr>
          <a:xfrm>
            <a:off x="1447800" y="4558035"/>
            <a:ext cx="554253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EFE6"/>
                </a:solidFill>
                <a:latin typeface="IBM Plex Sans" pitchFamily="34" charset="0"/>
                <a:ea typeface="IBM Plex Sans" pitchFamily="34" charset="-122"/>
                <a:cs typeface="IBM Plex Sans" pitchFamily="34" charset="-120"/>
              </a:rPr>
              <a:t>Draft research article: </a:t>
            </a:r>
            <a:r>
              <a:rPr lang="en-US" sz="1300" u="sng" dirty="0">
                <a:solidFill>
                  <a:srgbClr val="E8A27C"/>
                </a:solidFill>
                <a:latin typeface="IBM Plex Sans" pitchFamily="34" charset="0"/>
                <a:ea typeface="IBM Plex Sans" pitchFamily="34" charset="-122"/>
                <a:cs typeface="IBM Plex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What should adaptive therapy optimise?</a:t>
            </a:r>
            <a:endParaRPr lang="en-US" sz="1300" dirty="0"/>
          </a:p>
        </p:txBody>
      </p:sp>
      <p:sp>
        <p:nvSpPr>
          <p:cNvPr id="19" name="Text 16"/>
          <p:cNvSpPr/>
          <p:nvPr/>
        </p:nvSpPr>
        <p:spPr>
          <a:xfrm>
            <a:off x="812800" y="6238242"/>
            <a:ext cx="328993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What should adaptive therapy optimise?</a:t>
            </a:r>
            <a:endParaRPr lang="en-US" sz="1200" dirty="0"/>
          </a:p>
        </p:txBody>
      </p:sp>
      <p:sp>
        <p:nvSpPr>
          <p:cNvPr id="20" name="Text 17"/>
          <p:cNvSpPr/>
          <p:nvPr/>
        </p:nvSpPr>
        <p:spPr>
          <a:xfrm>
            <a:off x="11145520" y="6238242"/>
            <a:ext cx="23368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B7280"/>
                </a:solidFill>
                <a:latin typeface="IBM Plex Sans" pitchFamily="34" charset="0"/>
                <a:ea typeface="IBM Plex Sans" pitchFamily="34" charset="-122"/>
                <a:cs typeface="IBM Plex Sans"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50" kern="0" dirty="0">
                <a:solidFill>
                  <a:srgbClr val="E8A27C"/>
                </a:solidFill>
                <a:latin typeface="IBM Plex Sans" pitchFamily="34" charset="0"/>
                <a:ea typeface="IBM Plex Sans" pitchFamily="34" charset="-122"/>
                <a:cs typeface="IBM Plex Sans" pitchFamily="34" charset="-120"/>
              </a:rPr>
              <a:t>IN ONE SENTENCE</a:t>
            </a:r>
            <a:endParaRPr lang="en-US" sz="1200" dirty="0"/>
          </a:p>
        </p:txBody>
      </p:sp>
      <p:sp>
        <p:nvSpPr>
          <p:cNvPr id="3" name="Text 1"/>
          <p:cNvSpPr/>
          <p:nvPr>
            <p:ph type="title"/>
          </p:nvPr>
        </p:nvSpPr>
        <p:spPr>
          <a:xfrm>
            <a:off x="812800" y="2382515"/>
            <a:ext cx="10883392" cy="1732280"/>
          </a:xfrm>
          <a:prstGeom prst="rect">
            <a:avLst/>
          </a:prstGeom>
          <a:noFill/>
          <a:ln/>
        </p:spPr>
        <p:txBody>
          <a:bodyPr wrap="square" lIns="0" tIns="0" rIns="0" bIns="0" rtlCol="0" anchor="t">
            <a:normAutofit/>
          </a:bodyPr>
          <a:lstStyle/>
          <a:p>
            <a:pPr algn="l" indent="0" marL="0">
              <a:lnSpc>
                <a:spcPts val="4480"/>
              </a:lnSpc>
              <a:buNone/>
            </a:pPr>
            <a:r>
              <a:rPr lang="en-US" sz="4000" b="1" i="0" dirty="0">
                <a:solidFill>
                  <a:srgbClr val="F3EFE6"/>
                </a:solidFill>
                <a:latin typeface="Source Serif 4" pitchFamily="18" charset="0"/>
                <a:ea typeface="Source Serif 4" pitchFamily="18" charset="-122"/>
                <a:cs typeface="Source Serif 4" pitchFamily="18" charset="-120"/>
              </a:rPr>
              <a:t>Containment wins, and what the clinician can see decides how much the objective matters.</a:t>
            </a:r>
            <a:endParaRPr lang="en-US" sz="4000" dirty="0"/>
          </a:p>
        </p:txBody>
      </p:sp>
      <p:pic>
        <p:nvPicPr>
          <p:cNvPr id="4" name="Image 0" descr="line">    </p:cNvPr>
          <p:cNvPicPr>
            <a:picLocks noChangeAspect="1"/>
          </p:cNvPicPr>
          <p:nvPr/>
        </p:nvPicPr>
        <p:blipFill>
          <a:blip r:embed="rId1"/>
          <a:srcRect l="0" r="0" t="0" b="0"/>
          <a:stretch/>
        </p:blipFill>
        <p:spPr>
          <a:xfrm>
            <a:off x="812800" y="4343400"/>
            <a:ext cx="1016000" cy="25400"/>
          </a:xfrm>
          <a:prstGeom prst="rect">
            <a:avLst/>
          </a:prstGeom>
        </p:spPr>
      </p:pic>
      <p:sp>
        <p:nvSpPr>
          <p:cNvPr id="5" name="Text 2"/>
          <p:cNvSpPr/>
          <p:nvPr/>
        </p:nvSpPr>
        <p:spPr>
          <a:xfrm>
            <a:off x="812800" y="5725158"/>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FC8D8"/>
                </a:solidFill>
                <a:latin typeface="IBM Plex Sans" pitchFamily="34" charset="0"/>
                <a:ea typeface="IBM Plex Sans" pitchFamily="34" charset="-122"/>
                <a:cs typeface="IBM Plex Sans" pitchFamily="34" charset="-120"/>
              </a:rPr>
              <a:t>Thank you · Questions</a:t>
            </a:r>
            <a:endParaRPr lang="en-US" sz="1800" dirty="0"/>
          </a:p>
        </p:txBody>
      </p:sp>
    </p:spTree>
  </p:cSld>
  <p:clrMapOvr>
    <a:masterClrMapping/>
  </p:clrMapOvr>
</p:sld>
</file>

<file path=ppt/theme/theme1.xml><?xml version="1.0" encoding="utf-8"?>
<a:theme xmlns:a="http://schemas.openxmlformats.org/drawingml/2006/main" name="Adaptive Therapy RL — Project Review">
  <a:themeElements>
    <a:clrScheme name="Adaptive Therapy RL — Project Review">
      <a:dk1>
        <a:srgbClr val="14213D"/>
      </a:dk1>
      <a:lt1>
        <a:srgbClr val="FAF8F3"/>
      </a:lt1>
      <a:dk2>
        <a:srgbClr val="4E576B"/>
      </a:dk2>
      <a:lt2>
        <a:srgbClr val="E3E3E1"/>
      </a:lt2>
      <a:accent1>
        <a:srgbClr val="2B6CB0"/>
      </a:accent1>
      <a:accent2>
        <a:srgbClr val="E8A27C"/>
      </a:accent2>
      <a:accent3>
        <a:srgbClr val="B54A1A"/>
      </a:accent3>
      <a:accent4>
        <a:srgbClr val="4A5568"/>
      </a:accent4>
      <a:accent5>
        <a:srgbClr val="6B7280"/>
      </a:accent5>
      <a:accent6>
        <a:srgbClr val="BFC8D8"/>
      </a:accent6>
      <a:hlink>
        <a:srgbClr val="0563C1"/>
      </a:hlink>
      <a:folHlink>
        <a:srgbClr val="954F72"/>
      </a:folHlink>
    </a:clrScheme>
    <a:fontScheme name="Adaptive Therapy RL — Project Review">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Adaptive Therapy RL — Project Review</dc:title>
  <dc:subject/>
  <dc:creator/>
  <cp:lastModifiedBy/>
  <cp:revision>1</cp:revision>
  <dcterms:created xsi:type="dcterms:W3CDTF">2026-10-22T15:27:10Z</dcterms:created>
  <dcterms:modified xsi:type="dcterms:W3CDTF">2026-10-22T15:27:10Z</dcterms:modified>
</cp:coreProperties>
</file>