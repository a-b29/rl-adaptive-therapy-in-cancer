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5893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Two-member team. The project asks whether the reward objective an adaptive-therapy RL agent is trained on actually changes the treatment policy it learns.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The whole project is one question. Everything after this is either evidence that the question is open, or the design that answers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is ours — we implemented the ODE model ourselves. Point at the three progression markers.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competitive release. Right panel: containment. The Zhang trial is the reason this is not purely theoretical.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Gluzman is optimal control, not RL — we label it correctly rather than calling all six RL papers.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is verified verbatim from the PDF. It is the strongest single piece of evidence that the gap is real and acknowledged in the field.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normalisation and the continuous progression check — both are implementation traps that cost a week if found late.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sharpest attack available and we answer it head-on. The claim becomes "reached 96% of the computable optimum", not "beat AT50".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the entropy objective: because it would have produced a foregone conclusion. Choosing the pair that maximises information, not the pair that maximises apparent difference.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Plausible rather than perverse: durability is instrumentally useful over long horizons while a per-step survival bonus can be myopic.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says "just do one patient for the MVP" — this is the answer. The cohort is load-bearing, not a stretch goal.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objective has its own optimum, so value iteration is solved separately per objective — a column of ceilings, not one number.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Pre-registering the significance threshold is what separates a result from noise. Say that we commit to it now.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credibility slide. We are not proposing to start — we have started, and the environment already reproduces the literature to within 1% on one benchmark.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members review each other code; the write-up is shared. Leads indicate primary ownership, not sole ownership.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4 decision point is the single most important line here — it guarantees a submittable result regardless of how training goes.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West et al. 2023 pose exactly this question in their survey of open problems — what should the control target be.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falsifiability point — it is what makes this a real experiment rather than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Yao 2024 and Gevertz 2026 are named in the proposal as to-be-retrieved in Week 1 and are deliberately not listed here as verified.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66928" y="1188720"/>
            <a:ext cx="2395728" cy="310896"/>
          </a:xfrm>
          <a:prstGeom prst="roundRect">
            <a:avLst>
              <a:gd name="adj" fmla="val 50000"/>
            </a:avLst>
          </a:prstGeom>
          <a:solidFill>
            <a:srgbClr val="27344F"/>
          </a:solidFill>
          <a:ln w="9525">
            <a:solidFill>
              <a:srgbClr val="3A4767"/>
            </a:solidFill>
            <a:prstDash val="solid"/>
          </a:ln>
        </p:spPr>
      </p:sp>
      <p:sp>
        <p:nvSpPr>
          <p:cNvPr id="3" name="Text 1"/>
          <p:cNvSpPr txBox="1"/>
          <p:nvPr/>
        </p:nvSpPr>
        <p:spPr>
          <a:xfrm>
            <a:off x="566928" y="1188720"/>
            <a:ext cx="2395728" cy="310896"/>
          </a:xfrm>
          <a:prstGeom prst="rect">
            <a:avLst/>
          </a:prstGeom>
          <a:noFill/>
          <a:ln/>
        </p:spPr>
        <p:txBody>
          <a:bodyPr wrap="square" lIns="0" tIns="0" rIns="0" bIns="0" rtlCol="0" anchor="ctr"/>
          <a:lstStyle/>
          <a:p>
            <a:pPr marL="0" indent="0" algn="ctr">
              <a:buNone/>
            </a:pPr>
            <a:r>
              <a:rPr lang="en-US" sz="950" b="1" kern="0" spc="110" dirty="0">
                <a:solidFill>
                  <a:srgbClr val="9FB6C9"/>
                </a:solidFill>
                <a:latin typeface="Calibri" pitchFamily="34" charset="0"/>
                <a:ea typeface="Calibri" pitchFamily="34" charset="-122"/>
                <a:cs typeface="Calibri" pitchFamily="34" charset="-120"/>
              </a:rPr>
              <a:t>AI IN MEDICINE  ·  SEMESTER 5</a:t>
            </a:r>
            <a:endParaRPr lang="en-US" sz="950" dirty="0"/>
          </a:p>
        </p:txBody>
      </p:sp>
      <p:sp>
        <p:nvSpPr>
          <p:cNvPr id="4" name="Text 2"/>
          <p:cNvSpPr txBox="1"/>
          <p:nvPr/>
        </p:nvSpPr>
        <p:spPr>
          <a:xfrm>
            <a:off x="566928" y="1783080"/>
            <a:ext cx="10241280" cy="1700784"/>
          </a:xfrm>
          <a:prstGeom prst="rect">
            <a:avLst/>
          </a:prstGeom>
          <a:noFill/>
          <a:ln/>
        </p:spPr>
        <p:txBody>
          <a:bodyPr wrap="square" lIns="0" tIns="0" rIns="0" bIns="0" rtlCol="0" anchor="t"/>
          <a:lstStyle/>
          <a:p>
            <a:pPr marL="0" indent="0">
              <a:lnSpc>
                <a:spcPts val="5600"/>
              </a:lnSpc>
              <a:buNone/>
            </a:pPr>
            <a:r>
              <a:rPr lang="en-US" sz="4700" b="1" dirty="0">
                <a:solidFill>
                  <a:srgbClr val="FFFFFF"/>
                </a:solidFill>
                <a:latin typeface="Calibri" pitchFamily="34" charset="0"/>
                <a:ea typeface="Calibri" pitchFamily="34" charset="-122"/>
                <a:cs typeface="Calibri" pitchFamily="34" charset="-120"/>
              </a:rPr>
              <a:t>What Should Adaptive</a:t>
            </a:r>
            <a:endParaRPr lang="en-US" sz="4700" dirty="0"/>
          </a:p>
          <a:p>
            <a:pPr marL="0" indent="0">
              <a:lnSpc>
                <a:spcPts val="5600"/>
              </a:lnSpc>
              <a:buNone/>
            </a:pPr>
            <a:r>
              <a:rPr lang="en-US" sz="4700" b="1" dirty="0">
                <a:solidFill>
                  <a:srgbClr val="FFFFFF"/>
                </a:solidFill>
                <a:latin typeface="Calibri" pitchFamily="34" charset="0"/>
                <a:ea typeface="Calibri" pitchFamily="34" charset="-122"/>
                <a:cs typeface="Calibri" pitchFamily="34" charset="-120"/>
              </a:rPr>
              <a:t>Cancer Therapy Optimize?</a:t>
            </a:r>
            <a:endParaRPr lang="en-US" sz="4700" dirty="0"/>
          </a:p>
        </p:txBody>
      </p:sp>
      <p:sp>
        <p:nvSpPr>
          <p:cNvPr id="5" name="Text 3"/>
          <p:cNvSpPr txBox="1"/>
          <p:nvPr/>
        </p:nvSpPr>
        <p:spPr>
          <a:xfrm>
            <a:off x="566928" y="3529584"/>
            <a:ext cx="9509760" cy="402336"/>
          </a:xfrm>
          <a:prstGeom prst="rect">
            <a:avLst/>
          </a:prstGeom>
          <a:noFill/>
          <a:ln/>
        </p:spPr>
        <p:txBody>
          <a:bodyPr wrap="square" lIns="0" tIns="0" rIns="0" bIns="0" rtlCol="0" anchor="ctr"/>
          <a:lstStyle/>
          <a:p>
            <a:pPr marL="0" indent="0">
              <a:buNone/>
            </a:pPr>
            <a:r>
              <a:rPr lang="en-US" sz="1900" dirty="0">
                <a:solidFill>
                  <a:srgbClr val="C7D6E0"/>
                </a:solidFill>
                <a:latin typeface="Calibri" pitchFamily="34" charset="0"/>
                <a:ea typeface="Calibri" pitchFamily="34" charset="-122"/>
                <a:cs typeface="Calibri" pitchFamily="34" charset="-120"/>
              </a:rPr>
              <a:t>A controlled cross-evaluation of reinforcement-learning reward objectives</a:t>
            </a:r>
            <a:endParaRPr lang="en-US" sz="1900" dirty="0"/>
          </a:p>
        </p:txBody>
      </p:sp>
      <p:sp>
        <p:nvSpPr>
          <p:cNvPr id="6" name="Shape 4"/>
          <p:cNvSpPr/>
          <p:nvPr/>
        </p:nvSpPr>
        <p:spPr>
          <a:xfrm>
            <a:off x="566928" y="4224528"/>
            <a:ext cx="2011680" cy="32004"/>
          </a:xfrm>
          <a:prstGeom prst="rect">
            <a:avLst/>
          </a:prstGeom>
          <a:solidFill>
            <a:srgbClr val="1A8F7B"/>
          </a:solidFill>
          <a:ln w="12700">
            <a:solidFill>
              <a:srgbClr val="333333"/>
            </a:solidFill>
            <a:prstDash val="solid"/>
          </a:ln>
        </p:spPr>
      </p:sp>
      <p:sp>
        <p:nvSpPr>
          <p:cNvPr id="7" name="Text 5"/>
          <p:cNvSpPr txBox="1"/>
          <p:nvPr/>
        </p:nvSpPr>
        <p:spPr>
          <a:xfrm>
            <a:off x="566928" y="4526280"/>
            <a:ext cx="4937760" cy="822960"/>
          </a:xfrm>
          <a:prstGeom prst="rect">
            <a:avLst/>
          </a:prstGeom>
          <a:noFill/>
          <a:ln/>
        </p:spPr>
        <p:txBody>
          <a:bodyPr wrap="square" lIns="0" tIns="0" rIns="0" bIns="0" rtlCol="0" anchor="ctr"/>
          <a:lstStyle/>
          <a:p>
            <a:pPr marL="0" indent="0">
              <a:lnSpc>
                <a:spcPts val="2600"/>
              </a:lnSpc>
              <a:buNone/>
            </a:pPr>
            <a:r>
              <a:rPr lang="en-US" sz="1600" b="1" dirty="0">
                <a:solidFill>
                  <a:srgbClr val="FFFFFF"/>
                </a:solidFill>
                <a:latin typeface="Calibri" pitchFamily="34" charset="0"/>
                <a:ea typeface="Calibri" pitchFamily="34" charset="-122"/>
                <a:cs typeface="Calibri" pitchFamily="34" charset="-120"/>
              </a:rPr>
              <a:t>Arnav Kumar</a:t>
            </a:r>
            <a:r>
              <a:rPr lang="en-US" sz="1400" dirty="0">
                <a:solidFill>
                  <a:srgbClr val="9FB6C9"/>
                </a:solidFill>
                <a:latin typeface="Calibri" pitchFamily="34" charset="0"/>
                <a:ea typeface="Calibri" pitchFamily="34" charset="-122"/>
                <a:cs typeface="Calibri" pitchFamily="34" charset="-120"/>
              </a:rPr>
              <a:t>   MD24B003</a:t>
            </a:r>
            <a:endParaRPr lang="en-US" sz="1600" dirty="0"/>
          </a:p>
          <a:p>
            <a:pPr marL="0" indent="0">
              <a:lnSpc>
                <a:spcPts val="2600"/>
              </a:lnSpc>
              <a:buNone/>
            </a:pPr>
            <a:r>
              <a:rPr lang="en-US" sz="1600" b="1" dirty="0">
                <a:solidFill>
                  <a:srgbClr val="FFFFFF"/>
                </a:solidFill>
                <a:latin typeface="Calibri" pitchFamily="34" charset="0"/>
                <a:ea typeface="Calibri" pitchFamily="34" charset="-122"/>
                <a:cs typeface="Calibri" pitchFamily="34" charset="-120"/>
              </a:rPr>
              <a:t>Rohit Satish Chipde</a:t>
            </a:r>
            <a:r>
              <a:rPr lang="en-US" sz="1400" dirty="0">
                <a:solidFill>
                  <a:srgbClr val="9FB6C9"/>
                </a:solidFill>
                <a:latin typeface="Calibri" pitchFamily="34" charset="0"/>
                <a:ea typeface="Calibri" pitchFamily="34" charset="-122"/>
                <a:cs typeface="Calibri" pitchFamily="34" charset="-120"/>
              </a:rPr>
              <a:t>   MD24B026</a:t>
            </a:r>
            <a:endParaRPr lang="en-US" sz="1600" dirty="0"/>
          </a:p>
        </p:txBody>
      </p:sp>
      <p:sp>
        <p:nvSpPr>
          <p:cNvPr id="8" name="Text 6"/>
          <p:cNvSpPr txBox="1"/>
          <p:nvPr/>
        </p:nvSpPr>
        <p:spPr>
          <a:xfrm>
            <a:off x="6035040" y="4526280"/>
            <a:ext cx="5577840" cy="822960"/>
          </a:xfrm>
          <a:prstGeom prst="rect">
            <a:avLst/>
          </a:prstGeom>
          <a:noFill/>
          <a:ln/>
        </p:spPr>
        <p:txBody>
          <a:bodyPr wrap="square" lIns="0" tIns="0" rIns="0" bIns="0" rtlCol="0" anchor="ctr"/>
          <a:lstStyle/>
          <a:p>
            <a:pPr marL="0" indent="0">
              <a:lnSpc>
                <a:spcPts val="2400"/>
              </a:lnSpc>
              <a:buNone/>
            </a:pPr>
            <a:r>
              <a:rPr lang="en-US" sz="1400" dirty="0">
                <a:solidFill>
                  <a:srgbClr val="9FB6C9"/>
                </a:solidFill>
                <a:latin typeface="Calibri" pitchFamily="34" charset="0"/>
                <a:ea typeface="Calibri" pitchFamily="34" charset="-122"/>
                <a:cs typeface="Calibri" pitchFamily="34" charset="-120"/>
              </a:rPr>
              <a:t>Department of Medical Sciences &amp; Technology</a:t>
            </a:r>
            <a:endParaRPr lang="en-US" sz="1400" dirty="0"/>
          </a:p>
          <a:p>
            <a:pPr marL="0" indent="0">
              <a:lnSpc>
                <a:spcPts val="2400"/>
              </a:lnSpc>
              <a:buNone/>
            </a:pPr>
            <a:r>
              <a:rPr lang="en-US" sz="1400" dirty="0">
                <a:solidFill>
                  <a:srgbClr val="9FB6C9"/>
                </a:solidFill>
                <a:latin typeface="Calibri" pitchFamily="34" charset="0"/>
                <a:ea typeface="Calibri" pitchFamily="34" charset="-122"/>
                <a:cs typeface="Calibri" pitchFamily="34" charset="-120"/>
              </a:rPr>
              <a:t>Indian Institute of Technology Madras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1A8F7B"/>
                </a:solidFill>
                <a:latin typeface="Calibri" pitchFamily="34" charset="0"/>
                <a:ea typeface="Calibri" pitchFamily="34" charset="-122"/>
                <a:cs typeface="Calibri" pitchFamily="34" charset="-120"/>
              </a:rPr>
              <a:t>THE QUESTION</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endParaRPr lang="en-US" sz="3000" dirty="0"/>
          </a:p>
        </p:txBody>
      </p:sp>
      <p:sp>
        <p:nvSpPr>
          <p:cNvPr id="4" name="Text 2"/>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5B6A85"/>
                </a:solidFill>
                <a:latin typeface="Calibri" pitchFamily="34" charset="0"/>
                <a:ea typeface="Calibri" pitchFamily="34" charset="-122"/>
                <a:cs typeface="Calibri" pitchFamily="34" charset="-120"/>
              </a:rPr>
              <a:t>1</a:t>
            </a:r>
            <a:endParaRPr lang="en-US" sz="1000" dirty="0"/>
          </a:p>
        </p:txBody>
      </p:sp>
      <p:sp>
        <p:nvSpPr>
          <p:cNvPr id="5" name="Text 3"/>
          <p:cNvSpPr txBox="1"/>
          <p:nvPr/>
        </p:nvSpPr>
        <p:spPr>
          <a:xfrm>
            <a:off x="566928" y="1508760"/>
            <a:ext cx="10607040" cy="1051560"/>
          </a:xfrm>
          <a:prstGeom prst="rect">
            <a:avLst/>
          </a:prstGeom>
          <a:noFill/>
          <a:ln/>
        </p:spPr>
        <p:txBody>
          <a:bodyPr wrap="square" lIns="0" tIns="0" rIns="0" bIns="0" rtlCol="0" anchor="t"/>
          <a:lstStyle/>
          <a:p>
            <a:pPr marL="0" indent="0">
              <a:lnSpc>
                <a:spcPts val="4200"/>
              </a:lnSpc>
              <a:buNone/>
            </a:pPr>
            <a:r>
              <a:rPr lang="en-US" sz="2900" dirty="0">
                <a:solidFill>
                  <a:srgbClr val="C7D6E0"/>
                </a:solidFill>
                <a:latin typeface="Calibri" pitchFamily="34" charset="0"/>
                <a:ea typeface="Calibri" pitchFamily="34" charset="-122"/>
                <a:cs typeface="Calibri" pitchFamily="34" charset="-120"/>
              </a:rPr>
              <a:t>Six published RL studies of adaptive therapy each optimise</a:t>
            </a:r>
            <a:endParaRPr lang="en-US" sz="2900" dirty="0"/>
          </a:p>
          <a:p>
            <a:pPr marL="0" indent="0">
              <a:lnSpc>
                <a:spcPts val="4200"/>
              </a:lnSpc>
              <a:buNone/>
            </a:pPr>
            <a:r>
              <a:rPr lang="en-US" sz="2900" dirty="0">
                <a:solidFill>
                  <a:srgbClr val="C7D6E0"/>
                </a:solidFill>
                <a:latin typeface="Calibri" pitchFamily="34" charset="0"/>
                <a:ea typeface="Calibri" pitchFamily="34" charset="-122"/>
                <a:cs typeface="Calibri" pitchFamily="34" charset="-120"/>
              </a:rPr>
              <a:t>a different objective.</a:t>
            </a:r>
            <a:endParaRPr lang="en-US" sz="2900" dirty="0"/>
          </a:p>
        </p:txBody>
      </p:sp>
      <p:sp>
        <p:nvSpPr>
          <p:cNvPr id="6" name="Text 4"/>
          <p:cNvSpPr txBox="1"/>
          <p:nvPr/>
        </p:nvSpPr>
        <p:spPr>
          <a:xfrm>
            <a:off x="566928" y="2633472"/>
            <a:ext cx="10607040" cy="566928"/>
          </a:xfrm>
          <a:prstGeom prst="rect">
            <a:avLst/>
          </a:prstGeom>
          <a:noFill/>
          <a:ln/>
        </p:spPr>
        <p:txBody>
          <a:bodyPr wrap="square" lIns="0" tIns="0" rIns="0" bIns="0"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Not one compares its objective against another.</a:t>
            </a:r>
            <a:endParaRPr lang="en-US" sz="2900" dirty="0"/>
          </a:p>
        </p:txBody>
      </p:sp>
      <p:sp>
        <p:nvSpPr>
          <p:cNvPr id="7" name="Shape 5"/>
          <p:cNvSpPr/>
          <p:nvPr/>
        </p:nvSpPr>
        <p:spPr>
          <a:xfrm>
            <a:off x="566928" y="3657600"/>
            <a:ext cx="10607040" cy="1481328"/>
          </a:xfrm>
          <a:prstGeom prst="roundRect">
            <a:avLst>
              <a:gd name="adj" fmla="val 4938"/>
            </a:avLst>
          </a:prstGeom>
          <a:solidFill>
            <a:srgbClr val="22304C"/>
          </a:solidFill>
          <a:ln w="15875">
            <a:solidFill>
              <a:srgbClr val="1A8F7B"/>
            </a:solidFill>
            <a:prstDash val="solid"/>
          </a:ln>
        </p:spPr>
      </p:sp>
      <p:sp>
        <p:nvSpPr>
          <p:cNvPr id="8" name="Text 6"/>
          <p:cNvSpPr txBox="1"/>
          <p:nvPr/>
        </p:nvSpPr>
        <p:spPr>
          <a:xfrm>
            <a:off x="950976" y="3858768"/>
            <a:ext cx="9875520" cy="1097280"/>
          </a:xfrm>
          <a:prstGeom prst="rect">
            <a:avLst/>
          </a:prstGeom>
          <a:noFill/>
          <a:ln/>
        </p:spPr>
        <p:txBody>
          <a:bodyPr wrap="square" lIns="0" tIns="0" rIns="0" bIns="0" rtlCol="0" anchor="ctr"/>
          <a:lstStyle/>
          <a:p>
            <a:pPr marL="0" indent="0">
              <a:lnSpc>
                <a:spcPts val="3100"/>
              </a:lnSpc>
              <a:buNone/>
            </a:pPr>
            <a:r>
              <a:rPr lang="en-US" sz="2000" b="1" dirty="0">
                <a:solidFill>
                  <a:srgbClr val="FFFFFF"/>
                </a:solidFill>
                <a:latin typeface="Calibri" pitchFamily="34" charset="0"/>
                <a:ea typeface="Calibri" pitchFamily="34" charset="-122"/>
                <a:cs typeface="Calibri" pitchFamily="34" charset="-120"/>
              </a:rPr>
              <a:t>Does the choice of reward objective change the treatment policy —</a:t>
            </a:r>
            <a:endParaRPr lang="en-US" sz="2000" dirty="0"/>
          </a:p>
          <a:p>
            <a:pPr marL="0" indent="0">
              <a:lnSpc>
                <a:spcPts val="3100"/>
              </a:lnSpc>
              <a:buNone/>
            </a:pPr>
            <a:r>
              <a:rPr lang="en-US" sz="2000" b="1" dirty="0">
                <a:solidFill>
                  <a:srgbClr val="FFFFFF"/>
                </a:solidFill>
                <a:latin typeface="Calibri" pitchFamily="34" charset="0"/>
                <a:ea typeface="Calibri" pitchFamily="34" charset="-122"/>
                <a:cs typeface="Calibri" pitchFamily="34" charset="-120"/>
              </a:rPr>
              <a:t>and if so, by how much, and at what cost on the objectives it was not trained for?</a:t>
            </a:r>
            <a:endParaRPr lang="en-US" sz="2000" dirty="0"/>
          </a:p>
        </p:txBody>
      </p:sp>
      <p:sp>
        <p:nvSpPr>
          <p:cNvPr id="9" name="Text 7"/>
          <p:cNvSpPr txBox="1"/>
          <p:nvPr/>
        </p:nvSpPr>
        <p:spPr>
          <a:xfrm>
            <a:off x="566928" y="5358384"/>
            <a:ext cx="10607040" cy="365760"/>
          </a:xfrm>
          <a:prstGeom prst="rect">
            <a:avLst/>
          </a:prstGeom>
          <a:noFill/>
          <a:ln/>
        </p:spPr>
        <p:txBody>
          <a:bodyPr wrap="square" lIns="0" tIns="0" rIns="0" bIns="0" rtlCol="0" anchor="ctr"/>
          <a:lstStyle/>
          <a:p>
            <a:pPr marL="0" indent="0">
              <a:buNone/>
            </a:pPr>
            <a:r>
              <a:rPr lang="en-US" sz="1350" i="1" dirty="0">
                <a:solidFill>
                  <a:srgbClr val="8FA3BC"/>
                </a:solidFill>
                <a:latin typeface="Calibri" pitchFamily="34" charset="0"/>
                <a:ea typeface="Calibri" pitchFamily="34" charset="-122"/>
                <a:cs typeface="Calibri" pitchFamily="34" charset="-120"/>
              </a:rPr>
              <a:t>This is a comparative contribution, not a new algorithm. PPO is the instrument, deliberately not the claim.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THE CLINICAL PROBLEM</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Continuous dosing selects for resistance</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2</a:t>
            </a:r>
            <a:endParaRPr lang="en-US" sz="1000" dirty="0"/>
          </a:p>
        </p:txBody>
      </p:sp>
      <p:sp>
        <p:nvSpPr>
          <p:cNvPr id="7" name="Text 5"/>
          <p:cNvSpPr txBox="1"/>
          <p:nvPr/>
        </p:nvSpPr>
        <p:spPr>
          <a:xfrm>
            <a:off x="566928" y="1389888"/>
            <a:ext cx="11027664" cy="822960"/>
          </a:xfrm>
          <a:prstGeom prst="rect">
            <a:avLst/>
          </a:prstGeom>
          <a:noFill/>
          <a:ln/>
        </p:spPr>
        <p:txBody>
          <a:bodyPr wrap="square" lIns="0" tIns="0" rIns="0" bIns="0" rtlCol="0" anchor="t"/>
          <a:lstStyle/>
          <a:p>
            <a:pPr marL="0" indent="0">
              <a:lnSpc>
                <a:spcPts val="2100"/>
              </a:lnSpc>
              <a:buNone/>
            </a:pPr>
            <a:r>
              <a:rPr lang="en-US" sz="1450" dirty="0">
                <a:solidFill>
                  <a:srgbClr val="2A2A2A"/>
                </a:solidFill>
                <a:latin typeface="Calibri" pitchFamily="34" charset="0"/>
                <a:ea typeface="Calibri" pitchFamily="34" charset="-122"/>
                <a:cs typeface="Calibri" pitchFamily="34" charset="-120"/>
              </a:rPr>
              <a:t>Maximum-tolerated-dose therapy kills sensitive cells fastest — and by clearing them, releases the resistant clone from competition into an emptied niche. Competitive release is the dominant failure mode of systemic therapy.</a:t>
            </a:r>
            <a:endParaRPr lang="en-US" sz="1450" dirty="0"/>
          </a:p>
        </p:txBody>
      </p:sp>
      <p:pic>
        <p:nvPicPr>
          <p:cNvPr id="8" name="Image 0" descr="/home/claude/figs/fig1_trajectories.png"/>
          <p:cNvPicPr>
            <a:picLocks noChangeAspect="1"/>
          </p:cNvPicPr>
          <p:nvPr/>
        </p:nvPicPr>
        <p:blipFill>
          <a:blip r:embed="rId3"/>
          <a:stretch>
            <a:fillRect/>
          </a:stretch>
        </p:blipFill>
        <p:spPr>
          <a:xfrm>
            <a:off x="566928" y="2084832"/>
            <a:ext cx="7360920" cy="3566160"/>
          </a:xfrm>
          <a:prstGeom prst="rect">
            <a:avLst/>
          </a:prstGeom>
        </p:spPr>
      </p:pic>
      <p:sp>
        <p:nvSpPr>
          <p:cNvPr id="9" name="Shape 6"/>
          <p:cNvSpPr/>
          <p:nvPr/>
        </p:nvSpPr>
        <p:spPr>
          <a:xfrm>
            <a:off x="8266176" y="2084832"/>
            <a:ext cx="2907792" cy="3017520"/>
          </a:xfrm>
          <a:prstGeom prst="roundRect">
            <a:avLst>
              <a:gd name="adj" fmla="val 2201"/>
            </a:avLst>
          </a:prstGeom>
          <a:solidFill>
            <a:srgbClr val="F4F6F7"/>
          </a:solidFill>
          <a:ln w="12700">
            <a:solidFill>
              <a:srgbClr val="E3E8EC"/>
            </a:solidFill>
            <a:prstDash val="solid"/>
          </a:ln>
        </p:spPr>
      </p:sp>
      <p:sp>
        <p:nvSpPr>
          <p:cNvPr id="10" name="Text 7"/>
          <p:cNvSpPr txBox="1"/>
          <p:nvPr/>
        </p:nvSpPr>
        <p:spPr>
          <a:xfrm>
            <a:off x="8503920" y="2267712"/>
            <a:ext cx="2432304" cy="274320"/>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Adaptive therapy</a:t>
            </a:r>
            <a:endParaRPr lang="en-US" sz="1450" dirty="0"/>
          </a:p>
        </p:txBody>
      </p:sp>
      <p:sp>
        <p:nvSpPr>
          <p:cNvPr id="11" name="Text 8"/>
          <p:cNvSpPr txBox="1"/>
          <p:nvPr/>
        </p:nvSpPr>
        <p:spPr>
          <a:xfrm>
            <a:off x="8503920" y="2633472"/>
            <a:ext cx="2432304" cy="2286000"/>
          </a:xfrm>
          <a:prstGeom prst="rect">
            <a:avLst/>
          </a:prstGeom>
          <a:noFill/>
          <a:ln/>
        </p:spPr>
        <p:txBody>
          <a:bodyPr wrap="square" lIns="0" tIns="0" rIns="0" bIns="0" rtlCol="0" anchor="t"/>
          <a:lstStyle/>
          <a:p>
            <a:pPr marL="0" indent="0">
              <a:lnSpc>
                <a:spcPts val="1900"/>
              </a:lnSpc>
              <a:buNone/>
            </a:pPr>
            <a:r>
              <a:rPr lang="en-US" sz="1250" dirty="0">
                <a:solidFill>
                  <a:srgbClr val="2A2A2A"/>
                </a:solidFill>
                <a:latin typeface="Calibri" pitchFamily="34" charset="0"/>
                <a:ea typeface="Calibri" pitchFamily="34" charset="-122"/>
                <a:cs typeface="Calibri" pitchFamily="34" charset="-120"/>
              </a:rPr>
              <a:t>Withdraw drug once the burden falls, retaining sensitive cells to suppress the resistant population; resume when it recovers.</a:t>
            </a:r>
            <a:endParaRPr lang="en-US" sz="1250" dirty="0"/>
          </a:p>
          <a:p>
            <a:pPr marL="0" indent="0">
              <a:lnSpc>
                <a:spcPts val="1900"/>
              </a:lnSpc>
              <a:buNone/>
            </a:pPr>
            <a:endParaRPr lang="en-US" sz="1250" dirty="0"/>
          </a:p>
          <a:p>
            <a:pPr marL="0" indent="0">
              <a:lnSpc>
                <a:spcPts val="1900"/>
              </a:lnSpc>
              <a:buNone/>
            </a:pPr>
            <a:r>
              <a:rPr lang="en-US" sz="1250" dirty="0">
                <a:solidFill>
                  <a:srgbClr val="2A2A2A"/>
                </a:solidFill>
                <a:latin typeface="Calibri" pitchFamily="34" charset="0"/>
                <a:ea typeface="Calibri" pitchFamily="34" charset="-122"/>
                <a:cs typeface="Calibri" pitchFamily="34" charset="-120"/>
              </a:rPr>
              <a:t>The tumour is contained rather than cured — progression is deferred, not raced toward.</a:t>
            </a:r>
            <a:endParaRPr lang="en-US" sz="1250" dirty="0"/>
          </a:p>
        </p:txBody>
      </p:sp>
      <p:sp>
        <p:nvSpPr>
          <p:cNvPr id="12" name="Text 9"/>
          <p:cNvSpPr txBox="1"/>
          <p:nvPr/>
        </p:nvSpPr>
        <p:spPr>
          <a:xfrm>
            <a:off x="566928" y="5760720"/>
            <a:ext cx="7360920" cy="274320"/>
          </a:xfrm>
          <a:prstGeom prst="rect">
            <a:avLst/>
          </a:prstGeom>
          <a:noFill/>
          <a:ln/>
        </p:spPr>
        <p:txBody>
          <a:bodyPr wrap="square" lIns="0" tIns="0" rIns="0" bIns="0" rtlCol="0" anchor="ctr"/>
          <a:lstStyle/>
          <a:p>
            <a:pPr marL="0" indent="0">
              <a:buNone/>
            </a:pPr>
            <a:r>
              <a:rPr lang="en-US" sz="1100" i="1" dirty="0">
                <a:solidFill>
                  <a:srgbClr val="8A8A8A"/>
                </a:solidFill>
                <a:latin typeface="Calibri" pitchFamily="34" charset="0"/>
                <a:ea typeface="Calibri" pitchFamily="34" charset="-122"/>
                <a:cs typeface="Calibri" pitchFamily="34" charset="-120"/>
              </a:rPr>
              <a:t>Our own simulation of the Strobl (2021) model — not a figure reproduced from a paper.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THE MECHANISM</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Why withholding the drug buys time</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3</a:t>
            </a:r>
            <a:endParaRPr lang="en-US" sz="1000" dirty="0"/>
          </a:p>
        </p:txBody>
      </p:sp>
      <p:pic>
        <p:nvPicPr>
          <p:cNvPr id="7" name="Image 0" descr="/home/claude/figs/fig2_mechanism.png"/>
          <p:cNvPicPr>
            <a:picLocks noChangeAspect="1"/>
          </p:cNvPicPr>
          <p:nvPr/>
        </p:nvPicPr>
        <p:blipFill>
          <a:blip r:embed="rId3"/>
          <a:stretch>
            <a:fillRect/>
          </a:stretch>
        </p:blipFill>
        <p:spPr>
          <a:xfrm>
            <a:off x="566928" y="1335024"/>
            <a:ext cx="7772400" cy="3209544"/>
          </a:xfrm>
          <a:prstGeom prst="rect">
            <a:avLst/>
          </a:prstGeom>
        </p:spPr>
      </p:pic>
      <p:sp>
        <p:nvSpPr>
          <p:cNvPr id="8" name="Shape 5"/>
          <p:cNvSpPr/>
          <p:nvPr/>
        </p:nvSpPr>
        <p:spPr>
          <a:xfrm>
            <a:off x="8668512" y="1335024"/>
            <a:ext cx="2505456" cy="1572768"/>
          </a:xfrm>
          <a:prstGeom prst="roundRect">
            <a:avLst>
              <a:gd name="adj" fmla="val 4070"/>
            </a:avLst>
          </a:prstGeom>
          <a:solidFill>
            <a:srgbClr val="F0F7F5"/>
          </a:solidFill>
          <a:ln w="12700">
            <a:solidFill>
              <a:srgbClr val="CBE3DC"/>
            </a:solidFill>
            <a:prstDash val="solid"/>
          </a:ln>
        </p:spPr>
      </p:sp>
      <p:sp>
        <p:nvSpPr>
          <p:cNvPr id="9" name="Text 6"/>
          <p:cNvSpPr txBox="1"/>
          <p:nvPr/>
        </p:nvSpPr>
        <p:spPr>
          <a:xfrm>
            <a:off x="8906256" y="1517904"/>
            <a:ext cx="2029968" cy="274320"/>
          </a:xfrm>
          <a:prstGeom prst="rect">
            <a:avLst/>
          </a:prstGeom>
          <a:noFill/>
          <a:ln/>
        </p:spPr>
        <p:txBody>
          <a:bodyPr wrap="square" lIns="0" tIns="0" rIns="0" bIns="0" rtlCol="0" anchor="t"/>
          <a:lstStyle/>
          <a:p>
            <a:pPr marL="0" indent="0">
              <a:buNone/>
            </a:pPr>
            <a:r>
              <a:rPr lang="en-US" sz="1450" b="1" dirty="0">
                <a:solidFill>
                  <a:srgbClr val="0F6E5F"/>
                </a:solidFill>
                <a:latin typeface="Calibri" pitchFamily="34" charset="0"/>
                <a:ea typeface="Calibri" pitchFamily="34" charset="-122"/>
                <a:cs typeface="Calibri" pitchFamily="34" charset="-120"/>
              </a:rPr>
              <a:t>Clinical evidence</a:t>
            </a:r>
            <a:endParaRPr lang="en-US" sz="1450" dirty="0"/>
          </a:p>
        </p:txBody>
      </p:sp>
      <p:sp>
        <p:nvSpPr>
          <p:cNvPr id="10" name="Text 7"/>
          <p:cNvSpPr txBox="1"/>
          <p:nvPr/>
        </p:nvSpPr>
        <p:spPr>
          <a:xfrm>
            <a:off x="8906256" y="1883664"/>
            <a:ext cx="2029968" cy="841248"/>
          </a:xfrm>
          <a:prstGeom prst="rect">
            <a:avLst/>
          </a:prstGeom>
          <a:noFill/>
          <a:ln/>
        </p:spPr>
        <p:txBody>
          <a:bodyPr wrap="square" lIns="0" tIns="0" rIns="0" bIns="0" rtlCol="0" anchor="t"/>
          <a:lstStyle/>
          <a:p>
            <a:pPr marL="0" indent="0">
              <a:lnSpc>
                <a:spcPts val="1900"/>
              </a:lnSpc>
              <a:buNone/>
            </a:pPr>
            <a:r>
              <a:rPr lang="en-US" sz="1200" dirty="0">
                <a:solidFill>
                  <a:srgbClr val="2A2A2A"/>
                </a:solidFill>
                <a:latin typeface="Calibri" pitchFamily="34" charset="0"/>
                <a:ea typeface="Calibri" pitchFamily="34" charset="-122"/>
                <a:cs typeface="Calibri" pitchFamily="34" charset="-120"/>
              </a:rPr>
              <a:t>Not only a modelling claim — a prospective pilot in mCRPC.</a:t>
            </a:r>
            <a:endParaRPr lang="en-US" sz="1200" dirty="0"/>
          </a:p>
        </p:txBody>
      </p:sp>
      <p:sp>
        <p:nvSpPr>
          <p:cNvPr id="11" name="Text 8"/>
          <p:cNvSpPr txBox="1"/>
          <p:nvPr/>
        </p:nvSpPr>
        <p:spPr>
          <a:xfrm>
            <a:off x="8668512" y="3054096"/>
            <a:ext cx="2505456" cy="786384"/>
          </a:xfrm>
          <a:prstGeom prst="rect">
            <a:avLst/>
          </a:prstGeom>
          <a:noFill/>
          <a:ln/>
        </p:spPr>
        <p:txBody>
          <a:bodyPr wrap="square" lIns="0" tIns="0" rIns="0" bIns="0" rtlCol="0" anchor="ctr"/>
          <a:lstStyle/>
          <a:p>
            <a:pPr marL="0" indent="0" algn="ctr">
              <a:buNone/>
            </a:pPr>
            <a:r>
              <a:rPr lang="en-US" sz="4600" b="1" dirty="0">
                <a:solidFill>
                  <a:srgbClr val="0F6E5F"/>
                </a:solidFill>
                <a:latin typeface="Calibri" pitchFamily="34" charset="0"/>
                <a:ea typeface="Calibri" pitchFamily="34" charset="-122"/>
                <a:cs typeface="Calibri" pitchFamily="34" charset="-120"/>
              </a:rPr>
              <a:t>~½</a:t>
            </a:r>
            <a:endParaRPr lang="en-US" sz="4600" dirty="0"/>
          </a:p>
        </p:txBody>
      </p:sp>
      <p:sp>
        <p:nvSpPr>
          <p:cNvPr id="12" name="Text 9"/>
          <p:cNvSpPr txBox="1"/>
          <p:nvPr/>
        </p:nvSpPr>
        <p:spPr>
          <a:xfrm>
            <a:off x="8668512" y="3822192"/>
            <a:ext cx="2505456" cy="566928"/>
          </a:xfrm>
          <a:prstGeom prst="rect">
            <a:avLst/>
          </a:prstGeom>
          <a:noFill/>
          <a:ln/>
        </p:spPr>
        <p:txBody>
          <a:bodyPr wrap="square" lIns="0" tIns="0" rIns="0" bIns="0" rtlCol="0" anchor="t"/>
          <a:lstStyle/>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the cumulative abiraterone dose of the standard continuous schedule</a:t>
            </a:r>
            <a:endParaRPr lang="en-US" sz="1250" dirty="0"/>
          </a:p>
        </p:txBody>
      </p:sp>
      <p:sp>
        <p:nvSpPr>
          <p:cNvPr id="13" name="Text 10"/>
          <p:cNvSpPr txBox="1"/>
          <p:nvPr/>
        </p:nvSpPr>
        <p:spPr>
          <a:xfrm>
            <a:off x="8668512" y="4828032"/>
            <a:ext cx="2505456" cy="548640"/>
          </a:xfrm>
          <a:prstGeom prst="rect">
            <a:avLst/>
          </a:prstGeom>
          <a:noFill/>
          <a:ln/>
        </p:spPr>
        <p:txBody>
          <a:bodyPr wrap="square" lIns="0" tIns="0" rIns="0" bIns="0" rtlCol="0" anchor="ctr"/>
          <a:lstStyle/>
          <a:p>
            <a:pPr marL="0" indent="0">
              <a:lnSpc>
                <a:spcPts val="1400"/>
              </a:lnSpc>
              <a:buNone/>
            </a:pPr>
            <a:r>
              <a:rPr lang="en-US" sz="1050" dirty="0">
                <a:solidFill>
                  <a:srgbClr val="8A8A8A"/>
                </a:solidFill>
                <a:latin typeface="Calibri" pitchFamily="34" charset="0"/>
                <a:ea typeface="Calibri" pitchFamily="34" charset="-122"/>
                <a:cs typeface="Calibri" pitchFamily="34" charset="-120"/>
              </a:rPr>
              <a:t>Zhang et al., Nature Communications 2017;  follow-up in eLife 2022</a:t>
            </a:r>
            <a:endParaRPr lang="en-US" sz="1050" dirty="0"/>
          </a:p>
        </p:txBody>
      </p:sp>
      <p:sp>
        <p:nvSpPr>
          <p:cNvPr id="14" name="Text 11"/>
          <p:cNvSpPr txBox="1"/>
          <p:nvPr/>
        </p:nvSpPr>
        <p:spPr>
          <a:xfrm>
            <a:off x="566928" y="5449824"/>
            <a:ext cx="7772400" cy="822960"/>
          </a:xfrm>
          <a:prstGeom prst="rect">
            <a:avLst/>
          </a:prstGeom>
          <a:noFill/>
          <a:ln/>
        </p:spPr>
        <p:txBody>
          <a:bodyPr wrap="square" lIns="0" tIns="0" rIns="0" bIns="0" rtlCol="0" anchor="t"/>
          <a:lstStyle/>
          <a:p>
            <a:pPr marL="0" indent="0">
              <a:lnSpc>
                <a:spcPts val="1900"/>
              </a:lnSpc>
              <a:buNone/>
            </a:pPr>
            <a:r>
              <a:rPr lang="en-US" sz="1350" dirty="0">
                <a:solidFill>
                  <a:srgbClr val="5A5A5A"/>
                </a:solidFill>
                <a:latin typeface="Calibri" pitchFamily="34" charset="0"/>
                <a:ea typeface="Calibri" pitchFamily="34" charset="-122"/>
                <a:cs typeface="Calibri" pitchFamily="34" charset="-120"/>
              </a:rPr>
              <a:t>Under MTD the sensitive pool is eradicated and the resistant clone expands unopposed. Under adaptive therapy the sensitive pool is repeatedly rebuilt, and it keeps doing the suppressing.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PRIOR WORK</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Six papers, six objectives, zero comparisons</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4</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444752"/>
          <a:ext cx="11026749" cy="2301240"/>
        </p:xfrm>
        <a:graphic>
          <a:graphicData uri="http://schemas.openxmlformats.org/drawingml/2006/table">
            <a:tbl>
              <a:tblPr/>
              <a:tblGrid>
                <a:gridCol w="2321662">
                  <a:extLst>
                    <a:ext uri="{9D8B030D-6E8A-4147-A177-3AD203B41FA5}">
                      <a16:colId xmlns:a16="http://schemas.microsoft.com/office/drawing/2014/main" val="20000"/>
                    </a:ext>
                  </a:extLst>
                </a:gridCol>
                <a:gridCol w="3946550">
                  <a:extLst>
                    <a:ext uri="{9D8B030D-6E8A-4147-A177-3AD203B41FA5}">
                      <a16:colId xmlns:a16="http://schemas.microsoft.com/office/drawing/2014/main" val="20001"/>
                    </a:ext>
                  </a:extLst>
                </a:gridCol>
                <a:gridCol w="3482035">
                  <a:extLst>
                    <a:ext uri="{9D8B030D-6E8A-4147-A177-3AD203B41FA5}">
                      <a16:colId xmlns:a16="http://schemas.microsoft.com/office/drawing/2014/main" val="20002"/>
                    </a:ext>
                  </a:extLst>
                </a:gridCol>
                <a:gridCol w="1276502">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Study</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reward optimises</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Environment</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Compares?</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Gallagher 2023/24</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Survival time + drug-holiday bonus</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2-pop Lotka-Volterra (Strobl)</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Ma 2026</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Same weights, "adapted and simplified"</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2-pop LV, cytostatic drug</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Giles &amp; Newton 2026</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Shannon entropy of composition</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Moran process, fixed N</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Weaver 2024</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1 − population fitness</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Empirical fitness landscapes</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Yao 2024</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Durability: post-withdrawal regrowth</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ODE tumour–immune</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Gluzman 2020</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Cumulative dose + time  (optimal control, not RL)</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Replicator EGT</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bl>
          </a:graphicData>
        </a:graphic>
      </p:graphicFrame>
      <p:sp>
        <p:nvSpPr>
          <p:cNvPr id="8" name="Shape 5"/>
          <p:cNvSpPr/>
          <p:nvPr/>
        </p:nvSpPr>
        <p:spPr>
          <a:xfrm>
            <a:off x="566928" y="4334256"/>
            <a:ext cx="11027664" cy="914400"/>
          </a:xfrm>
          <a:prstGeom prst="roundRect">
            <a:avLst>
              <a:gd name="adj" fmla="val 7000"/>
            </a:avLst>
          </a:prstGeom>
          <a:solidFill>
            <a:srgbClr val="E8F1FB"/>
          </a:solidFill>
          <a:ln w="12700">
            <a:solidFill>
              <a:srgbClr val="C5DCF6"/>
            </a:solidFill>
            <a:prstDash val="solid"/>
          </a:ln>
        </p:spPr>
      </p:sp>
      <p:sp>
        <p:nvSpPr>
          <p:cNvPr id="9" name="Text 6"/>
          <p:cNvSpPr txBox="1"/>
          <p:nvPr/>
        </p:nvSpPr>
        <p:spPr>
          <a:xfrm>
            <a:off x="877824" y="4334256"/>
            <a:ext cx="10405872" cy="9144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Every objective is welded to the environment it was written for — and that welding is exactly why the comparison has never been run.</a:t>
            </a:r>
            <a:endParaRPr lang="en-US" sz="1500" dirty="0"/>
          </a:p>
        </p:txBody>
      </p:sp>
      <p:sp>
        <p:nvSpPr>
          <p:cNvPr id="10" name="Text 7"/>
          <p:cNvSpPr txBox="1"/>
          <p:nvPr/>
        </p:nvSpPr>
        <p:spPr>
          <a:xfrm>
            <a:off x="566928" y="5468112"/>
            <a:ext cx="11027664" cy="822960"/>
          </a:xfrm>
          <a:prstGeom prst="rect">
            <a:avLst/>
          </a:prstGeom>
          <a:noFill/>
          <a:ln/>
        </p:spPr>
        <p:txBody>
          <a:bodyPr wrap="square" lIns="0" tIns="0" rIns="0" bIns="0" rtlCol="0" anchor="t"/>
          <a:lstStyle/>
          <a:p>
            <a:pPr marL="0" indent="0">
              <a:lnSpc>
                <a:spcPts val="1800"/>
              </a:lnSpc>
              <a:buNone/>
            </a:pPr>
            <a:r>
              <a:rPr lang="en-US" sz="1300" dirty="0">
                <a:solidFill>
                  <a:srgbClr val="5A5A5A"/>
                </a:solidFill>
                <a:latin typeface="Calibri" pitchFamily="34" charset="0"/>
                <a:ea typeface="Calibri" pitchFamily="34" charset="-122"/>
                <a:cs typeface="Calibri" pitchFamily="34" charset="-120"/>
              </a:rPr>
              <a:t>Note that Gluzman is optimal control rather than reinforcement learning — we label it as such rather than describing all six as RL papers.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THE GAP</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The objectives are not commensurable as written</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5</a:t>
            </a:r>
            <a:endParaRPr lang="en-US" sz="1000" dirty="0"/>
          </a:p>
        </p:txBody>
      </p:sp>
      <p:sp>
        <p:nvSpPr>
          <p:cNvPr id="7" name="Shape 5"/>
          <p:cNvSpPr/>
          <p:nvPr/>
        </p:nvSpPr>
        <p:spPr>
          <a:xfrm>
            <a:off x="566928" y="1426464"/>
            <a:ext cx="3465576" cy="1792224"/>
          </a:xfrm>
          <a:prstGeom prst="roundRect">
            <a:avLst>
              <a:gd name="adj" fmla="val 3571"/>
            </a:avLst>
          </a:prstGeom>
          <a:solidFill>
            <a:srgbClr val="F4F6F7"/>
          </a:solidFill>
          <a:ln w="12700">
            <a:solidFill>
              <a:srgbClr val="E3E8EC"/>
            </a:solidFill>
            <a:prstDash val="solid"/>
          </a:ln>
        </p:spPr>
      </p:sp>
      <p:sp>
        <p:nvSpPr>
          <p:cNvPr id="8" name="Text 6"/>
          <p:cNvSpPr txBox="1"/>
          <p:nvPr/>
        </p:nvSpPr>
        <p:spPr>
          <a:xfrm>
            <a:off x="804672" y="1609344"/>
            <a:ext cx="2990088" cy="274320"/>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Entropy over 3 populations</a:t>
            </a:r>
            <a:endParaRPr lang="en-US" sz="1450" dirty="0"/>
          </a:p>
        </p:txBody>
      </p:sp>
      <p:sp>
        <p:nvSpPr>
          <p:cNvPr id="9" name="Text 7"/>
          <p:cNvSpPr txBox="1"/>
          <p:nvPr/>
        </p:nvSpPr>
        <p:spPr>
          <a:xfrm>
            <a:off x="804672" y="1975104"/>
            <a:ext cx="2990088" cy="1060704"/>
          </a:xfrm>
          <a:prstGeom prst="rect">
            <a:avLst/>
          </a:prstGeom>
          <a:noFill/>
          <a:ln/>
        </p:spPr>
        <p:txBody>
          <a:bodyPr wrap="square" lIns="0" tIns="0" rIns="0" bIns="0" rtlCol="0" anchor="t"/>
          <a:lstStyle/>
          <a:p>
            <a:pPr marL="0" indent="0">
              <a:lnSpc>
                <a:spcPts val="1900"/>
              </a:lnSpc>
              <a:buNone/>
            </a:pPr>
            <a:r>
              <a:rPr lang="en-US" sz="1250" dirty="0">
                <a:solidFill>
                  <a:srgbClr val="2A2A2A"/>
                </a:solidFill>
                <a:latin typeface="Calibri" pitchFamily="34" charset="0"/>
                <a:ea typeface="Calibri" pitchFamily="34" charset="-122"/>
                <a:cs typeface="Calibri" pitchFamily="34" charset="-120"/>
              </a:rPr>
              <a:t>is not the same quantity as entropy over 2. On a two-population simplex its maximum sits at a 50% resistant fraction.</a:t>
            </a:r>
            <a:endParaRPr lang="en-US" sz="1250" dirty="0"/>
          </a:p>
        </p:txBody>
      </p:sp>
      <p:sp>
        <p:nvSpPr>
          <p:cNvPr id="10" name="Shape 8"/>
          <p:cNvSpPr/>
          <p:nvPr/>
        </p:nvSpPr>
        <p:spPr>
          <a:xfrm>
            <a:off x="4251960" y="1426464"/>
            <a:ext cx="3465576" cy="1792224"/>
          </a:xfrm>
          <a:prstGeom prst="roundRect">
            <a:avLst>
              <a:gd name="adj" fmla="val 3571"/>
            </a:avLst>
          </a:prstGeom>
          <a:solidFill>
            <a:srgbClr val="F4F6F7"/>
          </a:solidFill>
          <a:ln w="12700">
            <a:solidFill>
              <a:srgbClr val="E3E8EC"/>
            </a:solidFill>
            <a:prstDash val="solid"/>
          </a:ln>
        </p:spPr>
      </p:sp>
      <p:sp>
        <p:nvSpPr>
          <p:cNvPr id="11" name="Text 9"/>
          <p:cNvSpPr txBox="1"/>
          <p:nvPr/>
        </p:nvSpPr>
        <p:spPr>
          <a:xfrm>
            <a:off x="4489704" y="1609344"/>
            <a:ext cx="2990088" cy="274320"/>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A drug-holiday bonus</a:t>
            </a:r>
            <a:endParaRPr lang="en-US" sz="1450" dirty="0"/>
          </a:p>
        </p:txBody>
      </p:sp>
      <p:sp>
        <p:nvSpPr>
          <p:cNvPr id="12" name="Text 10"/>
          <p:cNvSpPr txBox="1"/>
          <p:nvPr/>
        </p:nvSpPr>
        <p:spPr>
          <a:xfrm>
            <a:off x="4489704" y="1975104"/>
            <a:ext cx="2990088" cy="1060704"/>
          </a:xfrm>
          <a:prstGeom prst="rect">
            <a:avLst/>
          </a:prstGeom>
          <a:noFill/>
          <a:ln/>
        </p:spPr>
        <p:txBody>
          <a:bodyPr wrap="square" lIns="0" tIns="0" rIns="0" bIns="0" rtlCol="0" anchor="t"/>
          <a:lstStyle/>
          <a:p>
            <a:pPr marL="0" indent="0">
              <a:lnSpc>
                <a:spcPts val="1900"/>
              </a:lnSpc>
              <a:buNone/>
            </a:pPr>
            <a:r>
              <a:rPr lang="en-US" sz="1250" dirty="0">
                <a:solidFill>
                  <a:srgbClr val="2A2A2A"/>
                </a:solidFill>
                <a:latin typeface="Calibri" pitchFamily="34" charset="0"/>
                <a:ea typeface="Calibri" pitchFamily="34" charset="-122"/>
                <a:cs typeface="Calibri" pitchFamily="34" charset="-120"/>
              </a:rPr>
              <a:t>is undefined in a fixed-population Moran process, which has no tumour volume to withhold treatment against.</a:t>
            </a:r>
            <a:endParaRPr lang="en-US" sz="1250" dirty="0"/>
          </a:p>
        </p:txBody>
      </p:sp>
      <p:sp>
        <p:nvSpPr>
          <p:cNvPr id="13" name="Shape 11"/>
          <p:cNvSpPr/>
          <p:nvPr/>
        </p:nvSpPr>
        <p:spPr>
          <a:xfrm>
            <a:off x="7936992" y="1426464"/>
            <a:ext cx="3465576" cy="1792224"/>
          </a:xfrm>
          <a:prstGeom prst="roundRect">
            <a:avLst>
              <a:gd name="adj" fmla="val 3571"/>
            </a:avLst>
          </a:prstGeom>
          <a:solidFill>
            <a:srgbClr val="F4F6F7"/>
          </a:solidFill>
          <a:ln w="12700">
            <a:solidFill>
              <a:srgbClr val="E3E8EC"/>
            </a:solidFill>
            <a:prstDash val="solid"/>
          </a:ln>
        </p:spPr>
      </p:sp>
      <p:sp>
        <p:nvSpPr>
          <p:cNvPr id="14" name="Text 12"/>
          <p:cNvSpPr txBox="1"/>
          <p:nvPr/>
        </p:nvSpPr>
        <p:spPr>
          <a:xfrm>
            <a:off x="8174736" y="1609344"/>
            <a:ext cx="2990088" cy="274320"/>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A dose penalty</a:t>
            </a:r>
            <a:endParaRPr lang="en-US" sz="1450" dirty="0"/>
          </a:p>
        </p:txBody>
      </p:sp>
      <p:sp>
        <p:nvSpPr>
          <p:cNvPr id="15" name="Text 13"/>
          <p:cNvSpPr txBox="1"/>
          <p:nvPr/>
        </p:nvSpPr>
        <p:spPr>
          <a:xfrm>
            <a:off x="8174736" y="1975104"/>
            <a:ext cx="2990088" cy="1060704"/>
          </a:xfrm>
          <a:prstGeom prst="rect">
            <a:avLst/>
          </a:prstGeom>
          <a:noFill/>
          <a:ln/>
        </p:spPr>
        <p:txBody>
          <a:bodyPr wrap="square" lIns="0" tIns="0" rIns="0" bIns="0" rtlCol="0" anchor="t"/>
          <a:lstStyle/>
          <a:p>
            <a:pPr marL="0" indent="0">
              <a:lnSpc>
                <a:spcPts val="1900"/>
              </a:lnSpc>
              <a:buNone/>
            </a:pPr>
            <a:r>
              <a:rPr lang="en-US" sz="1250" dirty="0">
                <a:solidFill>
                  <a:srgbClr val="2A2A2A"/>
                </a:solidFill>
                <a:latin typeface="Calibri" pitchFamily="34" charset="0"/>
                <a:ea typeface="Calibri" pitchFamily="34" charset="-122"/>
                <a:cs typeface="Calibri" pitchFamily="34" charset="-120"/>
              </a:rPr>
              <a:t>collapses into "minimise time on treatment" the moment the action space is binary — indistinguishable from a holiday bonus.</a:t>
            </a:r>
            <a:endParaRPr lang="en-US" sz="1250" dirty="0"/>
          </a:p>
        </p:txBody>
      </p:sp>
      <p:sp>
        <p:nvSpPr>
          <p:cNvPr id="16" name="Shape 14"/>
          <p:cNvSpPr/>
          <p:nvPr/>
        </p:nvSpPr>
        <p:spPr>
          <a:xfrm>
            <a:off x="566928" y="3493008"/>
            <a:ext cx="11027664" cy="1133856"/>
          </a:xfrm>
          <a:prstGeom prst="roundRect">
            <a:avLst>
              <a:gd name="adj" fmla="val 6452"/>
            </a:avLst>
          </a:prstGeom>
          <a:solidFill>
            <a:srgbClr val="F0F7F5"/>
          </a:solidFill>
          <a:ln w="15875">
            <a:solidFill>
              <a:srgbClr val="0F6E5F"/>
            </a:solidFill>
            <a:prstDash val="solid"/>
          </a:ln>
        </p:spPr>
      </p:sp>
      <p:sp>
        <p:nvSpPr>
          <p:cNvPr id="17" name="Text 15"/>
          <p:cNvSpPr txBox="1"/>
          <p:nvPr/>
        </p:nvSpPr>
        <p:spPr>
          <a:xfrm>
            <a:off x="914400" y="3493008"/>
            <a:ext cx="10332720" cy="113385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Unwelding them — porting each objective into one shared environment where they become commensurable — is the work. It is also why nobody has done it.</a:t>
            </a:r>
            <a:endParaRPr lang="en-US" sz="1600" dirty="0"/>
          </a:p>
        </p:txBody>
      </p:sp>
      <p:sp>
        <p:nvSpPr>
          <p:cNvPr id="18" name="Text 16"/>
          <p:cNvSpPr txBox="1"/>
          <p:nvPr/>
        </p:nvSpPr>
        <p:spPr>
          <a:xfrm>
            <a:off x="566928" y="4864608"/>
            <a:ext cx="11027664" cy="822960"/>
          </a:xfrm>
          <a:prstGeom prst="rect">
            <a:avLst/>
          </a:prstGeom>
          <a:noFill/>
          <a:ln/>
        </p:spPr>
        <p:txBody>
          <a:bodyPr wrap="square" lIns="0" tIns="0" rIns="0" bIns="0" rtlCol="0" anchor="t"/>
          <a:lstStyle/>
          <a:p>
            <a:pPr marL="0" indent="0">
              <a:lnSpc>
                <a:spcPts val="1900"/>
              </a:lnSpc>
              <a:buNone/>
            </a:pPr>
            <a:r>
              <a:rPr lang="en-US" sz="1350" dirty="0">
                <a:solidFill>
                  <a:srgbClr val="5A5A5A"/>
                </a:solidFill>
                <a:latin typeface="Calibri" pitchFamily="34" charset="0"/>
                <a:ea typeface="Calibri" pitchFamily="34" charset="-122"/>
                <a:cs typeface="Calibri" pitchFamily="34" charset="-120"/>
              </a:rPr>
              <a:t>Giles &amp; Newton name the gap themselves: they position their entropy reward as "a complementary resistance-management objective" to Weaver's fitness minimisation — asserting complementarity without ever testing 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THE AI TASK</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Sequential decision-making, not classification</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6</a:t>
            </a:r>
            <a:endParaRPr lang="en-US" sz="1000" dirty="0"/>
          </a:p>
        </p:txBody>
      </p:sp>
      <p:sp>
        <p:nvSpPr>
          <p:cNvPr id="7" name="Shape 5"/>
          <p:cNvSpPr/>
          <p:nvPr/>
        </p:nvSpPr>
        <p:spPr>
          <a:xfrm>
            <a:off x="566928" y="1554480"/>
            <a:ext cx="1965960" cy="1243584"/>
          </a:xfrm>
          <a:prstGeom prst="roundRect">
            <a:avLst>
              <a:gd name="adj" fmla="val 5882"/>
            </a:avLst>
          </a:prstGeom>
          <a:solidFill>
            <a:srgbClr val="F4F6F7"/>
          </a:solidFill>
          <a:ln w="12700">
            <a:solidFill>
              <a:srgbClr val="E3E8EC"/>
            </a:solidFill>
            <a:prstDash val="solid"/>
          </a:ln>
        </p:spPr>
      </p:sp>
      <p:sp>
        <p:nvSpPr>
          <p:cNvPr id="8" name="Text 6"/>
          <p:cNvSpPr txBox="1"/>
          <p:nvPr/>
        </p:nvSpPr>
        <p:spPr>
          <a:xfrm>
            <a:off x="676656" y="1719072"/>
            <a:ext cx="1746504" cy="310896"/>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Tumour state</a:t>
            </a:r>
            <a:endParaRPr lang="en-US" sz="1350" dirty="0"/>
          </a:p>
        </p:txBody>
      </p:sp>
      <p:sp>
        <p:nvSpPr>
          <p:cNvPr id="9" name="Text 7"/>
          <p:cNvSpPr txBox="1"/>
          <p:nvPr/>
        </p:nvSpPr>
        <p:spPr>
          <a:xfrm>
            <a:off x="676656" y="2048256"/>
            <a:ext cx="1746504" cy="566928"/>
          </a:xfrm>
          <a:prstGeom prst="rect">
            <a:avLst/>
          </a:prstGeom>
          <a:noFill/>
          <a:ln/>
        </p:spPr>
        <p:txBody>
          <a:bodyPr wrap="square" lIns="0" tIns="0" rIns="0" bIns="0" rtlCol="0" anchor="t"/>
          <a:lstStyle/>
          <a:p>
            <a:pPr marL="0" indent="0" algn="ctr">
              <a:lnSpc>
                <a:spcPts val="1400"/>
              </a:lnSpc>
              <a:buNone/>
            </a:pPr>
            <a:r>
              <a:rPr lang="en-US" sz="1150" dirty="0">
                <a:solidFill>
                  <a:srgbClr val="5A5A5A"/>
                </a:solidFill>
                <a:latin typeface="Calibri" pitchFamily="34" charset="0"/>
                <a:ea typeface="Calibri" pitchFamily="34" charset="-122"/>
                <a:cs typeface="Calibri" pitchFamily="34" charset="-120"/>
              </a:rPr>
              <a:t>S, R from the ODE</a:t>
            </a:r>
            <a:endParaRPr lang="en-US" sz="1150" dirty="0"/>
          </a:p>
        </p:txBody>
      </p:sp>
      <p:sp>
        <p:nvSpPr>
          <p:cNvPr id="10" name="Text 8"/>
          <p:cNvSpPr txBox="1"/>
          <p:nvPr/>
        </p:nvSpPr>
        <p:spPr>
          <a:xfrm>
            <a:off x="2532888" y="1938528"/>
            <a:ext cx="292608" cy="457200"/>
          </a:xfrm>
          <a:prstGeom prst="rect">
            <a:avLst/>
          </a:prstGeom>
          <a:noFill/>
          <a:ln/>
        </p:spPr>
        <p:txBody>
          <a:bodyPr wrap="square" lIns="0" tIns="0" rIns="0" bIns="0" rtlCol="0" anchor="ctr"/>
          <a:lstStyle/>
          <a:p>
            <a:pPr marL="0" indent="0" algn="ctr">
              <a:buNone/>
            </a:pPr>
            <a:r>
              <a:rPr lang="en-US" sz="2000" b="1" dirty="0">
                <a:solidFill>
                  <a:srgbClr val="8A8A8A"/>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825496" y="1554480"/>
            <a:ext cx="1965960" cy="1243584"/>
          </a:xfrm>
          <a:prstGeom prst="roundRect">
            <a:avLst>
              <a:gd name="adj" fmla="val 5882"/>
            </a:avLst>
          </a:prstGeom>
          <a:solidFill>
            <a:srgbClr val="F4F6F7"/>
          </a:solidFill>
          <a:ln w="12700">
            <a:solidFill>
              <a:srgbClr val="E3E8EC"/>
            </a:solidFill>
            <a:prstDash val="solid"/>
          </a:ln>
        </p:spPr>
      </p:sp>
      <p:sp>
        <p:nvSpPr>
          <p:cNvPr id="12" name="Text 10"/>
          <p:cNvSpPr txBox="1"/>
          <p:nvPr/>
        </p:nvSpPr>
        <p:spPr>
          <a:xfrm>
            <a:off x="2935224" y="1719072"/>
            <a:ext cx="1746504" cy="310896"/>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Observation</a:t>
            </a:r>
            <a:endParaRPr lang="en-US" sz="1350" dirty="0"/>
          </a:p>
        </p:txBody>
      </p:sp>
      <p:sp>
        <p:nvSpPr>
          <p:cNvPr id="13" name="Text 11"/>
          <p:cNvSpPr txBox="1"/>
          <p:nvPr/>
        </p:nvSpPr>
        <p:spPr>
          <a:xfrm>
            <a:off x="2935224" y="2048256"/>
            <a:ext cx="1746504" cy="566928"/>
          </a:xfrm>
          <a:prstGeom prst="rect">
            <a:avLst/>
          </a:prstGeom>
          <a:noFill/>
          <a:ln/>
        </p:spPr>
        <p:txBody>
          <a:bodyPr wrap="square" lIns="0" tIns="0" rIns="0" bIns="0" rtlCol="0" anchor="t"/>
          <a:lstStyle/>
          <a:p>
            <a:pPr marL="0" indent="0" algn="ctr">
              <a:lnSpc>
                <a:spcPts val="1400"/>
              </a:lnSpc>
              <a:buNone/>
            </a:pPr>
            <a:r>
              <a:rPr lang="en-US" sz="1150" dirty="0">
                <a:solidFill>
                  <a:srgbClr val="5A5A5A"/>
                </a:solidFill>
                <a:latin typeface="Calibri" pitchFamily="34" charset="0"/>
                <a:ea typeface="Calibri" pitchFamily="34" charset="-122"/>
                <a:cs typeface="Calibri" pitchFamily="34" charset="-120"/>
              </a:rPr>
              <a:t>every 28 d, noisy</a:t>
            </a:r>
            <a:endParaRPr lang="en-US" sz="1150" dirty="0"/>
          </a:p>
        </p:txBody>
      </p:sp>
      <p:sp>
        <p:nvSpPr>
          <p:cNvPr id="14" name="Text 12"/>
          <p:cNvSpPr txBox="1"/>
          <p:nvPr/>
        </p:nvSpPr>
        <p:spPr>
          <a:xfrm>
            <a:off x="4791456" y="1938528"/>
            <a:ext cx="292608" cy="457200"/>
          </a:xfrm>
          <a:prstGeom prst="rect">
            <a:avLst/>
          </a:prstGeom>
          <a:noFill/>
          <a:ln/>
        </p:spPr>
        <p:txBody>
          <a:bodyPr wrap="square" lIns="0" tIns="0" rIns="0" bIns="0" rtlCol="0" anchor="ctr"/>
          <a:lstStyle/>
          <a:p>
            <a:pPr marL="0" indent="0" algn="ctr">
              <a:buNone/>
            </a:pPr>
            <a:r>
              <a:rPr lang="en-US" sz="2000" b="1" dirty="0">
                <a:solidFill>
                  <a:srgbClr val="8A8A8A"/>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084064" y="1554480"/>
            <a:ext cx="1965960" cy="1243584"/>
          </a:xfrm>
          <a:prstGeom prst="roundRect">
            <a:avLst>
              <a:gd name="adj" fmla="val 5882"/>
            </a:avLst>
          </a:prstGeom>
          <a:solidFill>
            <a:srgbClr val="0F6E5F"/>
          </a:solidFill>
          <a:ln w="12700">
            <a:solidFill>
              <a:srgbClr val="0F6E5F"/>
            </a:solidFill>
            <a:prstDash val="solid"/>
          </a:ln>
        </p:spPr>
      </p:sp>
      <p:sp>
        <p:nvSpPr>
          <p:cNvPr id="16" name="Text 14"/>
          <p:cNvSpPr txBox="1"/>
          <p:nvPr/>
        </p:nvSpPr>
        <p:spPr>
          <a:xfrm>
            <a:off x="5193792" y="1719072"/>
            <a:ext cx="1746504" cy="310896"/>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Policy</a:t>
            </a:r>
            <a:endParaRPr lang="en-US" sz="1350" dirty="0"/>
          </a:p>
        </p:txBody>
      </p:sp>
      <p:sp>
        <p:nvSpPr>
          <p:cNvPr id="17" name="Text 15"/>
          <p:cNvSpPr txBox="1"/>
          <p:nvPr/>
        </p:nvSpPr>
        <p:spPr>
          <a:xfrm>
            <a:off x="5193792" y="2048256"/>
            <a:ext cx="1746504" cy="566928"/>
          </a:xfrm>
          <a:prstGeom prst="rect">
            <a:avLst/>
          </a:prstGeom>
          <a:noFill/>
          <a:ln/>
        </p:spPr>
        <p:txBody>
          <a:bodyPr wrap="square" lIns="0" tIns="0" rIns="0" bIns="0" rtlCol="0" anchor="t"/>
          <a:lstStyle/>
          <a:p>
            <a:pPr marL="0" indent="0" algn="ctr">
              <a:lnSpc>
                <a:spcPts val="1400"/>
              </a:lnSpc>
              <a:buNone/>
            </a:pPr>
            <a:r>
              <a:rPr lang="en-US" sz="1150" dirty="0">
                <a:solidFill>
                  <a:srgbClr val="CFE8E1"/>
                </a:solidFill>
                <a:latin typeface="Calibri" pitchFamily="34" charset="0"/>
                <a:ea typeface="Calibri" pitchFamily="34" charset="-122"/>
                <a:cs typeface="Calibri" pitchFamily="34" charset="-120"/>
              </a:rPr>
              <a:t>recurrent PPO agent</a:t>
            </a:r>
            <a:endParaRPr lang="en-US" sz="1150" dirty="0"/>
          </a:p>
        </p:txBody>
      </p:sp>
      <p:sp>
        <p:nvSpPr>
          <p:cNvPr id="18" name="Text 16"/>
          <p:cNvSpPr txBox="1"/>
          <p:nvPr/>
        </p:nvSpPr>
        <p:spPr>
          <a:xfrm>
            <a:off x="7050024" y="1938528"/>
            <a:ext cx="292608" cy="457200"/>
          </a:xfrm>
          <a:prstGeom prst="rect">
            <a:avLst/>
          </a:prstGeom>
          <a:noFill/>
          <a:ln/>
        </p:spPr>
        <p:txBody>
          <a:bodyPr wrap="square" lIns="0" tIns="0" rIns="0" bIns="0" rtlCol="0" anchor="ctr"/>
          <a:lstStyle/>
          <a:p>
            <a:pPr marL="0" indent="0" algn="ctr">
              <a:buNone/>
            </a:pPr>
            <a:r>
              <a:rPr lang="en-US" sz="2000" b="1" dirty="0">
                <a:solidFill>
                  <a:srgbClr val="8A8A8A"/>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7342632" y="1554480"/>
            <a:ext cx="1965960" cy="1243584"/>
          </a:xfrm>
          <a:prstGeom prst="roundRect">
            <a:avLst>
              <a:gd name="adj" fmla="val 5882"/>
            </a:avLst>
          </a:prstGeom>
          <a:solidFill>
            <a:srgbClr val="F4F6F7"/>
          </a:solidFill>
          <a:ln w="12700">
            <a:solidFill>
              <a:srgbClr val="E3E8EC"/>
            </a:solidFill>
            <a:prstDash val="solid"/>
          </a:ln>
        </p:spPr>
      </p:sp>
      <p:sp>
        <p:nvSpPr>
          <p:cNvPr id="20" name="Text 18"/>
          <p:cNvSpPr txBox="1"/>
          <p:nvPr/>
        </p:nvSpPr>
        <p:spPr>
          <a:xfrm>
            <a:off x="7452360" y="1719072"/>
            <a:ext cx="1746504" cy="310896"/>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Dose</a:t>
            </a:r>
            <a:endParaRPr lang="en-US" sz="1350" dirty="0"/>
          </a:p>
        </p:txBody>
      </p:sp>
      <p:sp>
        <p:nvSpPr>
          <p:cNvPr id="21" name="Text 19"/>
          <p:cNvSpPr txBox="1"/>
          <p:nvPr/>
        </p:nvSpPr>
        <p:spPr>
          <a:xfrm>
            <a:off x="7452360" y="2048256"/>
            <a:ext cx="1746504" cy="566928"/>
          </a:xfrm>
          <a:prstGeom prst="rect">
            <a:avLst/>
          </a:prstGeom>
          <a:noFill/>
          <a:ln/>
        </p:spPr>
        <p:txBody>
          <a:bodyPr wrap="square" lIns="0" tIns="0" rIns="0" bIns="0" rtlCol="0" anchor="t"/>
          <a:lstStyle/>
          <a:p>
            <a:pPr marL="0" indent="0" algn="ctr">
              <a:lnSpc>
                <a:spcPts val="1400"/>
              </a:lnSpc>
              <a:buNone/>
            </a:pPr>
            <a:r>
              <a:rPr lang="en-US" sz="1150" dirty="0">
                <a:solidFill>
                  <a:srgbClr val="5A5A5A"/>
                </a:solidFill>
                <a:latin typeface="Calibri" pitchFamily="34" charset="0"/>
                <a:ea typeface="Calibri" pitchFamily="34" charset="-122"/>
                <a:cs typeface="Calibri" pitchFamily="34" charset="-120"/>
              </a:rPr>
              <a:t>0, ½ or full</a:t>
            </a:r>
            <a:endParaRPr lang="en-US" sz="1150" dirty="0"/>
          </a:p>
        </p:txBody>
      </p:sp>
      <p:sp>
        <p:nvSpPr>
          <p:cNvPr id="22" name="Text 20"/>
          <p:cNvSpPr txBox="1"/>
          <p:nvPr/>
        </p:nvSpPr>
        <p:spPr>
          <a:xfrm>
            <a:off x="9308592" y="1938528"/>
            <a:ext cx="292608" cy="457200"/>
          </a:xfrm>
          <a:prstGeom prst="rect">
            <a:avLst/>
          </a:prstGeom>
          <a:noFill/>
          <a:ln/>
        </p:spPr>
        <p:txBody>
          <a:bodyPr wrap="square" lIns="0" tIns="0" rIns="0" bIns="0" rtlCol="0" anchor="ctr"/>
          <a:lstStyle/>
          <a:p>
            <a:pPr marL="0" indent="0" algn="ctr">
              <a:buNone/>
            </a:pPr>
            <a:r>
              <a:rPr lang="en-US" sz="2000" b="1" dirty="0">
                <a:solidFill>
                  <a:srgbClr val="8A8A8A"/>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9601200" y="1554480"/>
            <a:ext cx="1965960" cy="1243584"/>
          </a:xfrm>
          <a:prstGeom prst="roundRect">
            <a:avLst>
              <a:gd name="adj" fmla="val 5882"/>
            </a:avLst>
          </a:prstGeom>
          <a:solidFill>
            <a:srgbClr val="F4F6F7"/>
          </a:solidFill>
          <a:ln w="12700">
            <a:solidFill>
              <a:srgbClr val="E3E8EC"/>
            </a:solidFill>
            <a:prstDash val="solid"/>
          </a:ln>
        </p:spPr>
      </p:sp>
      <p:sp>
        <p:nvSpPr>
          <p:cNvPr id="24" name="Text 22"/>
          <p:cNvSpPr txBox="1"/>
          <p:nvPr/>
        </p:nvSpPr>
        <p:spPr>
          <a:xfrm>
            <a:off x="9710928" y="1719072"/>
            <a:ext cx="1746504" cy="310896"/>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Environment</a:t>
            </a:r>
            <a:endParaRPr lang="en-US" sz="1350" dirty="0"/>
          </a:p>
        </p:txBody>
      </p:sp>
      <p:sp>
        <p:nvSpPr>
          <p:cNvPr id="25" name="Text 23"/>
          <p:cNvSpPr txBox="1"/>
          <p:nvPr/>
        </p:nvSpPr>
        <p:spPr>
          <a:xfrm>
            <a:off x="9710928" y="2048256"/>
            <a:ext cx="1746504" cy="566928"/>
          </a:xfrm>
          <a:prstGeom prst="rect">
            <a:avLst/>
          </a:prstGeom>
          <a:noFill/>
          <a:ln/>
        </p:spPr>
        <p:txBody>
          <a:bodyPr wrap="square" lIns="0" tIns="0" rIns="0" bIns="0" rtlCol="0" anchor="t"/>
          <a:lstStyle/>
          <a:p>
            <a:pPr marL="0" indent="0" algn="ctr">
              <a:lnSpc>
                <a:spcPts val="1400"/>
              </a:lnSpc>
              <a:buNone/>
            </a:pPr>
            <a:r>
              <a:rPr lang="en-US" sz="1150" dirty="0">
                <a:solidFill>
                  <a:srgbClr val="5A5A5A"/>
                </a:solidFill>
                <a:latin typeface="Calibri" pitchFamily="34" charset="0"/>
                <a:ea typeface="Calibri" pitchFamily="34" charset="-122"/>
                <a:cs typeface="Calibri" pitchFamily="34" charset="-120"/>
              </a:rPr>
              <a:t>integrate forward</a:t>
            </a:r>
            <a:endParaRPr lang="en-US" sz="1150" dirty="0"/>
          </a:p>
        </p:txBody>
      </p:sp>
      <p:sp>
        <p:nvSpPr>
          <p:cNvPr id="26" name="Text 24"/>
          <p:cNvSpPr txBox="1"/>
          <p:nvPr/>
        </p:nvSpPr>
        <p:spPr>
          <a:xfrm>
            <a:off x="566928" y="3127248"/>
            <a:ext cx="11027664" cy="603504"/>
          </a:xfrm>
          <a:prstGeom prst="rect">
            <a:avLst/>
          </a:prstGeom>
          <a:noFill/>
          <a:ln/>
        </p:spPr>
        <p:txBody>
          <a:bodyPr wrap="square" lIns="0" tIns="0" rIns="0" bIns="0" rtlCol="0" anchor="t"/>
          <a:lstStyle/>
          <a:p>
            <a:pPr marL="0" indent="0">
              <a:lnSpc>
                <a:spcPts val="2000"/>
              </a:lnSpc>
              <a:buNone/>
            </a:pPr>
            <a:r>
              <a:rPr lang="en-US" sz="1400" b="1" dirty="0">
                <a:solidFill>
                  <a:srgbClr val="0F6E5F"/>
                </a:solidFill>
                <a:latin typeface="Calibri" pitchFamily="34" charset="0"/>
                <a:ea typeface="Calibri" pitchFamily="34" charset="-122"/>
                <a:cs typeface="Calibri" pitchFamily="34" charset="-120"/>
              </a:rPr>
              <a:t>Input   </a:t>
            </a:r>
            <a:r>
              <a:rPr lang="en-US" sz="1400" dirty="0">
                <a:solidFill>
                  <a:srgbClr val="2A2A2A"/>
                </a:solidFill>
                <a:latin typeface="Calibri" pitchFamily="34" charset="0"/>
                <a:ea typeface="Calibri" pitchFamily="34" charset="-122"/>
                <a:cs typeface="Calibri" pitchFamily="34" charset="-120"/>
              </a:rPr>
              <a:t>Normalised subpopulation sizes S/K, R/K and burden N/N₀ — never raw counts, which will not train.</a:t>
            </a:r>
            <a:endParaRPr lang="en-US" sz="1400" dirty="0"/>
          </a:p>
        </p:txBody>
      </p:sp>
      <p:sp>
        <p:nvSpPr>
          <p:cNvPr id="27" name="Text 25"/>
          <p:cNvSpPr txBox="1"/>
          <p:nvPr/>
        </p:nvSpPr>
        <p:spPr>
          <a:xfrm>
            <a:off x="566928" y="3785616"/>
            <a:ext cx="11027664" cy="603504"/>
          </a:xfrm>
          <a:prstGeom prst="rect">
            <a:avLst/>
          </a:prstGeom>
          <a:noFill/>
          <a:ln/>
        </p:spPr>
        <p:txBody>
          <a:bodyPr wrap="square" lIns="0" tIns="0" rIns="0" bIns="0" rtlCol="0" anchor="t"/>
          <a:lstStyle/>
          <a:p>
            <a:pPr marL="0" indent="0">
              <a:lnSpc>
                <a:spcPts val="2000"/>
              </a:lnSpc>
              <a:buNone/>
            </a:pPr>
            <a:r>
              <a:rPr lang="en-US" sz="1400" b="1" dirty="0">
                <a:solidFill>
                  <a:srgbClr val="0F6E5F"/>
                </a:solidFill>
                <a:latin typeface="Calibri" pitchFamily="34" charset="0"/>
                <a:ea typeface="Calibri" pitchFamily="34" charset="-122"/>
                <a:cs typeface="Calibri" pitchFamily="34" charset="-120"/>
              </a:rPr>
              <a:t>Output   </a:t>
            </a:r>
            <a:r>
              <a:rPr lang="en-US" sz="1400" dirty="0">
                <a:solidFill>
                  <a:srgbClr val="2A2A2A"/>
                </a:solidFill>
                <a:latin typeface="Calibri" pitchFamily="34" charset="0"/>
                <a:ea typeface="Calibri" pitchFamily="34" charset="-122"/>
                <a:cs typeface="Calibri" pitchFamily="34" charset="-120"/>
              </a:rPr>
              <a:t>Dose level at each decision point, held between observations.</a:t>
            </a:r>
            <a:endParaRPr lang="en-US" sz="1400" dirty="0"/>
          </a:p>
        </p:txBody>
      </p:sp>
      <p:sp>
        <p:nvSpPr>
          <p:cNvPr id="28" name="Text 26"/>
          <p:cNvSpPr txBox="1"/>
          <p:nvPr/>
        </p:nvSpPr>
        <p:spPr>
          <a:xfrm>
            <a:off x="566928" y="4443984"/>
            <a:ext cx="11027664" cy="603504"/>
          </a:xfrm>
          <a:prstGeom prst="rect">
            <a:avLst/>
          </a:prstGeom>
          <a:noFill/>
          <a:ln/>
        </p:spPr>
        <p:txBody>
          <a:bodyPr wrap="square" lIns="0" tIns="0" rIns="0" bIns="0" rtlCol="0" anchor="t"/>
          <a:lstStyle/>
          <a:p>
            <a:pPr marL="0" indent="0">
              <a:lnSpc>
                <a:spcPts val="2000"/>
              </a:lnSpc>
              <a:buNone/>
            </a:pPr>
            <a:r>
              <a:rPr lang="en-US" sz="1400" b="1" dirty="0">
                <a:solidFill>
                  <a:srgbClr val="0F6E5F"/>
                </a:solidFill>
                <a:latin typeface="Calibri" pitchFamily="34" charset="0"/>
                <a:ea typeface="Calibri" pitchFamily="34" charset="-122"/>
                <a:cs typeface="Calibri" pitchFamily="34" charset="-120"/>
              </a:rPr>
              <a:t>Task type   </a:t>
            </a:r>
            <a:r>
              <a:rPr lang="en-US" sz="1400" dirty="0">
                <a:solidFill>
                  <a:srgbClr val="2A2A2A"/>
                </a:solidFill>
                <a:latin typeface="Calibri" pitchFamily="34" charset="0"/>
                <a:ea typeface="Calibri" pitchFamily="34" charset="-122"/>
                <a:cs typeface="Calibri" pitchFamily="34" charset="-120"/>
              </a:rPr>
              <a:t>Partially observed Markov decision process control. The reward function is the variable under study, not the algorithm.</a:t>
            </a:r>
            <a:endParaRPr lang="en-US" sz="1400" dirty="0"/>
          </a:p>
        </p:txBody>
      </p:sp>
      <p:sp>
        <p:nvSpPr>
          <p:cNvPr id="29" name="Shape 27"/>
          <p:cNvSpPr/>
          <p:nvPr/>
        </p:nvSpPr>
        <p:spPr>
          <a:xfrm>
            <a:off x="566928" y="5175504"/>
            <a:ext cx="11027664" cy="713232"/>
          </a:xfrm>
          <a:prstGeom prst="roundRect">
            <a:avLst>
              <a:gd name="adj" fmla="val 8974"/>
            </a:avLst>
          </a:prstGeom>
          <a:solidFill>
            <a:srgbClr val="F4F6F7"/>
          </a:solidFill>
          <a:ln w="12700">
            <a:solidFill>
              <a:srgbClr val="E3E8EC"/>
            </a:solidFill>
            <a:prstDash val="solid"/>
          </a:ln>
        </p:spPr>
      </p:sp>
      <p:sp>
        <p:nvSpPr>
          <p:cNvPr id="30" name="Text 28"/>
          <p:cNvSpPr txBox="1"/>
          <p:nvPr/>
        </p:nvSpPr>
        <p:spPr>
          <a:xfrm>
            <a:off x="877824" y="5175504"/>
            <a:ext cx="10405872" cy="713232"/>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Progression is checked at every integration step, not only at decision points — otherwise a fast-growing tumour progresses and recovers unobserved, silently overstating time to progression.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THE OBVIOUS OBJECTION</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"Why do you need RL at all?"</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7</a:t>
            </a:r>
            <a:endParaRPr lang="en-US" sz="1000" dirty="0"/>
          </a:p>
        </p:txBody>
      </p:sp>
      <p:sp>
        <p:nvSpPr>
          <p:cNvPr id="7" name="Text 5"/>
          <p:cNvSpPr txBox="1"/>
          <p:nvPr/>
        </p:nvSpPr>
        <p:spPr>
          <a:xfrm>
            <a:off x="566928" y="1353312"/>
            <a:ext cx="11027664" cy="822960"/>
          </a:xfrm>
          <a:prstGeom prst="rect">
            <a:avLst/>
          </a:prstGeom>
          <a:noFill/>
          <a:ln/>
        </p:spPr>
        <p:txBody>
          <a:bodyPr wrap="square" lIns="0" tIns="0" rIns="0" bIns="0" rtlCol="0" anchor="t"/>
          <a:lstStyle/>
          <a:p>
            <a:pPr marL="0" indent="0">
              <a:lnSpc>
                <a:spcPts val="2100"/>
              </a:lnSpc>
              <a:buNone/>
            </a:pPr>
            <a:r>
              <a:rPr lang="en-US" sz="1450" dirty="0">
                <a:solidFill>
                  <a:srgbClr val="2A2A2A"/>
                </a:solidFill>
                <a:latin typeface="Calibri" pitchFamily="34" charset="0"/>
                <a:ea typeface="Calibri" pitchFamily="34" charset="-122"/>
                <a:cs typeface="Calibri" pitchFamily="34" charset="-120"/>
              </a:rPr>
              <a:t>On a two-dimensional deterministic state with a binary action, value iteration returns the exact optimum — no seeds, no instability, no variance. If that were the whole environment, the agent would only be reproducing what we could already compute.</a:t>
            </a:r>
            <a:endParaRPr lang="en-US" sz="1450" dirty="0"/>
          </a:p>
        </p:txBody>
      </p:sp>
      <p:pic>
        <p:nvPicPr>
          <p:cNvPr id="8" name="Image 0" descr="/home/claude/figs/fig5_why_rl.png"/>
          <p:cNvPicPr>
            <a:picLocks noChangeAspect="1"/>
          </p:cNvPicPr>
          <p:nvPr/>
        </p:nvPicPr>
        <p:blipFill>
          <a:blip r:embed="rId3"/>
          <a:stretch>
            <a:fillRect/>
          </a:stretch>
        </p:blipFill>
        <p:spPr>
          <a:xfrm>
            <a:off x="1325880" y="2029968"/>
            <a:ext cx="9509760" cy="3096158"/>
          </a:xfrm>
          <a:prstGeom prst="rect">
            <a:avLst/>
          </a:prstGeom>
        </p:spPr>
      </p:pic>
      <p:sp>
        <p:nvSpPr>
          <p:cNvPr id="9" name="Shape 6"/>
          <p:cNvSpPr/>
          <p:nvPr/>
        </p:nvSpPr>
        <p:spPr>
          <a:xfrm>
            <a:off x="566928" y="5303520"/>
            <a:ext cx="11027664" cy="914400"/>
          </a:xfrm>
          <a:prstGeom prst="roundRect">
            <a:avLst>
              <a:gd name="adj" fmla="val 8000"/>
            </a:avLst>
          </a:prstGeom>
          <a:solidFill>
            <a:srgbClr val="F0F7F5"/>
          </a:solidFill>
          <a:ln w="15875">
            <a:solidFill>
              <a:srgbClr val="0F6E5F"/>
            </a:solidFill>
            <a:prstDash val="solid"/>
          </a:ln>
        </p:spPr>
      </p:sp>
      <p:sp>
        <p:nvSpPr>
          <p:cNvPr id="10" name="Text 7"/>
          <p:cNvSpPr txBox="1"/>
          <p:nvPr/>
        </p:nvSpPr>
        <p:spPr>
          <a:xfrm>
            <a:off x="914400" y="5303520"/>
            <a:ext cx="10332720" cy="914400"/>
          </a:xfrm>
          <a:prstGeom prst="rect">
            <a:avLst/>
          </a:prstGeom>
          <a:noFill/>
          <a:ln/>
        </p:spPr>
        <p:txBody>
          <a:bodyPr wrap="square" lIns="0" tIns="0" rIns="0" bIns="0" rtlCol="0" anchor="ctr"/>
          <a:lstStyle/>
          <a:p>
            <a:pPr marL="0" indent="0">
              <a:buNone/>
            </a:pPr>
            <a:r>
              <a:rPr lang="en-US" sz="1550" b="1" dirty="0">
                <a:solidFill>
                  <a:srgbClr val="1B2A4A"/>
                </a:solidFill>
                <a:latin typeface="Calibri" pitchFamily="34" charset="0"/>
                <a:ea typeface="Calibri" pitchFamily="34" charset="-122"/>
                <a:cs typeface="Calibri" pitchFamily="34" charset="-120"/>
              </a:rPr>
              <a:t>So we use value iteration deliberately — as a per-objective optimality ceiling, not a competitor. The agents are trained where it cannot follow.</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THE COMPARISON</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Two objectives, one controlled variable</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8</a:t>
            </a:r>
            <a:endParaRPr lang="en-US" sz="1000" dirty="0"/>
          </a:p>
        </p:txBody>
      </p:sp>
      <p:sp>
        <p:nvSpPr>
          <p:cNvPr id="7" name="Shape 5"/>
          <p:cNvSpPr/>
          <p:nvPr/>
        </p:nvSpPr>
        <p:spPr>
          <a:xfrm>
            <a:off x="566928" y="1389888"/>
            <a:ext cx="5413248" cy="2596896"/>
          </a:xfrm>
          <a:prstGeom prst="roundRect">
            <a:avLst>
              <a:gd name="adj" fmla="val 2817"/>
            </a:avLst>
          </a:prstGeom>
          <a:solidFill>
            <a:srgbClr val="E8F1FB"/>
          </a:solidFill>
          <a:ln w="15875">
            <a:solidFill>
              <a:srgbClr val="C5DCF6"/>
            </a:solidFill>
            <a:prstDash val="solid"/>
          </a:ln>
        </p:spPr>
      </p:sp>
      <p:sp>
        <p:nvSpPr>
          <p:cNvPr id="8" name="Shape 6"/>
          <p:cNvSpPr/>
          <p:nvPr/>
        </p:nvSpPr>
        <p:spPr>
          <a:xfrm>
            <a:off x="822960" y="1609344"/>
            <a:ext cx="512064" cy="512064"/>
          </a:xfrm>
          <a:prstGeom prst="ellipse">
            <a:avLst/>
          </a:prstGeom>
          <a:solidFill>
            <a:srgbClr val="2A78D6"/>
          </a:solidFill>
          <a:ln w="12700">
            <a:solidFill>
              <a:srgbClr val="333333"/>
            </a:solidFill>
            <a:prstDash val="solid"/>
          </a:ln>
        </p:spPr>
      </p:sp>
      <p:sp>
        <p:nvSpPr>
          <p:cNvPr id="9" name="Text 7"/>
          <p:cNvSpPr txBox="1"/>
          <p:nvPr/>
        </p:nvSpPr>
        <p:spPr>
          <a:xfrm>
            <a:off x="822960" y="1609344"/>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R1</a:t>
            </a:r>
            <a:endParaRPr lang="en-US" sz="1500" dirty="0"/>
          </a:p>
        </p:txBody>
      </p:sp>
      <p:sp>
        <p:nvSpPr>
          <p:cNvPr id="10" name="Text 8"/>
          <p:cNvSpPr txBox="1"/>
          <p:nvPr/>
        </p:nvSpPr>
        <p:spPr>
          <a:xfrm>
            <a:off x="1481328" y="1627632"/>
            <a:ext cx="4206240" cy="292608"/>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Survival with holidays</a:t>
            </a:r>
            <a:endParaRPr lang="en-US" sz="1700" dirty="0"/>
          </a:p>
        </p:txBody>
      </p:sp>
      <p:sp>
        <p:nvSpPr>
          <p:cNvPr id="11" name="Text 9"/>
          <p:cNvSpPr txBox="1"/>
          <p:nvPr/>
        </p:nvSpPr>
        <p:spPr>
          <a:xfrm>
            <a:off x="1481328" y="1920240"/>
            <a:ext cx="4206240" cy="292608"/>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Gallagher 2023/24 — the field default, our control condition</a:t>
            </a:r>
            <a:endParaRPr lang="en-US" sz="1150" dirty="0"/>
          </a:p>
        </p:txBody>
      </p:sp>
      <p:sp>
        <p:nvSpPr>
          <p:cNvPr id="12" name="Text 10"/>
          <p:cNvSpPr txBox="1"/>
          <p:nvPr/>
        </p:nvSpPr>
        <p:spPr>
          <a:xfrm>
            <a:off x="841248" y="2359152"/>
            <a:ext cx="4864608" cy="1481328"/>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2A2A2A"/>
                </a:solidFill>
                <a:latin typeface="Calibri" pitchFamily="34" charset="0"/>
                <a:ea typeface="Calibri" pitchFamily="34" charset="-122"/>
                <a:cs typeface="Calibri" pitchFamily="34" charset="-120"/>
              </a:rPr>
              <a:t>+0.1 per timestep survived</a:t>
            </a:r>
            <a:endParaRPr lang="en-US" sz="1250" dirty="0"/>
          </a:p>
          <a:p>
            <a:pPr marL="342900" indent="-342900">
              <a:lnSpc>
                <a:spcPts val="1800"/>
              </a:lnSpc>
              <a:spcAft>
                <a:spcPts val="600"/>
              </a:spcAft>
              <a:buSzPct val="100000"/>
              <a:buChar char="•"/>
            </a:pPr>
            <a:r>
              <a:rPr lang="en-US" sz="1250" dirty="0">
                <a:solidFill>
                  <a:srgbClr val="2A2A2A"/>
                </a:solidFill>
                <a:latin typeface="Calibri" pitchFamily="34" charset="0"/>
                <a:ea typeface="Calibri" pitchFamily="34" charset="-122"/>
                <a:cs typeface="Calibri" pitchFamily="34" charset="-120"/>
              </a:rPr>
              <a:t>+0.05 per timestep off treatment</a:t>
            </a:r>
            <a:endParaRPr lang="en-US" sz="1250" dirty="0"/>
          </a:p>
          <a:p>
            <a:pPr marL="342900" indent="-342900">
              <a:lnSpc>
                <a:spcPts val="1800"/>
              </a:lnSpc>
              <a:spcAft>
                <a:spcPts val="600"/>
              </a:spcAft>
              <a:buSzPct val="100000"/>
              <a:buChar char="•"/>
            </a:pPr>
            <a:r>
              <a:rPr lang="en-US" sz="1250" dirty="0">
                <a:solidFill>
                  <a:srgbClr val="2A2A2A"/>
                </a:solidFill>
                <a:latin typeface="Calibri" pitchFamily="34" charset="0"/>
                <a:ea typeface="Calibri" pitchFamily="34" charset="-122"/>
                <a:cs typeface="Calibri" pitchFamily="34" charset="-120"/>
              </a:rPr>
              <a:t>−0.1 on progression, +5 on horizon</a:t>
            </a:r>
            <a:endParaRPr lang="en-US" sz="1250" dirty="0"/>
          </a:p>
        </p:txBody>
      </p:sp>
      <p:sp>
        <p:nvSpPr>
          <p:cNvPr id="13" name="Shape 11"/>
          <p:cNvSpPr/>
          <p:nvPr/>
        </p:nvSpPr>
        <p:spPr>
          <a:xfrm>
            <a:off x="6199632" y="1389888"/>
            <a:ext cx="5413248" cy="2596896"/>
          </a:xfrm>
          <a:prstGeom prst="roundRect">
            <a:avLst>
              <a:gd name="adj" fmla="val 2817"/>
            </a:avLst>
          </a:prstGeom>
          <a:solidFill>
            <a:srgbClr val="FDF0EA"/>
          </a:solidFill>
          <a:ln w="15875">
            <a:solidFill>
              <a:srgbClr val="F7D4C2"/>
            </a:solidFill>
            <a:prstDash val="solid"/>
          </a:ln>
        </p:spPr>
      </p:sp>
      <p:sp>
        <p:nvSpPr>
          <p:cNvPr id="14" name="Shape 12"/>
          <p:cNvSpPr/>
          <p:nvPr/>
        </p:nvSpPr>
        <p:spPr>
          <a:xfrm>
            <a:off x="6455664" y="1609344"/>
            <a:ext cx="512064" cy="512064"/>
          </a:xfrm>
          <a:prstGeom prst="ellipse">
            <a:avLst/>
          </a:prstGeom>
          <a:solidFill>
            <a:srgbClr val="EB6834"/>
          </a:solidFill>
          <a:ln w="12700">
            <a:solidFill>
              <a:srgbClr val="333333"/>
            </a:solidFill>
            <a:prstDash val="solid"/>
          </a:ln>
        </p:spPr>
      </p:sp>
      <p:sp>
        <p:nvSpPr>
          <p:cNvPr id="15" name="Text 13"/>
          <p:cNvSpPr txBox="1"/>
          <p:nvPr/>
        </p:nvSpPr>
        <p:spPr>
          <a:xfrm>
            <a:off x="6455664" y="1609344"/>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R4</a:t>
            </a:r>
            <a:endParaRPr lang="en-US" sz="1500" dirty="0"/>
          </a:p>
        </p:txBody>
      </p:sp>
      <p:sp>
        <p:nvSpPr>
          <p:cNvPr id="16" name="Text 14"/>
          <p:cNvSpPr txBox="1"/>
          <p:nvPr/>
        </p:nvSpPr>
        <p:spPr>
          <a:xfrm>
            <a:off x="7114032" y="1627632"/>
            <a:ext cx="4206240" cy="292608"/>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Durability</a:t>
            </a:r>
            <a:endParaRPr lang="en-US" sz="1700" dirty="0"/>
          </a:p>
        </p:txBody>
      </p:sp>
      <p:sp>
        <p:nvSpPr>
          <p:cNvPr id="17" name="Text 15"/>
          <p:cNvSpPr txBox="1"/>
          <p:nvPr/>
        </p:nvSpPr>
        <p:spPr>
          <a:xfrm>
            <a:off x="7114032" y="1920240"/>
            <a:ext cx="4206240" cy="292608"/>
          </a:xfrm>
          <a:prstGeom prst="rect">
            <a:avLst/>
          </a:prstGeom>
          <a:noFill/>
          <a:ln/>
        </p:spPr>
        <p:txBody>
          <a:bodyPr wrap="square" lIns="0" tIns="0" rIns="0" bIns="0" rtlCol="0" anchor="ctr"/>
          <a:lstStyle/>
          <a:p>
            <a:pPr marL="0" indent="0">
              <a:buNone/>
            </a:pPr>
            <a:r>
              <a:rPr lang="en-US" sz="1150" dirty="0">
                <a:solidFill>
                  <a:srgbClr val="5A5A5A"/>
                </a:solidFill>
                <a:latin typeface="Calibri" pitchFamily="34" charset="0"/>
                <a:ea typeface="Calibri" pitchFamily="34" charset="-122"/>
                <a:cs typeface="Calibri" pitchFamily="34" charset="-120"/>
              </a:rPr>
              <a:t>Yao 2024 — leaving the tumour controllable</a:t>
            </a:r>
            <a:endParaRPr lang="en-US" sz="1150" dirty="0"/>
          </a:p>
        </p:txBody>
      </p:sp>
      <p:sp>
        <p:nvSpPr>
          <p:cNvPr id="18" name="Text 16"/>
          <p:cNvSpPr txBox="1"/>
          <p:nvPr/>
        </p:nvSpPr>
        <p:spPr>
          <a:xfrm>
            <a:off x="6473952" y="2359152"/>
            <a:ext cx="4864608" cy="1481328"/>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2A2A2A"/>
                </a:solidFill>
                <a:latin typeface="Calibri" pitchFamily="34" charset="0"/>
                <a:ea typeface="Calibri" pitchFamily="34" charset="-122"/>
                <a:cs typeface="Calibri" pitchFamily="34" charset="-120"/>
              </a:rPr>
              <a:t>+0.1 per timestep survived</a:t>
            </a:r>
            <a:endParaRPr lang="en-US" sz="1250" dirty="0"/>
          </a:p>
          <a:p>
            <a:pPr marL="342900" indent="-342900">
              <a:lnSpc>
                <a:spcPts val="1800"/>
              </a:lnSpc>
              <a:spcAft>
                <a:spcPts val="600"/>
              </a:spcAft>
              <a:buSzPct val="100000"/>
              <a:buChar char="•"/>
            </a:pPr>
            <a:r>
              <a:rPr lang="en-US" sz="1250" dirty="0">
                <a:solidFill>
                  <a:srgbClr val="2A2A2A"/>
                </a:solidFill>
                <a:latin typeface="Calibri" pitchFamily="34" charset="0"/>
                <a:ea typeface="Calibri" pitchFamily="34" charset="-122"/>
                <a:cs typeface="Calibri" pitchFamily="34" charset="-120"/>
              </a:rPr>
              <a:t>−0.1 on progression</a:t>
            </a:r>
            <a:endParaRPr lang="en-US" sz="1250" dirty="0"/>
          </a:p>
          <a:p>
            <a:pPr marL="342900" indent="-342900">
              <a:lnSpc>
                <a:spcPts val="1800"/>
              </a:lnSpc>
              <a:spcAft>
                <a:spcPts val="600"/>
              </a:spcAft>
              <a:buSzPct val="100000"/>
              <a:buChar char="•"/>
            </a:pPr>
            <a:r>
              <a:rPr lang="en-US" sz="1250" dirty="0">
                <a:solidFill>
                  <a:srgbClr val="2A2A2A"/>
                </a:solidFill>
                <a:latin typeface="Calibri" pitchFamily="34" charset="0"/>
                <a:ea typeface="Calibri" pitchFamily="34" charset="-122"/>
                <a:cs typeface="Calibri" pitchFamily="34" charset="-120"/>
              </a:rPr>
              <a:t>terminal penalty on resistant regrowth over 180 withdrawn days</a:t>
            </a:r>
            <a:endParaRPr lang="en-US" sz="1250" dirty="0"/>
          </a:p>
        </p:txBody>
      </p:sp>
      <p:sp>
        <p:nvSpPr>
          <p:cNvPr id="19" name="Shape 17"/>
          <p:cNvSpPr/>
          <p:nvPr/>
        </p:nvSpPr>
        <p:spPr>
          <a:xfrm>
            <a:off x="566928" y="4224528"/>
            <a:ext cx="11027664" cy="969264"/>
          </a:xfrm>
          <a:prstGeom prst="roundRect">
            <a:avLst>
              <a:gd name="adj" fmla="val 7547"/>
            </a:avLst>
          </a:prstGeom>
          <a:solidFill>
            <a:srgbClr val="F0F7F5"/>
          </a:solidFill>
          <a:ln w="15875">
            <a:solidFill>
              <a:srgbClr val="0F6E5F"/>
            </a:solidFill>
            <a:prstDash val="solid"/>
          </a:ln>
        </p:spPr>
      </p:sp>
      <p:sp>
        <p:nvSpPr>
          <p:cNvPr id="20" name="Text 18"/>
          <p:cNvSpPr txBox="1"/>
          <p:nvPr/>
        </p:nvSpPr>
        <p:spPr>
          <a:xfrm>
            <a:off x="914400" y="4224528"/>
            <a:ext cx="10332720" cy="969264"/>
          </a:xfrm>
          <a:prstGeom prst="rect">
            <a:avLst/>
          </a:prstGeom>
          <a:noFill/>
          <a:ln/>
        </p:spPr>
        <p:txBody>
          <a:bodyPr wrap="square" lIns="0" tIns="0" rIns="0" bIns="0" rtlCol="0" anchor="ctr"/>
          <a:lstStyle/>
          <a:p>
            <a:pPr marL="0" indent="0">
              <a:buNone/>
            </a:pPr>
            <a:r>
              <a:rPr lang="en-US" sz="1450" b="1" dirty="0">
                <a:solidFill>
                  <a:srgbClr val="1B2A4A"/>
                </a:solidFill>
                <a:latin typeface="Calibri" pitchFamily="34" charset="0"/>
                <a:ea typeface="Calibri" pitchFamily="34" charset="-122"/>
                <a:cs typeface="Calibri" pitchFamily="34" charset="-120"/>
              </a:rPr>
              <a:t>The two rewards share an identical survival term and progression penalty, and differ only in the third term. That isolates the variable — otherwise "the objective changed" is confounded with "the reward was shaped differently".</a:t>
            </a:r>
            <a:endParaRPr lang="en-US" sz="1450" dirty="0"/>
          </a:p>
        </p:txBody>
      </p:sp>
      <p:sp>
        <p:nvSpPr>
          <p:cNvPr id="21" name="Text 19"/>
          <p:cNvSpPr txBox="1"/>
          <p:nvPr/>
        </p:nvSpPr>
        <p:spPr>
          <a:xfrm>
            <a:off x="566928" y="5413248"/>
            <a:ext cx="11027664" cy="822960"/>
          </a:xfrm>
          <a:prstGeom prst="rect">
            <a:avLst/>
          </a:prstGeom>
          <a:noFill/>
          <a:ln/>
        </p:spPr>
        <p:txBody>
          <a:bodyPr wrap="square" lIns="0" tIns="0" rIns="0" bIns="0" rtlCol="0" anchor="t"/>
          <a:lstStyle/>
          <a:p>
            <a:pPr marL="0" indent="0">
              <a:lnSpc>
                <a:spcPts val="1800"/>
              </a:lnSpc>
              <a:buNone/>
            </a:pPr>
            <a:r>
              <a:rPr lang="en-US" sz="1250" dirty="0">
                <a:solidFill>
                  <a:srgbClr val="5A5A5A"/>
                </a:solidFill>
                <a:latin typeface="Calibri" pitchFamily="34" charset="0"/>
                <a:ea typeface="Calibri" pitchFamily="34" charset="-122"/>
                <a:cs typeface="Calibri" pitchFamily="34" charset="-120"/>
              </a:rPr>
              <a:t>We rejected a survival-versus-coexistence pairing: a faithful entropy port to two populations peaks at a 50% resistant fraction, so the agent would deliberately grow resistance and divergence would be guaranteed in advance by a porting artefact. That variant is kept as a documented secondary result.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THE CORE DESIGN</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The finding lives off the diagonal</a:t>
            </a:r>
            <a:endParaRPr lang="en-US" sz="3000" dirty="0"/>
          </a:p>
        </p:txBody>
      </p:sp>
      <p:sp>
        <p:nvSpPr>
          <p:cNvPr id="4" name="Shape 2"/>
          <p:cNvSpPr/>
          <p:nvPr/>
        </p:nvSpPr>
        <p:spPr>
          <a:xfrm>
            <a:off x="9220810" y="329184"/>
            <a:ext cx="2373782" cy="310896"/>
          </a:xfrm>
          <a:prstGeom prst="roundRect">
            <a:avLst>
              <a:gd name="adj" fmla="val 50000"/>
            </a:avLst>
          </a:prstGeom>
          <a:solidFill>
            <a:srgbClr val="F4F6F7"/>
          </a:solidFill>
          <a:ln w="9525">
            <a:solidFill>
              <a:srgbClr val="E3E8EC"/>
            </a:solidFill>
            <a:prstDash val="solid"/>
          </a:ln>
        </p:spPr>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9</a:t>
            </a:r>
            <a:endParaRPr lang="en-US" sz="1000" dirty="0"/>
          </a:p>
        </p:txBody>
      </p:sp>
      <p:pic>
        <p:nvPicPr>
          <p:cNvPr id="7" name="Image 0" descr="/home/claude/figs/fig4_crosseval.png"/>
          <p:cNvPicPr>
            <a:picLocks noChangeAspect="1"/>
          </p:cNvPicPr>
          <p:nvPr/>
        </p:nvPicPr>
        <p:blipFill>
          <a:blip r:embed="rId3"/>
          <a:stretch>
            <a:fillRect/>
          </a:stretch>
        </p:blipFill>
        <p:spPr>
          <a:xfrm>
            <a:off x="612648" y="1280160"/>
            <a:ext cx="7315200" cy="3600907"/>
          </a:xfrm>
          <a:prstGeom prst="rect">
            <a:avLst/>
          </a:prstGeom>
        </p:spPr>
      </p:pic>
      <p:sp>
        <p:nvSpPr>
          <p:cNvPr id="8" name="Shape 5"/>
          <p:cNvSpPr/>
          <p:nvPr/>
        </p:nvSpPr>
        <p:spPr>
          <a:xfrm>
            <a:off x="8211312" y="1371600"/>
            <a:ext cx="2962656" cy="1645920"/>
          </a:xfrm>
          <a:prstGeom prst="roundRect">
            <a:avLst>
              <a:gd name="adj" fmla="val 3889"/>
            </a:avLst>
          </a:prstGeom>
          <a:solidFill>
            <a:srgbClr val="E8F1FB"/>
          </a:solidFill>
          <a:ln w="12700">
            <a:solidFill>
              <a:srgbClr val="C5DCF6"/>
            </a:solidFill>
            <a:prstDash val="solid"/>
          </a:ln>
        </p:spPr>
      </p:sp>
      <p:sp>
        <p:nvSpPr>
          <p:cNvPr id="9" name="Text 6"/>
          <p:cNvSpPr txBox="1"/>
          <p:nvPr/>
        </p:nvSpPr>
        <p:spPr>
          <a:xfrm>
            <a:off x="8449056" y="1554480"/>
            <a:ext cx="2487168" cy="274320"/>
          </a:xfrm>
          <a:prstGeom prst="rect">
            <a:avLst/>
          </a:prstGeom>
          <a:noFill/>
          <a:ln/>
        </p:spPr>
        <p:txBody>
          <a:bodyPr wrap="square" lIns="0" tIns="0" rIns="0" bIns="0" rtlCol="0" anchor="t"/>
          <a:lstStyle/>
          <a:p>
            <a:pPr marL="0" indent="0">
              <a:buNone/>
            </a:pPr>
            <a:r>
              <a:rPr lang="en-US" sz="1450" b="1" dirty="0">
                <a:solidFill>
                  <a:srgbClr val="2A78D6"/>
                </a:solidFill>
                <a:latin typeface="Calibri" pitchFamily="34" charset="0"/>
                <a:ea typeface="Calibri" pitchFamily="34" charset="-122"/>
                <a:cs typeface="Calibri" pitchFamily="34" charset="-120"/>
              </a:rPr>
              <a:t>Why not just the diagonal?</a:t>
            </a:r>
            <a:endParaRPr lang="en-US" sz="1450" dirty="0"/>
          </a:p>
        </p:txBody>
      </p:sp>
      <p:sp>
        <p:nvSpPr>
          <p:cNvPr id="10" name="Text 7"/>
          <p:cNvSpPr txBox="1"/>
          <p:nvPr/>
        </p:nvSpPr>
        <p:spPr>
          <a:xfrm>
            <a:off x="8449056" y="1920240"/>
            <a:ext cx="2487168" cy="914400"/>
          </a:xfrm>
          <a:prstGeom prst="rect">
            <a:avLst/>
          </a:prstGeom>
          <a:noFill/>
          <a:ln/>
        </p:spPr>
        <p:txBody>
          <a:bodyPr wrap="square" lIns="0" tIns="0" rIns="0" bIns="0" rtlCol="0" anchor="t"/>
          <a:lstStyle/>
          <a:p>
            <a:pPr marL="0" indent="0">
              <a:lnSpc>
                <a:spcPts val="1900"/>
              </a:lnSpc>
              <a:buNone/>
            </a:pPr>
            <a:r>
              <a:rPr lang="en-US" sz="1200" dirty="0">
                <a:solidFill>
                  <a:srgbClr val="2A2A2A"/>
                </a:solidFill>
                <a:latin typeface="Calibri" pitchFamily="34" charset="0"/>
                <a:ea typeface="Calibri" pitchFamily="34" charset="-122"/>
                <a:cs typeface="Calibri" pitchFamily="34" charset="-120"/>
              </a:rPr>
              <a:t>Training on an objective and scoring it on its own metric is circular. A reviewer would say so in the first paragraph.</a:t>
            </a:r>
            <a:endParaRPr lang="en-US" sz="1200" dirty="0"/>
          </a:p>
        </p:txBody>
      </p:sp>
      <p:sp>
        <p:nvSpPr>
          <p:cNvPr id="11" name="Shape 8"/>
          <p:cNvSpPr/>
          <p:nvPr/>
        </p:nvSpPr>
        <p:spPr>
          <a:xfrm>
            <a:off x="8211312" y="3163824"/>
            <a:ext cx="2962656" cy="2432304"/>
          </a:xfrm>
          <a:prstGeom prst="roundRect">
            <a:avLst>
              <a:gd name="adj" fmla="val 2632"/>
            </a:avLst>
          </a:prstGeom>
          <a:solidFill>
            <a:srgbClr val="F4F6F7"/>
          </a:solidFill>
          <a:ln w="12700">
            <a:solidFill>
              <a:srgbClr val="E3E8EC"/>
            </a:solidFill>
            <a:prstDash val="solid"/>
          </a:ln>
        </p:spPr>
      </p:sp>
      <p:sp>
        <p:nvSpPr>
          <p:cNvPr id="12" name="Text 9"/>
          <p:cNvSpPr txBox="1"/>
          <p:nvPr/>
        </p:nvSpPr>
        <p:spPr>
          <a:xfrm>
            <a:off x="8449056" y="3346704"/>
            <a:ext cx="2487168" cy="274320"/>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What the off-diagonal buys</a:t>
            </a:r>
            <a:endParaRPr lang="en-US" sz="1450" dirty="0"/>
          </a:p>
        </p:txBody>
      </p:sp>
      <p:sp>
        <p:nvSpPr>
          <p:cNvPr id="13" name="Text 10"/>
          <p:cNvSpPr txBox="1"/>
          <p:nvPr/>
        </p:nvSpPr>
        <p:spPr>
          <a:xfrm>
            <a:off x="8449056" y="3712464"/>
            <a:ext cx="2487168" cy="1700784"/>
          </a:xfrm>
          <a:prstGeom prst="rect">
            <a:avLst/>
          </a:prstGeom>
          <a:noFill/>
          <a:ln/>
        </p:spPr>
        <p:txBody>
          <a:bodyPr wrap="square" lIns="0" tIns="0" rIns="0" bIns="0" rtlCol="0" anchor="t"/>
          <a:lstStyle/>
          <a:p>
            <a:pPr marL="0" indent="0">
              <a:lnSpc>
                <a:spcPts val="1900"/>
              </a:lnSpc>
              <a:buNone/>
            </a:pPr>
            <a:r>
              <a:rPr lang="en-US" sz="1200" dirty="0">
                <a:solidFill>
                  <a:srgbClr val="2A2A2A"/>
                </a:solidFill>
                <a:latin typeface="Calibri" pitchFamily="34" charset="0"/>
                <a:ea typeface="Calibri" pitchFamily="34" charset="-122"/>
                <a:cs typeface="Calibri" pitchFamily="34" charset="-120"/>
              </a:rPr>
              <a:t>The cost of the wrong objective: if a clinician cares about durability, how much is lost by training on survival?</a:t>
            </a:r>
            <a:endParaRPr lang="en-US" sz="1200" dirty="0"/>
          </a:p>
          <a:p>
            <a:pPr marL="0" indent="0">
              <a:lnSpc>
                <a:spcPts val="1900"/>
              </a:lnSpc>
              <a:buNone/>
            </a:pPr>
            <a:endParaRPr lang="en-US" sz="1200" dirty="0"/>
          </a:p>
          <a:p>
            <a:pPr marL="0" indent="0">
              <a:lnSpc>
                <a:spcPts val="1900"/>
              </a:lnSpc>
              <a:buNone/>
            </a:pPr>
            <a:r>
              <a:rPr lang="en-US" sz="1200" dirty="0">
                <a:solidFill>
                  <a:srgbClr val="2A2A2A"/>
                </a:solidFill>
                <a:latin typeface="Calibri" pitchFamily="34" charset="0"/>
                <a:ea typeface="Calibri" pitchFamily="34" charset="-122"/>
                <a:cs typeface="Calibri" pitchFamily="34" charset="-120"/>
              </a:rPr>
              <a:t>That is the number a translational reader wants, and no single-objective paper can produce it.</a:t>
            </a:r>
            <a:endParaRPr lang="en-US" sz="1200" dirty="0"/>
          </a:p>
        </p:txBody>
      </p:sp>
      <p:sp>
        <p:nvSpPr>
          <p:cNvPr id="14" name="Shape 11"/>
          <p:cNvSpPr/>
          <p:nvPr/>
        </p:nvSpPr>
        <p:spPr>
          <a:xfrm>
            <a:off x="566928" y="5303520"/>
            <a:ext cx="7223760" cy="841248"/>
          </a:xfrm>
          <a:prstGeom prst="roundRect">
            <a:avLst>
              <a:gd name="adj" fmla="val 7609"/>
            </a:avLst>
          </a:prstGeom>
          <a:solidFill>
            <a:srgbClr val="F0F7F5"/>
          </a:solidFill>
          <a:ln w="15875">
            <a:solidFill>
              <a:srgbClr val="0F6E5F"/>
            </a:solidFill>
            <a:prstDash val="solid"/>
          </a:ln>
        </p:spPr>
      </p:sp>
      <p:sp>
        <p:nvSpPr>
          <p:cNvPr id="15" name="Text 12"/>
          <p:cNvSpPr txBox="1"/>
          <p:nvPr/>
        </p:nvSpPr>
        <p:spPr>
          <a:xfrm>
            <a:off x="841248" y="5303520"/>
            <a:ext cx="6675120" cy="84124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Instrumental convergence is the headline we are hunting: does the durability-trained agent achieve longer time to progression than the survival-trained 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SCOPE</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One patient cannot answer this</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10</a:t>
            </a:r>
            <a:endParaRPr lang="en-US" sz="1000" dirty="0"/>
          </a:p>
        </p:txBody>
      </p:sp>
      <p:pic>
        <p:nvPicPr>
          <p:cNvPr id="7" name="Image 0" descr="/home/claude/figs/fig3_cohort.png"/>
          <p:cNvPicPr>
            <a:picLocks noChangeAspect="1"/>
          </p:cNvPicPr>
          <p:nvPr/>
        </p:nvPicPr>
        <p:blipFill>
          <a:blip r:embed="rId3"/>
          <a:stretch>
            <a:fillRect/>
          </a:stretch>
        </p:blipFill>
        <p:spPr>
          <a:xfrm>
            <a:off x="566928" y="1298448"/>
            <a:ext cx="6720840" cy="4408322"/>
          </a:xfrm>
          <a:prstGeom prst="rect">
            <a:avLst/>
          </a:prstGeom>
        </p:spPr>
      </p:pic>
      <p:sp>
        <p:nvSpPr>
          <p:cNvPr id="8" name="Text 5"/>
          <p:cNvSpPr txBox="1"/>
          <p:nvPr/>
        </p:nvSpPr>
        <p:spPr>
          <a:xfrm>
            <a:off x="7607808" y="1389888"/>
            <a:ext cx="3566160" cy="822960"/>
          </a:xfrm>
          <a:prstGeom prst="rect">
            <a:avLst/>
          </a:prstGeom>
          <a:noFill/>
          <a:ln/>
        </p:spPr>
        <p:txBody>
          <a:bodyPr wrap="square" lIns="0" tIns="0" rIns="0" bIns="0" rtlCol="0" anchor="t"/>
          <a:lstStyle/>
          <a:p>
            <a:pPr marL="0" indent="0">
              <a:lnSpc>
                <a:spcPts val="2100"/>
              </a:lnSpc>
              <a:buNone/>
            </a:pPr>
            <a:r>
              <a:rPr lang="en-US" sz="1500" b="1" dirty="0">
                <a:solidFill>
                  <a:srgbClr val="1B2A4A"/>
                </a:solidFill>
                <a:latin typeface="Calibri" pitchFamily="34" charset="0"/>
                <a:ea typeface="Calibri" pitchFamily="34" charset="-122"/>
                <a:cs typeface="Calibri" pitchFamily="34" charset="-120"/>
              </a:rPr>
              <a:t>How much the objective matters is not a number — it is a function of where the patient sits.</a:t>
            </a:r>
            <a:endParaRPr lang="en-US" sz="1500" dirty="0"/>
          </a:p>
        </p:txBody>
      </p:sp>
      <p:sp>
        <p:nvSpPr>
          <p:cNvPr id="9" name="Text 6"/>
          <p:cNvSpPr txBox="1"/>
          <p:nvPr/>
        </p:nvSpPr>
        <p:spPr>
          <a:xfrm>
            <a:off x="7607808" y="2450592"/>
            <a:ext cx="3566160" cy="2688336"/>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250" dirty="0">
                <a:solidFill>
                  <a:srgbClr val="2A2A2A"/>
                </a:solidFill>
                <a:latin typeface="Calibri" pitchFamily="34" charset="0"/>
                <a:ea typeface="Calibri" pitchFamily="34" charset="-122"/>
                <a:cs typeface="Calibri" pitchFamily="34" charset="-120"/>
              </a:rPr>
              <a:t>AT50 gains between 1.2× and 2.2× over MTD across the plane — a 30%+ swing.</a:t>
            </a:r>
            <a:endParaRPr lang="en-US" sz="1250" dirty="0"/>
          </a:p>
          <a:p>
            <a:pPr marL="342900" indent="-342900">
              <a:lnSpc>
                <a:spcPts val="1800"/>
              </a:lnSpc>
              <a:spcAft>
                <a:spcPts val="900"/>
              </a:spcAft>
              <a:buSzPct val="100000"/>
              <a:buChar char="•"/>
            </a:pPr>
            <a:r>
              <a:rPr lang="en-US" sz="1250" dirty="0">
                <a:solidFill>
                  <a:srgbClr val="2A2A2A"/>
                </a:solidFill>
                <a:latin typeface="Calibri" pitchFamily="34" charset="0"/>
                <a:ea typeface="Calibri" pitchFamily="34" charset="-122"/>
                <a:cs typeface="Calibri" pitchFamily="34" charset="-120"/>
              </a:rPr>
              <a:t>In the grey region the tumour never reaches the progression threshold, so TTP is undefined entirely.</a:t>
            </a:r>
            <a:endParaRPr lang="en-US" sz="1250" dirty="0"/>
          </a:p>
          <a:p>
            <a:pPr marL="342900" indent="-342900">
              <a:lnSpc>
                <a:spcPts val="1800"/>
              </a:lnSpc>
              <a:spcAft>
                <a:spcPts val="900"/>
              </a:spcAft>
              <a:buSzPct val="100000"/>
              <a:buChar char="•"/>
            </a:pPr>
            <a:r>
              <a:rPr lang="en-US" sz="1250" dirty="0">
                <a:solidFill>
                  <a:srgbClr val="2A2A2A"/>
                </a:solidFill>
                <a:latin typeface="Calibri" pitchFamily="34" charset="0"/>
                <a:ea typeface="Calibri" pitchFamily="34" charset="-122"/>
                <a:cs typeface="Calibri" pitchFamily="34" charset="-120"/>
              </a:rPr>
              <a:t>The MVP therefore trains on a 3 × 3 virtual cohort, not one proof-of-principle patient.</a:t>
            </a:r>
            <a:endParaRPr lang="en-US" sz="1250" dirty="0"/>
          </a:p>
          <a:p>
            <a:pPr marL="342900" indent="-342900">
              <a:lnSpc>
                <a:spcPts val="1800"/>
              </a:lnSpc>
              <a:spcAft>
                <a:spcPts val="900"/>
              </a:spcAft>
              <a:buSzPct val="100000"/>
              <a:buChar char="•"/>
            </a:pPr>
            <a:r>
              <a:rPr lang="en-US" sz="1250" dirty="0">
                <a:solidFill>
                  <a:srgbClr val="2A2A2A"/>
                </a:solidFill>
                <a:latin typeface="Calibri" pitchFamily="34" charset="0"/>
                <a:ea typeface="Calibri" pitchFamily="34" charset="-122"/>
                <a:cs typeface="Calibri" pitchFamily="34" charset="-120"/>
              </a:rPr>
              <a:t>Same parameter space Strobl and Gallagher sweep — so our robustness result stays comparable to theirs.</a:t>
            </a:r>
            <a:endParaRPr lang="en-US" sz="1250" dirty="0"/>
          </a:p>
        </p:txBody>
      </p:sp>
      <p:sp>
        <p:nvSpPr>
          <p:cNvPr id="10" name="Shape 7"/>
          <p:cNvSpPr/>
          <p:nvPr/>
        </p:nvSpPr>
        <p:spPr>
          <a:xfrm>
            <a:off x="7607808" y="5230368"/>
            <a:ext cx="3566160" cy="786384"/>
          </a:xfrm>
          <a:prstGeom prst="roundRect">
            <a:avLst>
              <a:gd name="adj" fmla="val 8140"/>
            </a:avLst>
          </a:prstGeom>
          <a:solidFill>
            <a:srgbClr val="F4F6F7"/>
          </a:solidFill>
          <a:ln w="12700">
            <a:solidFill>
              <a:srgbClr val="E3E8EC"/>
            </a:solidFill>
            <a:prstDash val="solid"/>
          </a:ln>
        </p:spPr>
      </p:sp>
      <p:sp>
        <p:nvSpPr>
          <p:cNvPr id="11" name="Text 8"/>
          <p:cNvSpPr txBox="1"/>
          <p:nvPr/>
        </p:nvSpPr>
        <p:spPr>
          <a:xfrm>
            <a:off x="7827264" y="5230368"/>
            <a:ext cx="3127248" cy="786384"/>
          </a:xfrm>
          <a:prstGeom prst="rect">
            <a:avLst/>
          </a:prstGeom>
          <a:noFill/>
          <a:ln/>
        </p:spPr>
        <p:txBody>
          <a:bodyPr wrap="square" lIns="0" tIns="0" rIns="0" bIns="0" rtlCol="0" anchor="ctr"/>
          <a:lstStyle/>
          <a:p>
            <a:pPr marL="0" indent="0">
              <a:buNone/>
            </a:pPr>
            <a:r>
              <a:rPr lang="en-US" sz="1200" dirty="0">
                <a:solidFill>
                  <a:srgbClr val="5A5A5A"/>
                </a:solidFill>
                <a:latin typeface="Calibri" pitchFamily="34" charset="0"/>
                <a:ea typeface="Calibri" pitchFamily="34" charset="-122"/>
                <a:cs typeface="Calibri" pitchFamily="34" charset="-120"/>
              </a:rPr>
              <a:t>Compute is not the constraint: a two-state ODE trains the full grid on CPU.</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BASELINES</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Beating MTD is table stakes, not success</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11</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11027664" cy="2628900"/>
        </p:xfrm>
        <a:graphic>
          <a:graphicData uri="http://schemas.openxmlformats.org/drawingml/2006/table">
            <a:tbl>
              <a:tblPr/>
              <a:tblGrid>
                <a:gridCol w="2094890">
                  <a:extLst>
                    <a:ext uri="{9D8B030D-6E8A-4147-A177-3AD203B41FA5}">
                      <a16:colId xmlns:a16="http://schemas.microsoft.com/office/drawing/2014/main" val="20000"/>
                    </a:ext>
                  </a:extLst>
                </a:gridCol>
                <a:gridCol w="3970325">
                  <a:extLst>
                    <a:ext uri="{9D8B030D-6E8A-4147-A177-3AD203B41FA5}">
                      <a16:colId xmlns:a16="http://schemas.microsoft.com/office/drawing/2014/main" val="20001"/>
                    </a:ext>
                  </a:extLst>
                </a:gridCol>
                <a:gridCol w="4962449">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 it is in the suite</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No treatment</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D = 0 throughout</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The floor</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Continuous MTD</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D = D_max throughout</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The universal comparator</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AT50</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Dose until N &lt; 0.5 N₀, withdraw until N ≥ N₀</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The clinical protocol as trialled</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AT-x sweep</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Withdrawal threshold over {25, 50, 75, 90}%</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The tuned-heuristic ceiling — clearing this is a real result</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Intermittent</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Fixed 30 days on, 30 days off</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Not response-triggered; isolates the value of feedback</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AT-PSC</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Partial cycle, 13 of 30 days</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Current best mechanistic rule (Ma 2026)</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r h="0">
                <a:tc>
                  <a:txBody>
                    <a:bodyPr/>
                    <a:lstStyle/>
                    <a:p>
                      <a:pPr marL="0" indent="0">
                        <a:buNone/>
                      </a:pPr>
                      <a:r>
                        <a:rPr lang="en-US" sz="1150" b="1" dirty="0">
                          <a:solidFill>
                            <a:srgbClr val="1B2A4A"/>
                          </a:solidFill>
                          <a:latin typeface="Calibri" pitchFamily="34" charset="0"/>
                          <a:ea typeface="Calibri" pitchFamily="34" charset="-122"/>
                          <a:cs typeface="Calibri" pitchFamily="34" charset="-120"/>
                        </a:rPr>
                        <a:t>Value iteration</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Discretised (S, R) grid, solved per objective</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50" dirty="0">
                          <a:solidFill>
                            <a:srgbClr val="2A2A2A"/>
                          </a:solidFill>
                          <a:latin typeface="Calibri" pitchFamily="34" charset="0"/>
                          <a:ea typeface="Calibri" pitchFamily="34" charset="-122"/>
                          <a:cs typeface="Calibri" pitchFamily="34" charset="-120"/>
                        </a:rPr>
                        <a:t>The computable optimum — the strongest comparator</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hape 5"/>
          <p:cNvSpPr/>
          <p:nvPr/>
        </p:nvSpPr>
        <p:spPr>
          <a:xfrm>
            <a:off x="566928" y="4535424"/>
            <a:ext cx="11027664" cy="914400"/>
          </a:xfrm>
          <a:prstGeom prst="roundRect">
            <a:avLst>
              <a:gd name="adj" fmla="val 8000"/>
            </a:avLst>
          </a:prstGeom>
          <a:solidFill>
            <a:srgbClr val="F0F7F5"/>
          </a:solidFill>
          <a:ln w="15875">
            <a:solidFill>
              <a:srgbClr val="0F6E5F"/>
            </a:solidFill>
            <a:prstDash val="solid"/>
          </a:ln>
        </p:spPr>
      </p:sp>
      <p:sp>
        <p:nvSpPr>
          <p:cNvPr id="9" name="Text 6"/>
          <p:cNvSpPr txBox="1"/>
          <p:nvPr/>
        </p:nvSpPr>
        <p:spPr>
          <a:xfrm>
            <a:off x="914400" y="4535424"/>
            <a:ext cx="10332720" cy="91440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The claim becomes "the agent reached 96% of the computable optimum for its own objective" — which is far harder to dismiss than "the agent beat AT50".</a:t>
            </a:r>
            <a:endParaRPr lang="en-US" sz="1500" dirty="0"/>
          </a:p>
        </p:txBody>
      </p:sp>
      <p:sp>
        <p:nvSpPr>
          <p:cNvPr id="10" name="Text 7"/>
          <p:cNvSpPr txBox="1"/>
          <p:nvPr/>
        </p:nvSpPr>
        <p:spPr>
          <a:xfrm>
            <a:off x="566928" y="5632704"/>
            <a:ext cx="11027664" cy="822960"/>
          </a:xfrm>
          <a:prstGeom prst="rect">
            <a:avLst/>
          </a:prstGeom>
          <a:noFill/>
          <a:ln/>
        </p:spPr>
        <p:txBody>
          <a:bodyPr wrap="square" lIns="0" tIns="0" rIns="0" bIns="0" rtlCol="0" anchor="t"/>
          <a:lstStyle/>
          <a:p>
            <a:pPr marL="0" indent="0">
              <a:lnSpc>
                <a:spcPts val="1800"/>
              </a:lnSpc>
              <a:buNone/>
            </a:pPr>
            <a:r>
              <a:rPr lang="en-US" sz="1300" dirty="0">
                <a:solidFill>
                  <a:srgbClr val="5A5A5A"/>
                </a:solidFill>
                <a:latin typeface="Calibri" pitchFamily="34" charset="0"/>
                <a:ea typeface="Calibri" pitchFamily="34" charset="-122"/>
                <a:cs typeface="Calibri" pitchFamily="34" charset="-120"/>
              </a:rPr>
              <a:t>Each objective has its own optimum, so value iteration is solved separately per objective — a column of ceilings, not a single number.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EVALUATION</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What would count as a real difference</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12</a:t>
            </a:r>
            <a:endParaRPr lang="en-US" sz="1000" dirty="0"/>
          </a:p>
        </p:txBody>
      </p:sp>
      <p:sp>
        <p:nvSpPr>
          <p:cNvPr id="7" name="Shape 5"/>
          <p:cNvSpPr/>
          <p:nvPr/>
        </p:nvSpPr>
        <p:spPr>
          <a:xfrm>
            <a:off x="566928" y="1408176"/>
            <a:ext cx="5413248" cy="2249424"/>
          </a:xfrm>
          <a:prstGeom prst="roundRect">
            <a:avLst>
              <a:gd name="adj" fmla="val 2846"/>
            </a:avLst>
          </a:prstGeom>
          <a:solidFill>
            <a:srgbClr val="F4F6F7"/>
          </a:solidFill>
          <a:ln w="12700">
            <a:solidFill>
              <a:srgbClr val="E3E8EC"/>
            </a:solidFill>
            <a:prstDash val="solid"/>
          </a:ln>
        </p:spPr>
      </p:sp>
      <p:sp>
        <p:nvSpPr>
          <p:cNvPr id="8" name="Text 6"/>
          <p:cNvSpPr txBox="1"/>
          <p:nvPr/>
        </p:nvSpPr>
        <p:spPr>
          <a:xfrm>
            <a:off x="804672" y="1591056"/>
            <a:ext cx="4937760" cy="274320"/>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Outcome metrics</a:t>
            </a:r>
            <a:endParaRPr lang="en-US" sz="1450" dirty="0"/>
          </a:p>
        </p:txBody>
      </p:sp>
      <p:sp>
        <p:nvSpPr>
          <p:cNvPr id="9" name="Text 7"/>
          <p:cNvSpPr txBox="1"/>
          <p:nvPr/>
        </p:nvSpPr>
        <p:spPr>
          <a:xfrm>
            <a:off x="804672" y="1956816"/>
            <a:ext cx="4937760" cy="1517904"/>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Time to progression</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Cumulative dose, and as % of MTD</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Mean and terminal resistant fraction</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Post-withdrawal regrowth over 180 d</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Maximum burden reached</a:t>
            </a:r>
            <a:endParaRPr lang="en-US" sz="1250" dirty="0"/>
          </a:p>
        </p:txBody>
      </p:sp>
      <p:sp>
        <p:nvSpPr>
          <p:cNvPr id="10" name="Shape 8"/>
          <p:cNvSpPr/>
          <p:nvPr/>
        </p:nvSpPr>
        <p:spPr>
          <a:xfrm>
            <a:off x="6199632" y="1408176"/>
            <a:ext cx="5413248" cy="2249424"/>
          </a:xfrm>
          <a:prstGeom prst="roundRect">
            <a:avLst>
              <a:gd name="adj" fmla="val 2846"/>
            </a:avLst>
          </a:prstGeom>
          <a:solidFill>
            <a:srgbClr val="E8F1FB"/>
          </a:solidFill>
          <a:ln w="12700">
            <a:solidFill>
              <a:srgbClr val="C5DCF6"/>
            </a:solidFill>
            <a:prstDash val="solid"/>
          </a:ln>
        </p:spPr>
      </p:sp>
      <p:sp>
        <p:nvSpPr>
          <p:cNvPr id="11" name="Text 9"/>
          <p:cNvSpPr txBox="1"/>
          <p:nvPr/>
        </p:nvSpPr>
        <p:spPr>
          <a:xfrm>
            <a:off x="6437376" y="1591056"/>
            <a:ext cx="4937760" cy="274320"/>
          </a:xfrm>
          <a:prstGeom prst="rect">
            <a:avLst/>
          </a:prstGeom>
          <a:noFill/>
          <a:ln/>
        </p:spPr>
        <p:txBody>
          <a:bodyPr wrap="square" lIns="0" tIns="0" rIns="0" bIns="0" rtlCol="0" anchor="t"/>
          <a:lstStyle/>
          <a:p>
            <a:pPr marL="0" indent="0">
              <a:buNone/>
            </a:pPr>
            <a:r>
              <a:rPr lang="en-US" sz="1450" b="1" dirty="0">
                <a:solidFill>
                  <a:srgbClr val="2A78D6"/>
                </a:solidFill>
                <a:latin typeface="Calibri" pitchFamily="34" charset="0"/>
                <a:ea typeface="Calibri" pitchFamily="34" charset="-122"/>
                <a:cs typeface="Calibri" pitchFamily="34" charset="-120"/>
              </a:rPr>
              <a:t>Policy-space metrics</a:t>
            </a:r>
            <a:endParaRPr lang="en-US" sz="1450" dirty="0"/>
          </a:p>
        </p:txBody>
      </p:sp>
      <p:sp>
        <p:nvSpPr>
          <p:cNvPr id="12" name="Text 10"/>
          <p:cNvSpPr txBox="1"/>
          <p:nvPr/>
        </p:nvSpPr>
        <p:spPr>
          <a:xfrm>
            <a:off x="6437376" y="1956816"/>
            <a:ext cx="4937760" cy="1517904"/>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Switching threshold N*, from a sigmoid fit to P(treat) against burden</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Pairwise KL divergence between state–action distributions on a shared grid</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Two policies can match on outcome and still differ in states the trajectories rarely visit — only these will show it</a:t>
            </a:r>
            <a:endParaRPr lang="en-US" sz="1250" dirty="0"/>
          </a:p>
        </p:txBody>
      </p:sp>
      <p:sp>
        <p:nvSpPr>
          <p:cNvPr id="13" name="Shape 11"/>
          <p:cNvSpPr/>
          <p:nvPr/>
        </p:nvSpPr>
        <p:spPr>
          <a:xfrm>
            <a:off x="566928" y="3950208"/>
            <a:ext cx="274320" cy="274320"/>
          </a:xfrm>
          <a:prstGeom prst="ellipse">
            <a:avLst/>
          </a:prstGeom>
          <a:solidFill>
            <a:srgbClr val="0F6E5F"/>
          </a:solidFill>
          <a:ln w="12700">
            <a:solidFill>
              <a:srgbClr val="333333"/>
            </a:solidFill>
            <a:prstDash val="solid"/>
          </a:ln>
        </p:spPr>
      </p:sp>
      <p:sp>
        <p:nvSpPr>
          <p:cNvPr id="14" name="Text 12"/>
          <p:cNvSpPr txBox="1"/>
          <p:nvPr/>
        </p:nvSpPr>
        <p:spPr>
          <a:xfrm>
            <a:off x="566928" y="39502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5" name="Text 13"/>
          <p:cNvSpPr txBox="1"/>
          <p:nvPr/>
        </p:nvSpPr>
        <p:spPr>
          <a:xfrm>
            <a:off x="987552" y="3931920"/>
            <a:ext cx="10607040" cy="658368"/>
          </a:xfrm>
          <a:prstGeom prst="rect">
            <a:avLst/>
          </a:prstGeom>
          <a:noFill/>
          <a:ln/>
        </p:spPr>
        <p:txBody>
          <a:bodyPr wrap="square" lIns="0" tIns="0" rIns="0" bIns="0" rtlCol="0" anchor="t"/>
          <a:lstStyle/>
          <a:p>
            <a:pPr marL="0" indent="0">
              <a:lnSpc>
                <a:spcPts val="1800"/>
              </a:lnSpc>
              <a:buNone/>
            </a:pPr>
            <a:r>
              <a:rPr lang="en-US" sz="1300" b="1" dirty="0">
                <a:solidFill>
                  <a:srgbClr val="1B2A4A"/>
                </a:solidFill>
                <a:latin typeface="Calibri" pitchFamily="34" charset="0"/>
                <a:ea typeface="Calibri" pitchFamily="34" charset="-122"/>
                <a:cs typeface="Calibri" pitchFamily="34" charset="-120"/>
              </a:rPr>
              <a:t>Statistics   </a:t>
            </a:r>
            <a:r>
              <a:rPr lang="en-US" sz="1300" dirty="0">
                <a:solidFill>
                  <a:srgbClr val="2A2A2A"/>
                </a:solidFill>
                <a:latin typeface="Calibri" pitchFamily="34" charset="0"/>
                <a:ea typeface="Calibri" pitchFamily="34" charset="-122"/>
                <a:cs typeface="Calibri" pitchFamily="34" charset="-120"/>
              </a:rPr>
              <a:t>Median and the full seed distribution, never the mean alone — RL's advantage here is often low variance rather than a higher peak (Eastman 2021).</a:t>
            </a:r>
            <a:endParaRPr lang="en-US" sz="1300" dirty="0"/>
          </a:p>
        </p:txBody>
      </p:sp>
      <p:sp>
        <p:nvSpPr>
          <p:cNvPr id="16" name="Shape 14"/>
          <p:cNvSpPr/>
          <p:nvPr/>
        </p:nvSpPr>
        <p:spPr>
          <a:xfrm>
            <a:off x="566928" y="4681728"/>
            <a:ext cx="274320" cy="274320"/>
          </a:xfrm>
          <a:prstGeom prst="ellipse">
            <a:avLst/>
          </a:prstGeom>
          <a:solidFill>
            <a:srgbClr val="0F6E5F"/>
          </a:solidFill>
          <a:ln w="12700">
            <a:solidFill>
              <a:srgbClr val="333333"/>
            </a:solidFill>
            <a:prstDash val="solid"/>
          </a:ln>
        </p:spPr>
      </p:sp>
      <p:sp>
        <p:nvSpPr>
          <p:cNvPr id="17" name="Text 15"/>
          <p:cNvSpPr txBox="1"/>
          <p:nvPr/>
        </p:nvSpPr>
        <p:spPr>
          <a:xfrm>
            <a:off x="566928" y="46817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txBox="1"/>
          <p:nvPr/>
        </p:nvSpPr>
        <p:spPr>
          <a:xfrm>
            <a:off x="987552" y="4663440"/>
            <a:ext cx="10607040" cy="658368"/>
          </a:xfrm>
          <a:prstGeom prst="rect">
            <a:avLst/>
          </a:prstGeom>
          <a:noFill/>
          <a:ln/>
        </p:spPr>
        <p:txBody>
          <a:bodyPr wrap="square" lIns="0" tIns="0" rIns="0" bIns="0" rtlCol="0" anchor="t"/>
          <a:lstStyle/>
          <a:p>
            <a:pPr marL="0" indent="0">
              <a:lnSpc>
                <a:spcPts val="1800"/>
              </a:lnSpc>
              <a:buNone/>
            </a:pPr>
            <a:r>
              <a:rPr lang="en-US" sz="1300" b="1" dirty="0">
                <a:solidFill>
                  <a:srgbClr val="1B2A4A"/>
                </a:solidFill>
                <a:latin typeface="Calibri" pitchFamily="34" charset="0"/>
                <a:ea typeface="Calibri" pitchFamily="34" charset="-122"/>
                <a:cs typeface="Calibri" pitchFamily="34" charset="-120"/>
              </a:rPr>
              <a:t>Seeds   </a:t>
            </a:r>
            <a:r>
              <a:rPr lang="en-US" sz="1300" dirty="0">
                <a:solidFill>
                  <a:srgbClr val="2A2A2A"/>
                </a:solidFill>
                <a:latin typeface="Calibri" pitchFamily="34" charset="0"/>
                <a:ea typeface="Calibri" pitchFamily="34" charset="-122"/>
                <a:cs typeface="Calibri" pitchFamily="34" charset="-120"/>
              </a:rPr>
              <a:t>At least ten agents per objective per cohort patient. Single-seed results in this domain mislead.</a:t>
            </a:r>
            <a:endParaRPr lang="en-US" sz="1300" dirty="0"/>
          </a:p>
        </p:txBody>
      </p:sp>
      <p:sp>
        <p:nvSpPr>
          <p:cNvPr id="19" name="Shape 17"/>
          <p:cNvSpPr/>
          <p:nvPr/>
        </p:nvSpPr>
        <p:spPr>
          <a:xfrm>
            <a:off x="566928" y="5413248"/>
            <a:ext cx="274320" cy="274320"/>
          </a:xfrm>
          <a:prstGeom prst="ellipse">
            <a:avLst/>
          </a:prstGeom>
          <a:solidFill>
            <a:srgbClr val="0F6E5F"/>
          </a:solidFill>
          <a:ln w="12700">
            <a:solidFill>
              <a:srgbClr val="333333"/>
            </a:solidFill>
            <a:prstDash val="solid"/>
          </a:ln>
        </p:spPr>
      </p:sp>
      <p:sp>
        <p:nvSpPr>
          <p:cNvPr id="20" name="Text 18"/>
          <p:cNvSpPr txBox="1"/>
          <p:nvPr/>
        </p:nvSpPr>
        <p:spPr>
          <a:xfrm>
            <a:off x="566928" y="54132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txBox="1"/>
          <p:nvPr/>
        </p:nvSpPr>
        <p:spPr>
          <a:xfrm>
            <a:off x="987552" y="5394960"/>
            <a:ext cx="10607040" cy="658368"/>
          </a:xfrm>
          <a:prstGeom prst="rect">
            <a:avLst/>
          </a:prstGeom>
          <a:noFill/>
          <a:ln/>
        </p:spPr>
        <p:txBody>
          <a:bodyPr wrap="square" lIns="0" tIns="0" rIns="0" bIns="0" rtlCol="0" anchor="t"/>
          <a:lstStyle/>
          <a:p>
            <a:pPr marL="0" indent="0">
              <a:lnSpc>
                <a:spcPts val="1800"/>
              </a:lnSpc>
              <a:buNone/>
            </a:pPr>
            <a:r>
              <a:rPr lang="en-US" sz="1300" b="1" dirty="0">
                <a:solidFill>
                  <a:srgbClr val="1B2A4A"/>
                </a:solidFill>
                <a:latin typeface="Calibri" pitchFamily="34" charset="0"/>
                <a:ea typeface="Calibri" pitchFamily="34" charset="-122"/>
                <a:cs typeface="Calibri" pitchFamily="34" charset="-120"/>
              </a:rPr>
              <a:t>Pre-registered   </a:t>
            </a:r>
            <a:r>
              <a:rPr lang="en-US" sz="1300" dirty="0">
                <a:solidFill>
                  <a:srgbClr val="2A2A2A"/>
                </a:solidFill>
                <a:latin typeface="Calibri" pitchFamily="34" charset="0"/>
                <a:ea typeface="Calibri" pitchFamily="34" charset="-122"/>
                <a:cs typeface="Calibri" pitchFamily="34" charset="-120"/>
              </a:rPr>
              <a:t>A cross-objective difference is claimed only if it exceeds the within-objective seed-to-seed spread. Committed before seeing results.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FEASIBILITY</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We have already built and checked the environment</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13</a:t>
            </a:r>
            <a:endParaRPr lang="en-US" sz="1000" dirty="0"/>
          </a:p>
        </p:txBody>
      </p:sp>
      <p:sp>
        <p:nvSpPr>
          <p:cNvPr id="7" name="Text 5"/>
          <p:cNvSpPr txBox="1"/>
          <p:nvPr/>
        </p:nvSpPr>
        <p:spPr>
          <a:xfrm>
            <a:off x="566928" y="1371600"/>
            <a:ext cx="11027664" cy="822960"/>
          </a:xfrm>
          <a:prstGeom prst="rect">
            <a:avLst/>
          </a:prstGeom>
          <a:noFill/>
          <a:ln/>
        </p:spPr>
        <p:txBody>
          <a:bodyPr wrap="square" lIns="0" tIns="0" rIns="0" bIns="0" rtlCol="0" anchor="t"/>
          <a:lstStyle/>
          <a:p>
            <a:pPr marL="0" indent="0">
              <a:lnSpc>
                <a:spcPts val="2100"/>
              </a:lnSpc>
              <a:buNone/>
            </a:pPr>
            <a:r>
              <a:rPr lang="en-US" sz="1450" dirty="0">
                <a:solidFill>
                  <a:srgbClr val="2A2A2A"/>
                </a:solidFill>
                <a:latin typeface="Calibri" pitchFamily="34" charset="0"/>
                <a:ea typeface="Calibri" pitchFamily="34" charset="-122"/>
                <a:cs typeface="Calibri" pitchFamily="34" charset="-120"/>
              </a:rPr>
              <a:t>Experiment 0 is the correctness gate: reproduce the published benchmark before trusting anything downstream. Our independent re-implementation already lands close.</a:t>
            </a:r>
            <a:endParaRPr lang="en-US" sz="1450" dirty="0"/>
          </a:p>
        </p:txBody>
      </p:sp>
      <p:sp>
        <p:nvSpPr>
          <p:cNvPr id="8" name="Shape 6"/>
          <p:cNvSpPr/>
          <p:nvPr/>
        </p:nvSpPr>
        <p:spPr>
          <a:xfrm>
            <a:off x="566928" y="2139696"/>
            <a:ext cx="2596896" cy="1901952"/>
          </a:xfrm>
          <a:prstGeom prst="roundRect">
            <a:avLst>
              <a:gd name="adj" fmla="val 3846"/>
            </a:avLst>
          </a:prstGeom>
          <a:solidFill>
            <a:srgbClr val="F4F6F7"/>
          </a:solidFill>
          <a:ln w="12700">
            <a:solidFill>
              <a:srgbClr val="E3E8EC"/>
            </a:solidFill>
            <a:prstDash val="solid"/>
          </a:ln>
        </p:spPr>
      </p:sp>
      <p:sp>
        <p:nvSpPr>
          <p:cNvPr id="9" name="Text 7"/>
          <p:cNvSpPr txBox="1"/>
          <p:nvPr/>
        </p:nvSpPr>
        <p:spPr>
          <a:xfrm>
            <a:off x="566928" y="2304288"/>
            <a:ext cx="2596896" cy="786384"/>
          </a:xfrm>
          <a:prstGeom prst="rect">
            <a:avLst/>
          </a:prstGeom>
          <a:noFill/>
          <a:ln/>
        </p:spPr>
        <p:txBody>
          <a:bodyPr wrap="square" lIns="0" tIns="0" rIns="0" bIns="0" rtlCol="0" anchor="ctr"/>
          <a:lstStyle/>
          <a:p>
            <a:pPr marL="0" indent="0" algn="ctr">
              <a:buNone/>
            </a:pPr>
            <a:r>
              <a:rPr lang="en-US" sz="4200" b="1" dirty="0">
                <a:solidFill>
                  <a:srgbClr val="0F6E5F"/>
                </a:solidFill>
                <a:latin typeface="Calibri" pitchFamily="34" charset="0"/>
                <a:ea typeface="Calibri" pitchFamily="34" charset="-122"/>
                <a:cs typeface="Calibri" pitchFamily="34" charset="-120"/>
              </a:rPr>
              <a:t>454 d</a:t>
            </a:r>
            <a:endParaRPr lang="en-US" sz="4200" dirty="0"/>
          </a:p>
        </p:txBody>
      </p:sp>
      <p:sp>
        <p:nvSpPr>
          <p:cNvPr id="10" name="Text 8"/>
          <p:cNvSpPr txBox="1"/>
          <p:nvPr/>
        </p:nvSpPr>
        <p:spPr>
          <a:xfrm>
            <a:off x="566928" y="3072384"/>
            <a:ext cx="2596896" cy="566928"/>
          </a:xfrm>
          <a:prstGeom prst="rect">
            <a:avLst/>
          </a:prstGeom>
          <a:noFill/>
          <a:ln/>
        </p:spPr>
        <p:txBody>
          <a:bodyPr wrap="square" lIns="0" tIns="0" rIns="0" bIns="0" rtlCol="0" anchor="t"/>
          <a:lstStyle/>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our continuous-therapy result</a:t>
            </a:r>
            <a:endParaRPr lang="en-US" sz="1250" dirty="0"/>
          </a:p>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against a published 451 d</a:t>
            </a:r>
            <a:endParaRPr lang="en-US" sz="1250" dirty="0"/>
          </a:p>
        </p:txBody>
      </p:sp>
      <p:sp>
        <p:nvSpPr>
          <p:cNvPr id="11" name="Shape 9"/>
          <p:cNvSpPr/>
          <p:nvPr/>
        </p:nvSpPr>
        <p:spPr>
          <a:xfrm>
            <a:off x="3364992" y="2139696"/>
            <a:ext cx="2596896" cy="1901952"/>
          </a:xfrm>
          <a:prstGeom prst="roundRect">
            <a:avLst>
              <a:gd name="adj" fmla="val 3846"/>
            </a:avLst>
          </a:prstGeom>
          <a:solidFill>
            <a:srgbClr val="F4F6F7"/>
          </a:solidFill>
          <a:ln w="12700">
            <a:solidFill>
              <a:srgbClr val="E3E8EC"/>
            </a:solidFill>
            <a:prstDash val="solid"/>
          </a:ln>
        </p:spPr>
      </p:sp>
      <p:sp>
        <p:nvSpPr>
          <p:cNvPr id="12" name="Text 10"/>
          <p:cNvSpPr txBox="1"/>
          <p:nvPr/>
        </p:nvSpPr>
        <p:spPr>
          <a:xfrm>
            <a:off x="3364992" y="2304288"/>
            <a:ext cx="2596896" cy="786384"/>
          </a:xfrm>
          <a:prstGeom prst="rect">
            <a:avLst/>
          </a:prstGeom>
          <a:noFill/>
          <a:ln/>
        </p:spPr>
        <p:txBody>
          <a:bodyPr wrap="square" lIns="0" tIns="0" rIns="0" bIns="0" rtlCol="0" anchor="ctr"/>
          <a:lstStyle/>
          <a:p>
            <a:pPr marL="0" indent="0" algn="ctr">
              <a:buNone/>
            </a:pPr>
            <a:r>
              <a:rPr lang="en-US" sz="4200" b="1" dirty="0">
                <a:solidFill>
                  <a:srgbClr val="0F6E5F"/>
                </a:solidFill>
                <a:latin typeface="Calibri" pitchFamily="34" charset="0"/>
                <a:ea typeface="Calibri" pitchFamily="34" charset="-122"/>
                <a:cs typeface="Calibri" pitchFamily="34" charset="-120"/>
              </a:rPr>
              <a:t>0.7%</a:t>
            </a:r>
            <a:endParaRPr lang="en-US" sz="4200" dirty="0"/>
          </a:p>
        </p:txBody>
      </p:sp>
      <p:sp>
        <p:nvSpPr>
          <p:cNvPr id="13" name="Text 11"/>
          <p:cNvSpPr txBox="1"/>
          <p:nvPr/>
        </p:nvSpPr>
        <p:spPr>
          <a:xfrm>
            <a:off x="3364992" y="3072384"/>
            <a:ext cx="2596896" cy="566928"/>
          </a:xfrm>
          <a:prstGeom prst="rect">
            <a:avLst/>
          </a:prstGeom>
          <a:noFill/>
          <a:ln/>
        </p:spPr>
        <p:txBody>
          <a:bodyPr wrap="square" lIns="0" tIns="0" rIns="0" bIns="0" rtlCol="0" anchor="t"/>
          <a:lstStyle/>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error on the continuous-therapy</a:t>
            </a:r>
            <a:endParaRPr lang="en-US" sz="1250" dirty="0"/>
          </a:p>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benchmark, before any tuning</a:t>
            </a:r>
            <a:endParaRPr lang="en-US" sz="1250" dirty="0"/>
          </a:p>
        </p:txBody>
      </p:sp>
      <p:sp>
        <p:nvSpPr>
          <p:cNvPr id="14" name="Shape 12"/>
          <p:cNvSpPr/>
          <p:nvPr/>
        </p:nvSpPr>
        <p:spPr>
          <a:xfrm>
            <a:off x="6163056" y="2139696"/>
            <a:ext cx="2596896" cy="1901952"/>
          </a:xfrm>
          <a:prstGeom prst="roundRect">
            <a:avLst>
              <a:gd name="adj" fmla="val 3846"/>
            </a:avLst>
          </a:prstGeom>
          <a:solidFill>
            <a:srgbClr val="F4F6F7"/>
          </a:solidFill>
          <a:ln w="12700">
            <a:solidFill>
              <a:srgbClr val="E3E8EC"/>
            </a:solidFill>
            <a:prstDash val="solid"/>
          </a:ln>
        </p:spPr>
      </p:sp>
      <p:sp>
        <p:nvSpPr>
          <p:cNvPr id="15" name="Text 13"/>
          <p:cNvSpPr txBox="1"/>
          <p:nvPr/>
        </p:nvSpPr>
        <p:spPr>
          <a:xfrm>
            <a:off x="6163056" y="2304288"/>
            <a:ext cx="2596896" cy="786384"/>
          </a:xfrm>
          <a:prstGeom prst="rect">
            <a:avLst/>
          </a:prstGeom>
          <a:noFill/>
          <a:ln/>
        </p:spPr>
        <p:txBody>
          <a:bodyPr wrap="square" lIns="0" tIns="0" rIns="0" bIns="0" rtlCol="0" anchor="ctr"/>
          <a:lstStyle/>
          <a:p>
            <a:pPr marL="0" indent="0" algn="ctr">
              <a:buNone/>
            </a:pPr>
            <a:r>
              <a:rPr lang="en-US" sz="4200" b="1" dirty="0">
                <a:solidFill>
                  <a:srgbClr val="2A78D6"/>
                </a:solidFill>
                <a:latin typeface="Calibri" pitchFamily="34" charset="0"/>
                <a:ea typeface="Calibri" pitchFamily="34" charset="-122"/>
                <a:cs typeface="Calibri" pitchFamily="34" charset="-120"/>
              </a:rPr>
              <a:t>706 d</a:t>
            </a:r>
            <a:endParaRPr lang="en-US" sz="4200" dirty="0"/>
          </a:p>
        </p:txBody>
      </p:sp>
      <p:sp>
        <p:nvSpPr>
          <p:cNvPr id="16" name="Text 14"/>
          <p:cNvSpPr txBox="1"/>
          <p:nvPr/>
        </p:nvSpPr>
        <p:spPr>
          <a:xfrm>
            <a:off x="6163056" y="3072384"/>
            <a:ext cx="2596896" cy="566928"/>
          </a:xfrm>
          <a:prstGeom prst="rect">
            <a:avLst/>
          </a:prstGeom>
          <a:noFill/>
          <a:ln/>
        </p:spPr>
        <p:txBody>
          <a:bodyPr wrap="square" lIns="0" tIns="0" rIns="0" bIns="0" rtlCol="0" anchor="t"/>
          <a:lstStyle/>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our AT50 result against</a:t>
            </a:r>
            <a:endParaRPr lang="en-US" sz="1250" dirty="0"/>
          </a:p>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a published 672 d</a:t>
            </a:r>
            <a:endParaRPr lang="en-US" sz="1250" dirty="0"/>
          </a:p>
        </p:txBody>
      </p:sp>
      <p:sp>
        <p:nvSpPr>
          <p:cNvPr id="17" name="Shape 15"/>
          <p:cNvSpPr/>
          <p:nvPr/>
        </p:nvSpPr>
        <p:spPr>
          <a:xfrm>
            <a:off x="8961120" y="2139696"/>
            <a:ext cx="2596896" cy="1901952"/>
          </a:xfrm>
          <a:prstGeom prst="roundRect">
            <a:avLst>
              <a:gd name="adj" fmla="val 3846"/>
            </a:avLst>
          </a:prstGeom>
          <a:solidFill>
            <a:srgbClr val="F4F6F7"/>
          </a:solidFill>
          <a:ln w="12700">
            <a:solidFill>
              <a:srgbClr val="E3E8EC"/>
            </a:solidFill>
            <a:prstDash val="solid"/>
          </a:ln>
        </p:spPr>
      </p:sp>
      <p:sp>
        <p:nvSpPr>
          <p:cNvPr id="18" name="Text 16"/>
          <p:cNvSpPr txBox="1"/>
          <p:nvPr/>
        </p:nvSpPr>
        <p:spPr>
          <a:xfrm>
            <a:off x="8961120" y="2304288"/>
            <a:ext cx="2596896" cy="786384"/>
          </a:xfrm>
          <a:prstGeom prst="rect">
            <a:avLst/>
          </a:prstGeom>
          <a:noFill/>
          <a:ln/>
        </p:spPr>
        <p:txBody>
          <a:bodyPr wrap="square" lIns="0" tIns="0" rIns="0" bIns="0" rtlCol="0" anchor="ctr"/>
          <a:lstStyle/>
          <a:p>
            <a:pPr marL="0" indent="0" algn="ctr">
              <a:buNone/>
            </a:pPr>
            <a:r>
              <a:rPr lang="en-US" sz="4200" b="1" dirty="0">
                <a:solidFill>
                  <a:srgbClr val="2A78D6"/>
                </a:solidFill>
                <a:latin typeface="Calibri" pitchFamily="34" charset="0"/>
                <a:ea typeface="Calibri" pitchFamily="34" charset="-122"/>
                <a:cs typeface="Calibri" pitchFamily="34" charset="-120"/>
              </a:rPr>
              <a:t>5%</a:t>
            </a:r>
            <a:endParaRPr lang="en-US" sz="4200" dirty="0"/>
          </a:p>
        </p:txBody>
      </p:sp>
      <p:sp>
        <p:nvSpPr>
          <p:cNvPr id="19" name="Text 17"/>
          <p:cNvSpPr txBox="1"/>
          <p:nvPr/>
        </p:nvSpPr>
        <p:spPr>
          <a:xfrm>
            <a:off x="8961120" y="3072384"/>
            <a:ext cx="2596896" cy="566928"/>
          </a:xfrm>
          <a:prstGeom prst="rect">
            <a:avLst/>
          </a:prstGeom>
          <a:noFill/>
          <a:ln/>
        </p:spPr>
        <p:txBody>
          <a:bodyPr wrap="square" lIns="0" tIns="0" rIns="0" bIns="0" rtlCol="0" anchor="t"/>
          <a:lstStyle/>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residual gap — exactly what</a:t>
            </a:r>
            <a:endParaRPr lang="en-US" sz="1250" dirty="0"/>
          </a:p>
          <a:p>
            <a:pPr marL="0" indent="0" algn="ctr">
              <a:lnSpc>
                <a:spcPts val="1600"/>
              </a:lnSpc>
              <a:buNone/>
            </a:pPr>
            <a:r>
              <a:rPr lang="en-US" sz="1250" dirty="0">
                <a:solidFill>
                  <a:srgbClr val="5A5A5A"/>
                </a:solidFill>
                <a:latin typeface="Calibri" pitchFamily="34" charset="0"/>
                <a:ea typeface="Calibri" pitchFamily="34" charset="-122"/>
                <a:cs typeface="Calibri" pitchFamily="34" charset="-120"/>
              </a:rPr>
              <a:t>Experiment 0 exists to close</a:t>
            </a:r>
            <a:endParaRPr lang="en-US" sz="1250" dirty="0"/>
          </a:p>
        </p:txBody>
      </p:sp>
      <p:sp>
        <p:nvSpPr>
          <p:cNvPr id="20" name="Shape 18"/>
          <p:cNvSpPr/>
          <p:nvPr/>
        </p:nvSpPr>
        <p:spPr>
          <a:xfrm>
            <a:off x="566928" y="4334256"/>
            <a:ext cx="11027664" cy="932688"/>
          </a:xfrm>
          <a:prstGeom prst="roundRect">
            <a:avLst>
              <a:gd name="adj" fmla="val 7843"/>
            </a:avLst>
          </a:prstGeom>
          <a:solidFill>
            <a:srgbClr val="F0F7F5"/>
          </a:solidFill>
          <a:ln w="15875">
            <a:solidFill>
              <a:srgbClr val="0F6E5F"/>
            </a:solidFill>
            <a:prstDash val="solid"/>
          </a:ln>
        </p:spPr>
      </p:sp>
      <p:sp>
        <p:nvSpPr>
          <p:cNvPr id="21" name="Text 19"/>
          <p:cNvSpPr txBox="1"/>
          <p:nvPr/>
        </p:nvSpPr>
        <p:spPr>
          <a:xfrm>
            <a:off x="914400" y="4334256"/>
            <a:ext cx="10332720" cy="932688"/>
          </a:xfrm>
          <a:prstGeom prst="rect">
            <a:avLst/>
          </a:prstGeom>
          <a:noFill/>
          <a:ln/>
        </p:spPr>
        <p:txBody>
          <a:bodyPr wrap="square" lIns="0" tIns="0" rIns="0" bIns="0" rtlCol="0" anchor="ctr"/>
          <a:lstStyle/>
          <a:p>
            <a:pPr marL="0" indent="0">
              <a:buNone/>
            </a:pPr>
            <a:r>
              <a:rPr lang="en-US" sz="1550" b="1" dirty="0">
                <a:solidFill>
                  <a:srgbClr val="1B2A4A"/>
                </a:solidFill>
                <a:latin typeface="Calibri" pitchFamily="34" charset="0"/>
                <a:ea typeface="Calibri" pitchFamily="34" charset="-122"/>
                <a:cs typeface="Calibri" pitchFamily="34" charset="-120"/>
              </a:rPr>
              <a:t>The gap will be closed against the authors' published parameters — not by tuning until the numbers agree.</a:t>
            </a:r>
            <a:endParaRPr lang="en-US" sz="1550" dirty="0"/>
          </a:p>
        </p:txBody>
      </p:sp>
      <p:sp>
        <p:nvSpPr>
          <p:cNvPr id="22" name="Text 20"/>
          <p:cNvSpPr txBox="1"/>
          <p:nvPr/>
        </p:nvSpPr>
        <p:spPr>
          <a:xfrm>
            <a:off x="566928" y="5486400"/>
            <a:ext cx="11027664" cy="822960"/>
          </a:xfrm>
          <a:prstGeom prst="rect">
            <a:avLst/>
          </a:prstGeom>
          <a:noFill/>
          <a:ln/>
        </p:spPr>
        <p:txBody>
          <a:bodyPr wrap="square" lIns="0" tIns="0" rIns="0" bIns="0" rtlCol="0" anchor="t"/>
          <a:lstStyle/>
          <a:p>
            <a:pPr marL="0" indent="0">
              <a:lnSpc>
                <a:spcPts val="1800"/>
              </a:lnSpc>
              <a:buNone/>
            </a:pPr>
            <a:r>
              <a:rPr lang="en-US" sz="1300" dirty="0">
                <a:solidFill>
                  <a:srgbClr val="5A5A5A"/>
                </a:solidFill>
                <a:latin typeface="Calibri" pitchFamily="34" charset="0"/>
                <a:ea typeface="Calibri" pitchFamily="34" charset="-122"/>
                <a:cs typeface="Calibri" pitchFamily="34" charset="-120"/>
              </a:rPr>
              <a:t>We have also already caught a factor-of-two discrepancy between how Strobl and Gallagher write the drug kill term. Left undetected it would have made E0 fail, and the week would have gone on debugging the agent rather than the environment.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PLAN</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Eight weeks, two members</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14</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408176"/>
          <a:ext cx="11027664" cy="2887980"/>
        </p:xfrm>
        <a:graphic>
          <a:graphicData uri="http://schemas.openxmlformats.org/drawingml/2006/table">
            <a:tbl>
              <a:tblPr/>
              <a:tblGrid>
                <a:gridCol w="821131">
                  <a:extLst>
                    <a:ext uri="{9D8B030D-6E8A-4147-A177-3AD203B41FA5}">
                      <a16:colId xmlns:a16="http://schemas.microsoft.com/office/drawing/2014/main" val="20000"/>
                    </a:ext>
                  </a:extLst>
                </a:gridCol>
                <a:gridCol w="5278831">
                  <a:extLst>
                    <a:ext uri="{9D8B030D-6E8A-4147-A177-3AD203B41FA5}">
                      <a16:colId xmlns:a16="http://schemas.microsoft.com/office/drawing/2014/main" val="20001"/>
                    </a:ext>
                  </a:extLst>
                </a:gridCol>
                <a:gridCol w="3519526">
                  <a:extLst>
                    <a:ext uri="{9D8B030D-6E8A-4147-A177-3AD203B41FA5}">
                      <a16:colId xmlns:a16="http://schemas.microsoft.com/office/drawing/2014/main" val="20002"/>
                    </a:ext>
                  </a:extLst>
                </a:gridCol>
                <a:gridCol w="1408176">
                  <a:extLst>
                    <a:ext uri="{9D8B030D-6E8A-4147-A177-3AD203B41FA5}">
                      <a16:colId xmlns:a16="http://schemas.microsoft.com/office/drawing/2014/main" val="20003"/>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Week</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Work</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Deliverable</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Lead</a:t>
                      </a:r>
                      <a:endParaRPr lang="en-US" sz="115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Environment, parameter resolution, E0 correctness gate</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Benchmark reproduced</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Arnav</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Baseline suite (E1); value-iteration harness begun (E2)</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Baseline comparison table</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Arnav</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E-ext: graded dosing, observation intervals, noise, belief state</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Extended environment, tested</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Rohit</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PPO training harness; R1 trained, 10 seeds</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R1 training stably</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Rohit</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R4 implemented and trained; value iteration completed</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Both objectives + ceilings</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Cohort runs across the 3 × 3 grid (E6); cross-evaluation (E4)</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Core result matrix</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6"/>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Policy divergence (E5), statistics, figures</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Divergence figure</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Arnav</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b="1" dirty="0">
                          <a:solidFill>
                            <a:srgbClr val="1B2A4A"/>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Write-up, reproducibility package, presentation</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Report, code release, deck</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100" dirty="0">
                          <a:solidFill>
                            <a:srgbClr val="2A2A2A"/>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8"/>
                  </a:ext>
                </a:extLst>
              </a:tr>
            </a:tbl>
          </a:graphicData>
        </a:graphic>
      </p:graphicFrame>
      <p:sp>
        <p:nvSpPr>
          <p:cNvPr id="8" name="Shape 5"/>
          <p:cNvSpPr/>
          <p:nvPr/>
        </p:nvSpPr>
        <p:spPr>
          <a:xfrm>
            <a:off x="566928" y="4882896"/>
            <a:ext cx="11027664" cy="731520"/>
          </a:xfrm>
          <a:prstGeom prst="roundRect">
            <a:avLst>
              <a:gd name="adj" fmla="val 8750"/>
            </a:avLst>
          </a:prstGeom>
          <a:solidFill>
            <a:srgbClr val="F4F6F7"/>
          </a:solidFill>
          <a:ln w="12700">
            <a:solidFill>
              <a:srgbClr val="E3E8EC"/>
            </a:solidFill>
            <a:prstDash val="solid"/>
          </a:ln>
        </p:spPr>
      </p:sp>
      <p:sp>
        <p:nvSpPr>
          <p:cNvPr id="9" name="Text 6"/>
          <p:cNvSpPr txBox="1"/>
          <p:nvPr/>
        </p:nvSpPr>
        <p:spPr>
          <a:xfrm>
            <a:off x="877824" y="4882896"/>
            <a:ext cx="10405872" cy="73152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Python, Gymnasium-compatible environment, PPO from Stable-Baselines3 with pinned versions, fixed-step RK4 integration. All seeds and configs committed — the reproducibility package is itself a deliverable.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RISKS</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What could go wrong, and the answer</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15</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11027664" cy="2407920"/>
        </p:xfrm>
        <a:graphic>
          <a:graphicData uri="http://schemas.openxmlformats.org/drawingml/2006/table">
            <a:tbl>
              <a:tblPr/>
              <a:tblGrid>
                <a:gridCol w="3970325">
                  <a:extLst>
                    <a:ext uri="{9D8B030D-6E8A-4147-A177-3AD203B41FA5}">
                      <a16:colId xmlns:a16="http://schemas.microsoft.com/office/drawing/2014/main" val="20000"/>
                    </a:ext>
                  </a:extLst>
                </a:gridCol>
                <a:gridCol w="7057339">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0">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Benchmark parameters sit in supplementary material absent from our corpus</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Pull from the authors' public repository in Week 1. Fallback: proceed with a documented, self-consistent set and report the gap openly.</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The Yao paper defining R4 is not in our corpus — the reward form is unverified</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Retrieve in Week 1, before any R4 training. If unobtainable, R4 is labelled as our operationalisation of durability, not attributed to Yao.</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2"/>
                  </a:ext>
                </a:extLst>
              </a:tr>
              <a:tr h="0">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Factor-of-two discrepancy in the drug kill term</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Already caught. Resolved against published code in Week 1 — and E0 will not pass if it is wrong, which is the point of a gate.</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b="1" dirty="0">
                          <a:solidFill>
                            <a:srgbClr val="1B2A4A"/>
                          </a:solidFill>
                          <a:latin typeface="Calibri" pitchFamily="34" charset="0"/>
                          <a:ea typeface="Calibri" pitchFamily="34" charset="-122"/>
                          <a:cs typeface="Calibri" pitchFamily="34" charset="-120"/>
                        </a:rPr>
                        <a:t>PPO unstable on the extended environment inside the window</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tc>
                  <a:txBody>
                    <a:bodyPr/>
                    <a:lstStyle/>
                    <a:p>
                      <a:pPr marL="0" indent="0">
                        <a:buNone/>
                      </a:pPr>
                      <a:r>
                        <a:rPr lang="en-US" sz="1200" dirty="0">
                          <a:solidFill>
                            <a:srgbClr val="2A2A2A"/>
                          </a:solidFill>
                          <a:latin typeface="Calibri" pitchFamily="34" charset="0"/>
                          <a:ea typeface="Calibri" pitchFamily="34" charset="-122"/>
                          <a:cs typeface="Calibri" pitchFamily="34" charset="-120"/>
                        </a:rPr>
                        <a:t>Decision point at end of Week 4: fall back to value iteration as primary instrument with RL as a recovery check. Narrower, still complete.</a:t>
                      </a:r>
                      <a:endParaRPr lang="en-US" sz="1200" dirty="0">
                        <a:latin typeface="Calibri" charset="0"/>
                        <a:ea typeface="Calibri" charset="0"/>
                        <a:cs typeface="Calibri" charset="0"/>
                      </a:endParaRPr>
                    </a:p>
                  </a:txBody>
                  <a:tcPr marL="101600" marR="101600" marT="76200" marB="76200" anchor="ctr">
                    <a:lnL w="9525" cap="flat" cmpd="sng" algn="ctr">
                      <a:solidFill>
                        <a:srgbClr val="E3E8EC"/>
                      </a:solidFill>
                      <a:prstDash val="solid"/>
                      <a:round/>
                      <a:headEnd type="none" w="med" len="med"/>
                      <a:tailEnd type="none" w="med" len="med"/>
                    </a:lnL>
                    <a:lnR w="9525" cap="flat" cmpd="sng" algn="ctr">
                      <a:solidFill>
                        <a:srgbClr val="E3E8EC"/>
                      </a:solidFill>
                      <a:prstDash val="solid"/>
                      <a:round/>
                      <a:headEnd type="none" w="med" len="med"/>
                      <a:tailEnd type="none" w="med" len="med"/>
                    </a:lnR>
                    <a:lnT w="9525" cap="flat" cmpd="sng" algn="ctr">
                      <a:solidFill>
                        <a:srgbClr val="E3E8EC"/>
                      </a:solidFill>
                      <a:prstDash val="solid"/>
                      <a:round/>
                      <a:headEnd type="none" w="med" len="med"/>
                      <a:tailEnd type="none" w="med" len="med"/>
                    </a:lnT>
                    <a:lnB w="9525" cap="flat" cmpd="sng" algn="ctr">
                      <a:solidFill>
                        <a:srgbClr val="E3E8EC"/>
                      </a:solidFill>
                      <a:prstDash val="solid"/>
                      <a:round/>
                      <a:headEnd type="none" w="med" len="med"/>
                      <a:tailEnd type="none" w="med" len="med"/>
                    </a:lnB>
                    <a:solidFill>
                      <a:srgbClr val="F4F6F7"/>
                    </a:solidFill>
                  </a:tcPr>
                </a:tc>
                <a:extLst>
                  <a:ext uri="{0D108BD9-81ED-4DB2-BD59-A6C34878D82A}">
                    <a16:rowId xmlns:a16="http://schemas.microsoft.com/office/drawing/2014/main" val="10004"/>
                  </a:ext>
                </a:extLst>
              </a:tr>
            </a:tbl>
          </a:graphicData>
        </a:graphic>
      </p:graphicFrame>
      <p:sp>
        <p:nvSpPr>
          <p:cNvPr id="8" name="Shape 5"/>
          <p:cNvSpPr/>
          <p:nvPr/>
        </p:nvSpPr>
        <p:spPr>
          <a:xfrm>
            <a:off x="566928" y="4352544"/>
            <a:ext cx="11027664" cy="932688"/>
          </a:xfrm>
          <a:prstGeom prst="roundRect">
            <a:avLst>
              <a:gd name="adj" fmla="val 7843"/>
            </a:avLst>
          </a:prstGeom>
          <a:solidFill>
            <a:srgbClr val="F0F7F5"/>
          </a:solidFill>
          <a:ln w="15875">
            <a:solidFill>
              <a:srgbClr val="0F6E5F"/>
            </a:solidFill>
            <a:prstDash val="solid"/>
          </a:ln>
        </p:spPr>
      </p:sp>
      <p:sp>
        <p:nvSpPr>
          <p:cNvPr id="9" name="Text 6"/>
          <p:cNvSpPr txBox="1"/>
          <p:nvPr/>
        </p:nvSpPr>
        <p:spPr>
          <a:xfrm>
            <a:off x="914400" y="4352544"/>
            <a:ext cx="10332720" cy="932688"/>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Every risk above has a named week, a named owner, and a fallback that still produces a complete report. None of them can silently consume the project.</a:t>
            </a:r>
            <a:endParaRPr lang="en-US" sz="1500" dirty="0"/>
          </a:p>
        </p:txBody>
      </p:sp>
      <p:sp>
        <p:nvSpPr>
          <p:cNvPr id="10" name="Shape 7"/>
          <p:cNvSpPr/>
          <p:nvPr/>
        </p:nvSpPr>
        <p:spPr>
          <a:xfrm>
            <a:off x="566928" y="5486400"/>
            <a:ext cx="11027664" cy="676656"/>
          </a:xfrm>
          <a:prstGeom prst="roundRect">
            <a:avLst>
              <a:gd name="adj" fmla="val 9459"/>
            </a:avLst>
          </a:prstGeom>
          <a:solidFill>
            <a:srgbClr val="F4F6F7"/>
          </a:solidFill>
          <a:ln w="12700">
            <a:solidFill>
              <a:srgbClr val="E3E8EC"/>
            </a:solidFill>
            <a:prstDash val="solid"/>
          </a:ln>
        </p:spPr>
      </p:sp>
      <p:sp>
        <p:nvSpPr>
          <p:cNvPr id="11" name="Text 8"/>
          <p:cNvSpPr txBox="1"/>
          <p:nvPr/>
        </p:nvSpPr>
        <p:spPr>
          <a:xfrm>
            <a:off x="877824" y="5486400"/>
            <a:ext cx="10405872" cy="676656"/>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Decision point, end of Week 4 — the single line that guarantees a submittable result regardless of how training goes.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OUTCOMES</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What we claim, and what we do not</a:t>
            </a:r>
            <a:endParaRPr lang="en-US" sz="3000" dirty="0"/>
          </a:p>
        </p:txBody>
      </p:sp>
      <p:sp>
        <p:nvSpPr>
          <p:cNvPr id="6" name="Text 4"/>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16</a:t>
            </a:r>
            <a:endParaRPr lang="en-US" sz="1000" dirty="0"/>
          </a:p>
        </p:txBody>
      </p:sp>
      <p:sp>
        <p:nvSpPr>
          <p:cNvPr id="7" name="Shape 5"/>
          <p:cNvSpPr/>
          <p:nvPr/>
        </p:nvSpPr>
        <p:spPr>
          <a:xfrm>
            <a:off x="566928" y="1389888"/>
            <a:ext cx="5413248" cy="2688336"/>
          </a:xfrm>
          <a:prstGeom prst="roundRect">
            <a:avLst>
              <a:gd name="adj" fmla="val 2381"/>
            </a:avLst>
          </a:prstGeom>
          <a:solidFill>
            <a:srgbClr val="F0F7F5"/>
          </a:solidFill>
          <a:ln w="12700">
            <a:solidFill>
              <a:srgbClr val="CBE3DC"/>
            </a:solidFill>
            <a:prstDash val="solid"/>
          </a:ln>
        </p:spPr>
      </p:sp>
      <p:sp>
        <p:nvSpPr>
          <p:cNvPr id="8" name="Text 6"/>
          <p:cNvSpPr txBox="1"/>
          <p:nvPr/>
        </p:nvSpPr>
        <p:spPr>
          <a:xfrm>
            <a:off x="804672" y="1572768"/>
            <a:ext cx="4937760" cy="274320"/>
          </a:xfrm>
          <a:prstGeom prst="rect">
            <a:avLst/>
          </a:prstGeom>
          <a:noFill/>
          <a:ln/>
        </p:spPr>
        <p:txBody>
          <a:bodyPr wrap="square" lIns="0" tIns="0" rIns="0" bIns="0" rtlCol="0" anchor="t"/>
          <a:lstStyle/>
          <a:p>
            <a:pPr marL="0" indent="0">
              <a:buNone/>
            </a:pPr>
            <a:r>
              <a:rPr lang="en-US" sz="1450" b="1" dirty="0">
                <a:solidFill>
                  <a:srgbClr val="0F6E5F"/>
                </a:solidFill>
                <a:latin typeface="Calibri" pitchFamily="34" charset="0"/>
                <a:ea typeface="Calibri" pitchFamily="34" charset="-122"/>
                <a:cs typeface="Calibri" pitchFamily="34" charset="-120"/>
              </a:rPr>
              <a:t>What we will deliver</a:t>
            </a:r>
            <a:endParaRPr lang="en-US" sz="1450" dirty="0"/>
          </a:p>
        </p:txBody>
      </p:sp>
      <p:sp>
        <p:nvSpPr>
          <p:cNvPr id="9" name="Text 7"/>
          <p:cNvSpPr txBox="1"/>
          <p:nvPr/>
        </p:nvSpPr>
        <p:spPr>
          <a:xfrm>
            <a:off x="804672" y="1938528"/>
            <a:ext cx="4937760" cy="1956816"/>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A quantified answer, in either direction, on whether the objective changes the policy</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A correctness-verified shared environment in two tiers, with ported objectives and per-objective ceilings</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A reproducible cross-evaluation pipeline that extends to the remaining objectives beyond this course</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A documented, falsifiable null-result path</a:t>
            </a:r>
            <a:endParaRPr lang="en-US" sz="1250" dirty="0"/>
          </a:p>
        </p:txBody>
      </p:sp>
      <p:sp>
        <p:nvSpPr>
          <p:cNvPr id="10" name="Shape 8"/>
          <p:cNvSpPr/>
          <p:nvPr/>
        </p:nvSpPr>
        <p:spPr>
          <a:xfrm>
            <a:off x="6199632" y="1389888"/>
            <a:ext cx="5413248" cy="2688336"/>
          </a:xfrm>
          <a:prstGeom prst="roundRect">
            <a:avLst>
              <a:gd name="adj" fmla="val 2381"/>
            </a:avLst>
          </a:prstGeom>
          <a:solidFill>
            <a:srgbClr val="F4F6F7"/>
          </a:solidFill>
          <a:ln w="12700">
            <a:solidFill>
              <a:srgbClr val="E3E8EC"/>
            </a:solidFill>
            <a:prstDash val="solid"/>
          </a:ln>
        </p:spPr>
      </p:sp>
      <p:sp>
        <p:nvSpPr>
          <p:cNvPr id="11" name="Text 9"/>
          <p:cNvSpPr txBox="1"/>
          <p:nvPr/>
        </p:nvSpPr>
        <p:spPr>
          <a:xfrm>
            <a:off x="6437376" y="1572768"/>
            <a:ext cx="4937760" cy="274320"/>
          </a:xfrm>
          <a:prstGeom prst="rect">
            <a:avLst/>
          </a:prstGeom>
          <a:noFill/>
          <a:ln/>
        </p:spPr>
        <p:txBody>
          <a:bodyPr wrap="square" lIns="0" tIns="0" rIns="0" bIns="0" rtlCol="0" anchor="t"/>
          <a:lstStyle/>
          <a:p>
            <a:pPr marL="0" indent="0">
              <a:buNone/>
            </a:pPr>
            <a:r>
              <a:rPr lang="en-US" sz="1450" b="1" dirty="0">
                <a:solidFill>
                  <a:srgbClr val="1B2A4A"/>
                </a:solidFill>
                <a:latin typeface="Calibri" pitchFamily="34" charset="0"/>
                <a:ea typeface="Calibri" pitchFamily="34" charset="-122"/>
                <a:cs typeface="Calibri" pitchFamily="34" charset="-120"/>
              </a:rPr>
              <a:t>What we do not claim</a:t>
            </a:r>
            <a:endParaRPr lang="en-US" sz="1450" dirty="0"/>
          </a:p>
        </p:txBody>
      </p:sp>
      <p:sp>
        <p:nvSpPr>
          <p:cNvPr id="12" name="Text 10"/>
          <p:cNvSpPr txBox="1"/>
          <p:nvPr/>
        </p:nvSpPr>
        <p:spPr>
          <a:xfrm>
            <a:off x="6437376" y="1938528"/>
            <a:ext cx="4937760" cy="1956816"/>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No clinical applicability — a simulation study on a virtual cohort, no treatment recommendation follows</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Two objectives of at least four, on a nine-patient cohort</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No spatial structure, pharmacokinetics, phenotypic switching or de novo mutation</a:t>
            </a:r>
            <a:endParaRPr lang="en-US" sz="1250" dirty="0"/>
          </a:p>
          <a:p>
            <a:pPr marL="342900" indent="-342900">
              <a:lnSpc>
                <a:spcPts val="1900"/>
              </a:lnSpc>
              <a:spcAft>
                <a:spcPts val="700"/>
              </a:spcAft>
              <a:buSzPct val="100000"/>
              <a:buChar char="•"/>
            </a:pPr>
            <a:r>
              <a:rPr lang="en-US" sz="1250" dirty="0">
                <a:solidFill>
                  <a:srgbClr val="2A2A2A"/>
                </a:solidFill>
                <a:latin typeface="Calibri" pitchFamily="34" charset="0"/>
                <a:ea typeface="Calibri" pitchFamily="34" charset="-122"/>
                <a:cs typeface="Calibri" pitchFamily="34" charset="-120"/>
              </a:rPr>
              <a:t>Resistance is pre-existing, binary and irreversible by assumption</a:t>
            </a:r>
            <a:endParaRPr lang="en-US" sz="1250" dirty="0"/>
          </a:p>
        </p:txBody>
      </p:sp>
      <p:sp>
        <p:nvSpPr>
          <p:cNvPr id="13" name="Text 11"/>
          <p:cNvSpPr txBox="1"/>
          <p:nvPr/>
        </p:nvSpPr>
        <p:spPr>
          <a:xfrm>
            <a:off x="566928" y="4297680"/>
            <a:ext cx="11027664" cy="310896"/>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The translational path, stated plainly</a:t>
            </a:r>
            <a:endParaRPr lang="en-US" sz="1600" dirty="0"/>
          </a:p>
        </p:txBody>
      </p:sp>
      <p:sp>
        <p:nvSpPr>
          <p:cNvPr id="14" name="Text 12"/>
          <p:cNvSpPr txBox="1"/>
          <p:nvPr/>
        </p:nvSpPr>
        <p:spPr>
          <a:xfrm>
            <a:off x="566928" y="4572000"/>
            <a:ext cx="11027664" cy="822960"/>
          </a:xfrm>
          <a:prstGeom prst="rect">
            <a:avLst/>
          </a:prstGeom>
          <a:noFill/>
          <a:ln/>
        </p:spPr>
        <p:txBody>
          <a:bodyPr wrap="square" lIns="0" tIns="0" rIns="0" bIns="0" rtlCol="0" anchor="t"/>
          <a:lstStyle/>
          <a:p>
            <a:pPr marL="0" indent="0">
              <a:lnSpc>
                <a:spcPts val="1900"/>
              </a:lnSpc>
              <a:buNone/>
            </a:pPr>
            <a:r>
              <a:rPr lang="en-US" sz="1350" dirty="0">
                <a:solidFill>
                  <a:srgbClr val="2A2A2A"/>
                </a:solidFill>
                <a:latin typeface="Calibri" pitchFamily="34" charset="0"/>
                <a:ea typeface="Calibri" pitchFamily="34" charset="-122"/>
                <a:cs typeface="Calibri" pitchFamily="34" charset="-120"/>
              </a:rPr>
              <a:t>For this to inform a trial, three things must become true: the environment fitted to longitudinal patient biomarkers rather than a parameter grid; the policy validated against held-out patients rather than its own simulator; and the objective chosen in consultation with clinicians rather than inherited from a previous paper.</a:t>
            </a:r>
            <a:endParaRPr lang="en-US" sz="1350" dirty="0"/>
          </a:p>
        </p:txBody>
      </p:sp>
      <p:sp>
        <p:nvSpPr>
          <p:cNvPr id="15" name="Shape 13"/>
          <p:cNvSpPr/>
          <p:nvPr/>
        </p:nvSpPr>
        <p:spPr>
          <a:xfrm>
            <a:off x="566928" y="5468112"/>
            <a:ext cx="11027664" cy="658368"/>
          </a:xfrm>
          <a:prstGeom prst="roundRect">
            <a:avLst>
              <a:gd name="adj" fmla="val 9722"/>
            </a:avLst>
          </a:prstGeom>
          <a:solidFill>
            <a:srgbClr val="E8F1FB"/>
          </a:solidFill>
          <a:ln w="12700">
            <a:solidFill>
              <a:srgbClr val="C5DCF6"/>
            </a:solidFill>
            <a:prstDash val="solid"/>
          </a:ln>
        </p:spPr>
      </p:sp>
      <p:sp>
        <p:nvSpPr>
          <p:cNvPr id="16" name="Text 14"/>
          <p:cNvSpPr txBox="1"/>
          <p:nvPr/>
        </p:nvSpPr>
        <p:spPr>
          <a:xfrm>
            <a:off x="877824" y="5468112"/>
            <a:ext cx="10405872" cy="658368"/>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The third is what this project is about — and it is the one that can be settled in silico.</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1A8F7B"/>
                </a:solidFill>
                <a:latin typeface="Calibri" pitchFamily="34" charset="0"/>
                <a:ea typeface="Calibri" pitchFamily="34" charset="-122"/>
                <a:cs typeface="Calibri" pitchFamily="34" charset="-120"/>
              </a:rPr>
              <a:t>IN SUMMARY</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endParaRPr lang="en-US" sz="3000" dirty="0"/>
          </a:p>
        </p:txBody>
      </p:sp>
      <p:sp>
        <p:nvSpPr>
          <p:cNvPr id="4" name="Text 2"/>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5B6A85"/>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566928" y="1517904"/>
            <a:ext cx="384048" cy="384048"/>
          </a:xfrm>
          <a:prstGeom prst="ellipse">
            <a:avLst/>
          </a:prstGeom>
          <a:solidFill>
            <a:srgbClr val="1A8F7B"/>
          </a:solidFill>
          <a:ln w="12700">
            <a:solidFill>
              <a:srgbClr val="333333"/>
            </a:solidFill>
            <a:prstDash val="solid"/>
          </a:ln>
        </p:spPr>
      </p:sp>
      <p:sp>
        <p:nvSpPr>
          <p:cNvPr id="6" name="Text 4"/>
          <p:cNvSpPr txBox="1"/>
          <p:nvPr/>
        </p:nvSpPr>
        <p:spPr>
          <a:xfrm>
            <a:off x="566928" y="15179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70432" y="1481328"/>
            <a:ext cx="10058400" cy="310896"/>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The question is open</a:t>
            </a:r>
            <a:endParaRPr lang="en-US" sz="1800" dirty="0"/>
          </a:p>
        </p:txBody>
      </p:sp>
      <p:sp>
        <p:nvSpPr>
          <p:cNvPr id="8" name="Text 6"/>
          <p:cNvSpPr txBox="1"/>
          <p:nvPr/>
        </p:nvSpPr>
        <p:spPr>
          <a:xfrm>
            <a:off x="1170432" y="1819656"/>
            <a:ext cx="10058400" cy="402336"/>
          </a:xfrm>
          <a:prstGeom prst="rect">
            <a:avLst/>
          </a:prstGeom>
          <a:noFill/>
          <a:ln/>
        </p:spPr>
        <p:txBody>
          <a:bodyPr wrap="square" lIns="0" tIns="0" rIns="0" bIns="0" rtlCol="0" anchor="ctr"/>
          <a:lstStyle/>
          <a:p>
            <a:pPr marL="0" indent="0">
              <a:buNone/>
            </a:pPr>
            <a:r>
              <a:rPr lang="en-US" sz="1400" dirty="0">
                <a:solidFill>
                  <a:srgbClr val="9FB6C9"/>
                </a:solidFill>
                <a:latin typeface="Calibri" pitchFamily="34" charset="0"/>
                <a:ea typeface="Calibri" pitchFamily="34" charset="-122"/>
                <a:cs typeface="Calibri" pitchFamily="34" charset="-120"/>
              </a:rPr>
              <a:t>Six objectives, six environments, zero comparisons — and the field says so itself.</a:t>
            </a:r>
            <a:endParaRPr lang="en-US" sz="1400" dirty="0"/>
          </a:p>
        </p:txBody>
      </p:sp>
      <p:sp>
        <p:nvSpPr>
          <p:cNvPr id="9" name="Shape 7"/>
          <p:cNvSpPr/>
          <p:nvPr/>
        </p:nvSpPr>
        <p:spPr>
          <a:xfrm>
            <a:off x="566928" y="2551176"/>
            <a:ext cx="384048" cy="384048"/>
          </a:xfrm>
          <a:prstGeom prst="ellipse">
            <a:avLst/>
          </a:prstGeom>
          <a:solidFill>
            <a:srgbClr val="1A8F7B"/>
          </a:solidFill>
          <a:ln w="12700">
            <a:solidFill>
              <a:srgbClr val="333333"/>
            </a:solidFill>
            <a:prstDash val="solid"/>
          </a:ln>
        </p:spPr>
      </p:sp>
      <p:sp>
        <p:nvSpPr>
          <p:cNvPr id="10" name="Text 8"/>
          <p:cNvSpPr txBox="1"/>
          <p:nvPr/>
        </p:nvSpPr>
        <p:spPr>
          <a:xfrm>
            <a:off x="566928" y="25511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70432" y="2514600"/>
            <a:ext cx="10058400" cy="310896"/>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The design escapes circularity</a:t>
            </a:r>
            <a:endParaRPr lang="en-US" sz="1800" dirty="0"/>
          </a:p>
        </p:txBody>
      </p:sp>
      <p:sp>
        <p:nvSpPr>
          <p:cNvPr id="12" name="Text 10"/>
          <p:cNvSpPr txBox="1"/>
          <p:nvPr/>
        </p:nvSpPr>
        <p:spPr>
          <a:xfrm>
            <a:off x="1170432" y="2852928"/>
            <a:ext cx="10058400" cy="402336"/>
          </a:xfrm>
          <a:prstGeom prst="rect">
            <a:avLst/>
          </a:prstGeom>
          <a:noFill/>
          <a:ln/>
        </p:spPr>
        <p:txBody>
          <a:bodyPr wrap="square" lIns="0" tIns="0" rIns="0" bIns="0" rtlCol="0" anchor="ctr"/>
          <a:lstStyle/>
          <a:p>
            <a:pPr marL="0" indent="0">
              <a:buNone/>
            </a:pPr>
            <a:r>
              <a:rPr lang="en-US" sz="1400" dirty="0">
                <a:solidFill>
                  <a:srgbClr val="9FB6C9"/>
                </a:solidFill>
                <a:latin typeface="Calibri" pitchFamily="34" charset="0"/>
                <a:ea typeface="Calibri" pitchFamily="34" charset="-122"/>
                <a:cs typeface="Calibri" pitchFamily="34" charset="-120"/>
              </a:rPr>
              <a:t>Every agent scored on every metric; the finding lives in the off-diagonal.</a:t>
            </a:r>
            <a:endParaRPr lang="en-US" sz="1400" dirty="0"/>
          </a:p>
        </p:txBody>
      </p:sp>
      <p:sp>
        <p:nvSpPr>
          <p:cNvPr id="13" name="Shape 11"/>
          <p:cNvSpPr/>
          <p:nvPr/>
        </p:nvSpPr>
        <p:spPr>
          <a:xfrm>
            <a:off x="566928" y="3584448"/>
            <a:ext cx="384048" cy="384048"/>
          </a:xfrm>
          <a:prstGeom prst="ellipse">
            <a:avLst/>
          </a:prstGeom>
          <a:solidFill>
            <a:srgbClr val="1A8F7B"/>
          </a:solidFill>
          <a:ln w="12700">
            <a:solidFill>
              <a:srgbClr val="333333"/>
            </a:solidFill>
            <a:prstDash val="solid"/>
          </a:ln>
        </p:spPr>
      </p:sp>
      <p:sp>
        <p:nvSpPr>
          <p:cNvPr id="14" name="Text 12"/>
          <p:cNvSpPr txBox="1"/>
          <p:nvPr/>
        </p:nvSpPr>
        <p:spPr>
          <a:xfrm>
            <a:off x="566928" y="35844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170432" y="3547872"/>
            <a:ext cx="10058400" cy="310896"/>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The instrument is justified</a:t>
            </a:r>
            <a:endParaRPr lang="en-US" sz="1800" dirty="0"/>
          </a:p>
        </p:txBody>
      </p:sp>
      <p:sp>
        <p:nvSpPr>
          <p:cNvPr id="16" name="Text 14"/>
          <p:cNvSpPr txBox="1"/>
          <p:nvPr/>
        </p:nvSpPr>
        <p:spPr>
          <a:xfrm>
            <a:off x="1170432" y="3886200"/>
            <a:ext cx="10058400" cy="402336"/>
          </a:xfrm>
          <a:prstGeom prst="rect">
            <a:avLst/>
          </a:prstGeom>
          <a:noFill/>
          <a:ln/>
        </p:spPr>
        <p:txBody>
          <a:bodyPr wrap="square" lIns="0" tIns="0" rIns="0" bIns="0" rtlCol="0" anchor="ctr"/>
          <a:lstStyle/>
          <a:p>
            <a:pPr marL="0" indent="0">
              <a:buNone/>
            </a:pPr>
            <a:r>
              <a:rPr lang="en-US" sz="1400" dirty="0">
                <a:solidFill>
                  <a:srgbClr val="9FB6C9"/>
                </a:solidFill>
                <a:latin typeface="Calibri" pitchFamily="34" charset="0"/>
                <a:ea typeface="Calibri" pitchFamily="34" charset="-122"/>
                <a:cs typeface="Calibri" pitchFamily="34" charset="-120"/>
              </a:rPr>
              <a:t>Value iteration where it is exact, reinforcement learning only where it cannot follow.</a:t>
            </a:r>
            <a:endParaRPr lang="en-US" sz="1400" dirty="0"/>
          </a:p>
        </p:txBody>
      </p:sp>
      <p:sp>
        <p:nvSpPr>
          <p:cNvPr id="17" name="Shape 15"/>
          <p:cNvSpPr/>
          <p:nvPr/>
        </p:nvSpPr>
        <p:spPr>
          <a:xfrm>
            <a:off x="566928" y="4617720"/>
            <a:ext cx="384048" cy="384048"/>
          </a:xfrm>
          <a:prstGeom prst="ellipse">
            <a:avLst/>
          </a:prstGeom>
          <a:solidFill>
            <a:srgbClr val="1A8F7B"/>
          </a:solidFill>
          <a:ln w="12700">
            <a:solidFill>
              <a:srgbClr val="333333"/>
            </a:solidFill>
            <a:prstDash val="solid"/>
          </a:ln>
        </p:spPr>
      </p:sp>
      <p:sp>
        <p:nvSpPr>
          <p:cNvPr id="18" name="Text 16"/>
          <p:cNvSpPr txBox="1"/>
          <p:nvPr/>
        </p:nvSpPr>
        <p:spPr>
          <a:xfrm>
            <a:off x="566928" y="4617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170432" y="4581144"/>
            <a:ext cx="10058400" cy="310896"/>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The result is falsifiable either way</a:t>
            </a:r>
            <a:endParaRPr lang="en-US" sz="1800" dirty="0"/>
          </a:p>
        </p:txBody>
      </p:sp>
      <p:sp>
        <p:nvSpPr>
          <p:cNvPr id="20" name="Text 18"/>
          <p:cNvSpPr txBox="1"/>
          <p:nvPr/>
        </p:nvSpPr>
        <p:spPr>
          <a:xfrm>
            <a:off x="1170432" y="4919472"/>
            <a:ext cx="10058400" cy="402336"/>
          </a:xfrm>
          <a:prstGeom prst="rect">
            <a:avLst/>
          </a:prstGeom>
          <a:noFill/>
          <a:ln/>
        </p:spPr>
        <p:txBody>
          <a:bodyPr wrap="square" lIns="0" tIns="0" rIns="0" bIns="0" rtlCol="0" anchor="ctr"/>
          <a:lstStyle/>
          <a:p>
            <a:pPr marL="0" indent="0">
              <a:buNone/>
            </a:pPr>
            <a:r>
              <a:rPr lang="en-US" sz="1400" dirty="0">
                <a:solidFill>
                  <a:srgbClr val="9FB6C9"/>
                </a:solidFill>
                <a:latin typeface="Calibri" pitchFamily="34" charset="0"/>
                <a:ea typeface="Calibri" pitchFamily="34" charset="-122"/>
                <a:cs typeface="Calibri" pitchFamily="34" charset="-120"/>
              </a:rPr>
              <a:t>Pre-registered threshold, seed distributions, a documented null-result path.</a:t>
            </a:r>
            <a:endParaRPr lang="en-US" sz="1400" dirty="0"/>
          </a:p>
        </p:txBody>
      </p:sp>
      <p:sp>
        <p:nvSpPr>
          <p:cNvPr id="21" name="Text 19"/>
          <p:cNvSpPr txBox="1"/>
          <p:nvPr/>
        </p:nvSpPr>
        <p:spPr>
          <a:xfrm>
            <a:off x="566928" y="5888736"/>
            <a:ext cx="11027664" cy="292608"/>
          </a:xfrm>
          <a:prstGeom prst="rect">
            <a:avLst/>
          </a:prstGeom>
          <a:noFill/>
          <a:ln/>
        </p:spPr>
        <p:txBody>
          <a:bodyPr wrap="square" lIns="0" tIns="0" rIns="0" bIns="0" rtlCol="0" anchor="ctr"/>
          <a:lstStyle/>
          <a:p>
            <a:pPr marL="0" indent="0">
              <a:buNone/>
            </a:pPr>
            <a:r>
              <a:rPr lang="en-US" sz="1250" dirty="0">
                <a:solidFill>
                  <a:srgbClr val="6E809B"/>
                </a:solidFill>
                <a:latin typeface="Calibri" pitchFamily="34" charset="0"/>
                <a:ea typeface="Calibri" pitchFamily="34" charset="-122"/>
                <a:cs typeface="Calibri" pitchFamily="34" charset="-120"/>
              </a:rPr>
              <a:t>Arnav Kumar  MD24B003     ·     Rohit Satish Chipde  MD24B026     ·     DoMST, IIT Madras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65760"/>
            <a:ext cx="6837152" cy="237744"/>
          </a:xfrm>
          <a:prstGeom prst="rect">
            <a:avLst/>
          </a:prstGeom>
          <a:noFill/>
          <a:ln/>
        </p:spPr>
        <p:txBody>
          <a:bodyPr wrap="square" lIns="0" tIns="0" rIns="0" bIns="0" rtlCol="0" anchor="ctr"/>
          <a:lstStyle/>
          <a:p>
            <a:pPr marL="0" indent="0">
              <a:buNone/>
            </a:pPr>
            <a:r>
              <a:rPr lang="en-US" sz="1150" b="1" kern="0" spc="260" dirty="0">
                <a:solidFill>
                  <a:srgbClr val="0F6E5F"/>
                </a:solidFill>
                <a:latin typeface="Calibri" pitchFamily="34" charset="0"/>
                <a:ea typeface="Calibri" pitchFamily="34" charset="-122"/>
                <a:cs typeface="Calibri" pitchFamily="34" charset="-120"/>
              </a:rPr>
              <a:t>REFERENCES</a:t>
            </a:r>
            <a:endParaRPr lang="en-US" sz="1150" dirty="0"/>
          </a:p>
        </p:txBody>
      </p:sp>
      <p:sp>
        <p:nvSpPr>
          <p:cNvPr id="3" name="Text 1"/>
          <p:cNvSpPr txBox="1"/>
          <p:nvPr/>
        </p:nvSpPr>
        <p:spPr>
          <a:xfrm>
            <a:off x="566928" y="640080"/>
            <a:ext cx="8601578" cy="566928"/>
          </a:xfrm>
          <a:prstGeom prst="rect">
            <a:avLst/>
          </a:prstGeom>
          <a:noFill/>
          <a:ln/>
        </p:spPr>
        <p:txBody>
          <a:bodyPr wrap="square" lIns="0" tIns="0" rIns="0" bIns="0" rtlCol="0" anchor="t"/>
          <a:lstStyle/>
          <a:p>
            <a:pPr marL="0" indent="0">
              <a:buNone/>
            </a:pPr>
            <a:r>
              <a:rPr lang="en-US" sz="3000" b="1" dirty="0">
                <a:solidFill>
                  <a:srgbClr val="1B2A4A"/>
                </a:solidFill>
                <a:latin typeface="Calibri" pitchFamily="34" charset="0"/>
                <a:ea typeface="Calibri" pitchFamily="34" charset="-122"/>
                <a:cs typeface="Calibri" pitchFamily="34" charset="-120"/>
              </a:rPr>
              <a:t>Key literature</a:t>
            </a:r>
            <a:endParaRPr lang="en-US" sz="3000" dirty="0"/>
          </a:p>
        </p:txBody>
      </p:sp>
      <p:sp>
        <p:nvSpPr>
          <p:cNvPr id="4" name="Text 2"/>
          <p:cNvSpPr txBox="1"/>
          <p:nvPr/>
        </p:nvSpPr>
        <p:spPr>
          <a:xfrm>
            <a:off x="11137392" y="6364224"/>
            <a:ext cx="457200" cy="237744"/>
          </a:xfrm>
          <a:prstGeom prst="rect">
            <a:avLst/>
          </a:prstGeom>
          <a:noFill/>
          <a:ln/>
        </p:spPr>
        <p:txBody>
          <a:bodyPr wrap="square" lIns="0" tIns="0" rIns="0" bIns="0"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66928" y="1389888"/>
            <a:ext cx="5413248" cy="457200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Gatenby RA, Silva AS, Gillies RJ, Frieden BR. Adaptive therapy. Cancer Research. 2009;69(11):4894–4903.</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Zhang J, Cunningham JJ, Brown JS, Gatenby RA. Integrating evolutionary dynamics into treatment of metastatic castrate-resistant prostate cancer. Nature Communications. 2017;8(1):1816.</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Zhang J, et al. Evolution-based mathematical models significantly prolong response to abiraterone in mCRPC. eLife. 2022;11:e76284.</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Strobl MAR, West J, Viossat Y, et al. Turnover modulates the need for a cost of resistance in adaptive therapy. Cancer Research. 2021;81(4):1135–1147.</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Gallagher K, Strobl M, Gatenby R, Maini P, Anderson A. Learning to adapt — deep RL in treatment-resistant prostate cancer. bioRxiv. 2023. doi:10.1101/2023.04.28.538766</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Gallagher K, et al. Mathematical model-driven deep learning enables personalized adaptive therapy. Cancer Research. 2024.</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Gluzman M, Scott JG, Vladimirsky A. Optimizing adaptive cancer therapy: dynamic programming and evolutionary game theory. Proc. R. Soc. B. 2020;287(1925):20192454.</a:t>
            </a:r>
            <a:endParaRPr lang="en-US" sz="1050" dirty="0"/>
          </a:p>
        </p:txBody>
      </p:sp>
      <p:sp>
        <p:nvSpPr>
          <p:cNvPr id="6" name="Text 4"/>
          <p:cNvSpPr txBox="1"/>
          <p:nvPr/>
        </p:nvSpPr>
        <p:spPr>
          <a:xfrm>
            <a:off x="6199632" y="1389888"/>
            <a:ext cx="5413248" cy="4572000"/>
          </a:xfrm>
          <a:prstGeom prst="rect">
            <a:avLst/>
          </a:prstGeom>
          <a:noFill/>
          <a:ln/>
        </p:spPr>
        <p:txBody>
          <a:bodyPr wrap="square" lIns="0" tIns="0" rIns="0" bIns="0" rtlCol="0" anchor="t"/>
          <a:lstStyle/>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Weaver DT, King ES, Maltas J, Scott JG. RL informs optimal treatment strategies to limit antibiotic resistance. PNAS. 2024;121(16):e2303165121.</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Eastman B, Przedborski M, Kohandel M. RL derived chemotherapeutic schedules for robust patient-specific therapy. Scientific Reports. 2021;11:17882.</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RL for chemotherapy scheduling in a stochastic tumor evolution model. Physical Review E. 2026;113:064404.</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Kiram FME, et al. Recurrent deep RL for chemotherapy control under partial observability. arXiv:2605.02552. 2026.</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West J, Adler F, Gallaher J, et al. A survey of open questions in adaptive therapy. eLife. 2023.</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Wang M, Scott JG, Vladimirsky A. Threshold-awareness in adaptive cancer therapy. PLOS Comput. Biol. 2024;20(6):e1012165.</a:t>
            </a:r>
            <a:endParaRPr lang="en-US" sz="1050" dirty="0"/>
          </a:p>
          <a:p>
            <a:pPr marL="342900" indent="-342900">
              <a:lnSpc>
                <a:spcPts val="1400"/>
              </a:lnSpc>
              <a:spcAft>
                <a:spcPts val="700"/>
              </a:spcAft>
              <a:buSzPct val="100000"/>
              <a:buChar char="•"/>
            </a:pPr>
            <a:r>
              <a:rPr lang="en-US" sz="1050" dirty="0">
                <a:solidFill>
                  <a:srgbClr val="2A2A2A"/>
                </a:solidFill>
                <a:latin typeface="Calibri" pitchFamily="34" charset="0"/>
                <a:ea typeface="Calibri" pitchFamily="34" charset="-122"/>
                <a:cs typeface="Calibri" pitchFamily="34" charset="-120"/>
              </a:rPr>
              <a:t>Viossat Y, Noble R. A theoretical analysis of tumour containment. Nature Ecology &amp; Evolution. 2021;5(6):826–835.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3179</Words>
  <Application>Microsoft Office PowerPoint</Application>
  <PresentationFormat>Widescreen</PresentationFormat>
  <Paragraphs>347</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Should Adaptive Cancer Therapy Optimize?</dc:title>
  <dc:subject>PptxGenJS Presentation</dc:subject>
  <dc:creator>Arnav Kumar, Rohit Satish Chipde</dc:creator>
  <cp:lastModifiedBy>ARNAV KUMAR</cp:lastModifiedBy>
  <cp:revision>3</cp:revision>
  <dcterms:created xsi:type="dcterms:W3CDTF">2026-09-21T10:57:55Z</dcterms:created>
  <dcterms:modified xsi:type="dcterms:W3CDTF">2026-09-23T09:52:29Z</dcterms:modified>
</cp:coreProperties>
</file>